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 U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1480"/>
            <a:ext cx="1005840" cy="1005840"/>
          </a:xfrm>
          <a:prstGeom prst="rect">
            <a:avLst/>
          </a:prstGeom>
        </p:spPr>
      </p:pic>
      <p:pic>
        <p:nvPicPr>
          <p:cNvPr id="4" name="Picture 3" descr="Logo Fisika U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1455" y="411480"/>
            <a:ext cx="10058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94560" y="502920"/>
            <a:ext cx="78025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3A8A"/>
                </a:solidFill>
                <a:latin typeface="Arial"/>
              </a:defRPr>
            </a:pPr>
            <a:r>
              <a:t>SEMINAR PROPOSAL TUGAS AKHIR | JURUSAN FISIKA</a:t>
            </a:r>
            <a:br/>
            <a:r>
              <a:t>FAKULTAS SAINS DAN TEKNOLOGI - UIN SUNAN GUNUNG DJATI BANDUNG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28655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45920"/>
            <a:ext cx="10180015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750" b="1">
                <a:solidFill>
                  <a:srgbClr val="0F172A"/>
                </a:solidFill>
                <a:latin typeface="Arial"/>
              </a:defRPr>
            </a:pPr>
            <a:r>
              <a:t>RANCANG BANGUN INSTRUMENTASI SENSOR TUNNELING MAGNETORESISTANCE BERBASIS NANOFIBER Fe3O4/PVA-SITRAT-ADH UNTUK DETEKSI FORMALIN PADA BAKSO MENGGUNAKAN KOMPARASI MODEL KLASIK (SVM, RANDOM FOREST) DAN KUANTUM (QSVC, VQC)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3840480"/>
            <a:ext cx="4510735" cy="1051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3886200"/>
            <a:ext cx="432785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>
                <a:solidFill>
                  <a:srgbClr val="93C5FD"/>
                </a:solidFill>
                <a:latin typeface="Arial"/>
              </a:defRPr>
            </a:pPr>
            <a:r>
              <a:t>DISUSUN OLEH:</a:t>
            </a:r>
          </a:p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FAHRY RIZKY SAMSUDIN</a:t>
            </a:r>
          </a:p>
          <a:p>
            <a:pPr algn="ctr">
              <a:defRPr sz="1100">
                <a:solidFill>
                  <a:srgbClr val="CBD5E1"/>
                </a:solidFill>
                <a:latin typeface="Arial"/>
              </a:defRPr>
            </a:pPr>
            <a:r>
              <a:t>NIM: 1237030018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512064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663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Arial"/>
              </a:defRPr>
            </a:pPr>
            <a:r>
              <a:t>DOSEN PEMBIMBING I:</a:t>
            </a:r>
          </a:p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t>Mada Sanjaya W.S., M.Si., Ph.D.</a:t>
            </a:r>
          </a:p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NIP. 19851101 200912 1005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9535" y="5074920"/>
            <a:ext cx="512064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2415" y="51663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59669"/>
                </a:solidFill>
                <a:latin typeface="Arial"/>
              </a:defRPr>
            </a:pPr>
            <a:r>
              <a:t>DOSEN PEMBIMBING II / PENGUJI:</a:t>
            </a:r>
          </a:p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t>Dr. Yudha Satya Perkasa, M.Si.</a:t>
            </a:r>
          </a:p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NIP. 19780512 200801 1 009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I: PENDAHULUAN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Latar Belakang: Alur Masalah, Urgensi, &amp; Solusi Riset</a:t>
            </a:r>
          </a:p>
        </p:txBody>
      </p:sp>
      <p:pic>
        <p:nvPicPr>
          <p:cNvPr id="6" name="Picture 5" descr="latar_belakang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I: PENDAHULUAN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Perumusan Masalah &amp; Batasan Masalah Penelitian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4800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284C7"/>
                </a:solidFill>
                <a:latin typeface="Arial"/>
              </a:defRPr>
            </a:pPr>
            <a:r>
              <a:t>RUMUSAN MASALAH PENELITIAN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1. Rancang Bangun Hardware: </a:t>
            </a:r>
            <a:r>
              <a:rPr sz="1200">
                <a:solidFill>
                  <a:srgbClr val="0F172A"/>
                </a:solidFill>
              </a:rPr>
              <a:t>Bagaimana merancang rantai instrumentasi sensor TMR ALT023-10E terintegrasi dengan in-amp AD623 dan ADC ADS1115 untuk deteksi formalin?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2. Karakteristik Metrologis: </a:t>
            </a:r>
            <a:r>
              <a:rPr sz="1200">
                <a:solidFill>
                  <a:srgbClr val="0F172A"/>
                </a:solidFill>
              </a:rPr>
              <a:t>Bagaimana sensitivitas, linearitas (R²), limit of detection (LOD), dan limit of quantification (LOQ) sensor TMR berlabel nanofiber Fe3O4/PVA-Sitrat-ADH?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3. Komparasi 4 Model Cerdas: </a:t>
            </a:r>
            <a:r>
              <a:rPr sz="1200">
                <a:solidFill>
                  <a:srgbClr val="0F172A"/>
                </a:solidFill>
              </a:rPr>
              <a:t>Bagaimana perbandingan akurasi, presisi, recall, F1, dan ROC-AUC antara model klasik (SVM, RF) vs model kuantum (QSVC, VQC)?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4. Ketahanan Derau &amp; Kelayakan: </a:t>
            </a:r>
            <a:r>
              <a:rPr sz="1200">
                <a:solidFill>
                  <a:srgbClr val="0F172A"/>
                </a:solidFill>
              </a:rPr>
              <a:t>Bagaimana tingkat ketahanan derau (noise robustness) dan latensi komputasi model kuantum dibanding model klasik untuk implementasi embedded?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371600"/>
            <a:ext cx="4800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59669"/>
                </a:solidFill>
                <a:latin typeface="Arial"/>
              </a:defRPr>
            </a:pPr>
            <a:r>
              <a:t>BATASAN MASALAH PENELITIAN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Transduser: </a:t>
            </a:r>
            <a:r>
              <a:rPr sz="1200">
                <a:solidFill>
                  <a:srgbClr val="0F172A"/>
                </a:solidFill>
              </a:rPr>
              <a:t>Sensor TMR ALT023-10E (NVE Corporation), rentang linier ±1.0 mT, catu 5.0 V tunggal.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Material Reseptor: </a:t>
            </a:r>
            <a:r>
              <a:rPr sz="1200">
                <a:solidFill>
                  <a:srgbClr val="0F172A"/>
                </a:solidFill>
              </a:rPr>
              <a:t>Nanofiber Fe3O4/PVA-Sitrat-ADH via electrospinning &amp; thermal curing 130 °C.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Pengkondisi Sinyal: </a:t>
            </a:r>
            <a:r>
              <a:rPr sz="1200">
                <a:solidFill>
                  <a:srgbClr val="0F172A"/>
                </a:solidFill>
              </a:rPr>
              <a:t>AD623 (VREF = 2.50 V, G = 11) &amp; filter pasif anti-aliasing RC (fc ≈ 159 Hz).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ADC &amp; Komunikasi: </a:t>
            </a:r>
            <a:r>
              <a:rPr sz="1200">
                <a:solidFill>
                  <a:srgbClr val="0F172A"/>
                </a:solidFill>
              </a:rPr>
              <a:t>ADS1115 16-bit (GAIN_TWOTHIRDS, 128 SPS), I2C ke Arduino Uno R3.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Sampel Analit: </a:t>
            </a:r>
            <a:r>
              <a:rPr sz="1200">
                <a:solidFill>
                  <a:srgbClr val="0F172A"/>
                </a:solidFill>
              </a:rPr>
              <a:t>Formalin standar (0–100 ppm) dan ekstrak bakso riil (kontrol vs berformalin).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Komparasi Model: </a:t>
            </a:r>
            <a:r>
              <a:rPr sz="1200">
                <a:solidFill>
                  <a:srgbClr val="0F172A"/>
                </a:solidFill>
              </a:rPr>
              <a:t>4 Model: SVM (RBF), Random Forest, QSVC (ZZFeatureMap), dan VQC (Ansatz).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I: PENDAHULUAN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Tujuan Penelitian &amp; Kontribusi Manfaat Riset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4800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284C7"/>
                </a:solidFill>
                <a:latin typeface="Arial"/>
              </a:defRPr>
            </a:pPr>
            <a:r>
              <a:t>TUJUAN PENELITIAN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1. Rancang Bangun Sistem: </a:t>
            </a:r>
            <a:r>
              <a:rPr sz="1200">
                <a:solidFill>
                  <a:srgbClr val="0F172A"/>
                </a:solidFill>
              </a:rPr>
              <a:t>Merealisasikan prototipe instrumen sensor TMR dengan modul pengkondisi sinyal AD623 dan ADC 16-bit ADS1115.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2. Karakterisasi Metrologis: </a:t>
            </a:r>
            <a:r>
              <a:rPr sz="1200">
                <a:solidFill>
                  <a:srgbClr val="0F172A"/>
                </a:solidFill>
              </a:rPr>
              <a:t>Menentukan kurva kalibrasi V-B, sensitivitas rasiometrik, batas deteksi (LOD), dan LOQ sensor terhadap formalin standar.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3. Komparasi 4 Model ML: </a:t>
            </a:r>
            <a:r>
              <a:rPr sz="1200">
                <a:solidFill>
                  <a:srgbClr val="0F172A"/>
                </a:solidFill>
              </a:rPr>
              <a:t>Mengevaluasi dan membandingkan performa akurasi, presisi, recall, F1, dan ROC-AUC antara SVM, Random Forest, QSVC, dan VQC.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4. Evaluasi Ketahanan Derau: </a:t>
            </a:r>
            <a:r>
              <a:rPr sz="1200">
                <a:solidFill>
                  <a:srgbClr val="0F172A"/>
                </a:solidFill>
              </a:rPr>
              <a:t>Menguji ketahanan derau (noise robustness) model klasik vs kuantum dan latensi inferensi untuk kesiapan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371600"/>
            <a:ext cx="4800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D97706"/>
                </a:solidFill>
                <a:latin typeface="Arial"/>
              </a:defRPr>
            </a:pPr>
            <a:r>
              <a:t>MANFAAT &amp; DAMPAK RISET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300">
                <a:solidFill>
                  <a:srgbClr val="0F172A"/>
                </a:solidFill>
              </a:rPr>
              <a:t>• Aspek Ilmiah &amp; Spintronika: </a:t>
            </a:r>
            <a:r>
              <a:rPr sz="1200">
                <a:solidFill>
                  <a:srgbClr val="0F172A"/>
                </a:solidFill>
              </a:rPr>
              <a:t>Memberikan kontribusi orisinal dalam penggabungan transduser spintronika TMR dengan material komposit nanofiber hijau dan komputasi kuantum (Qiskit).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300">
                <a:solidFill>
                  <a:srgbClr val="0F172A"/>
                </a:solidFill>
              </a:rPr>
              <a:t>• Aspek Teknologi Instrumentasi: </a:t>
            </a:r>
            <a:r>
              <a:rPr sz="1200">
                <a:solidFill>
                  <a:srgbClr val="0F172A"/>
                </a:solidFill>
              </a:rPr>
              <a:t>Menghasilkan alat uji formalin portabel bersuhu ruang yang cepat, murah, tidak destruktif, dan tidak membutuhkan reagen beracun di lapangan.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300">
                <a:solidFill>
                  <a:srgbClr val="0F172A"/>
                </a:solidFill>
              </a:rPr>
              <a:t>• Aspek Keamanan Pangan Nasional: </a:t>
            </a:r>
            <a:r>
              <a:rPr sz="1200">
                <a:solidFill>
                  <a:srgbClr val="0F172A"/>
                </a:solidFill>
              </a:rPr>
              <a:t>Menyediakan instrumen skrining kuantitatif bagi BPOM dan dinas pasar untuk melindungi masyarakat dari bahaya karsinogenik pangan.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II: TINJAUAN PUSTAKA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Transduser Spintronik TMR &amp; Reseptor Kovalen Nanofiber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4800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284C7"/>
                </a:solidFill>
                <a:latin typeface="Arial"/>
              </a:defRPr>
            </a:pPr>
            <a:r>
              <a:t>1. Transduser TMR ALT023-10E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/>
              <a:t>• Efek Quantum Tunneling melintasi isolator tipis MgO pada struktur Magnetic Tunnel Junction (MTJ).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/>
              <a:t>• Persamaan Julliere: TMR = [2P1P2 / (1 - P1P2)] x 100% (&gt; 200% pada suhu ruang).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/>
              <a:t>• Sensitivitas 15–25 mV/V/mT pada medan rendah ±1.0 mT (6x lebih peka dari sensor GMR).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 b="1">
                <a:solidFill>
                  <a:srgbClr val="1E3A8A"/>
                </a:solidFill>
              </a:rPr>
              <a:t>• Sitasi: (Julliere, 1975; Pannetier et al., 2022; NVE Corp., 2023)</a:t>
            </a:r>
          </a:p>
        </p:txBody>
      </p:sp>
      <p:pic>
        <p:nvPicPr>
          <p:cNvPr id="8" name="Picture 7" descr="babII_ALT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297680"/>
            <a:ext cx="2286000" cy="1737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14400" y="4297680"/>
            <a:ext cx="2286000" cy="1737360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abII_TMR_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4297680"/>
            <a:ext cx="2286000" cy="17373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383280" y="4297680"/>
            <a:ext cx="2286000" cy="1737360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91072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325880"/>
            <a:ext cx="4800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59669"/>
                </a:solidFill>
                <a:latin typeface="Arial"/>
              </a:defRPr>
            </a:pPr>
            <a:r>
              <a:t>2. Nanofiber Fe3O4/PVA-Sitrat-ADH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/>
              <a:t>• Partikel superparamagnetik Fe3O4 disintesis via ekstrak daun kelor (green synthesis ramah lingkungan).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/>
              <a:t>• Thermal curing asam sitrat 130 °C membentuk taut silang ester yang tahan air (insoluble).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/>
              <a:t>• Reseptor ADH mengikat formalin spesifik membentuk ikatan hidrazon kovalen (R-C=N-NH-R').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/>
              <a:t>• Modulasi stray field magnetik: B_stray ∝ 1/z³ menggeser tegangan sensor secara presisi.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 b="1">
                <a:solidFill>
                  <a:srgbClr val="1E3A8A"/>
                </a:solidFill>
              </a:rPr>
              <a:t>• Sitasi: (Hermanson, 2013; Antarnusa et al., 2022; Türkoğlu, 2024)</a:t>
            </a:r>
          </a:p>
        </p:txBody>
      </p:sp>
      <p:pic>
        <p:nvPicPr>
          <p:cNvPr id="14" name="Picture 13" descr="babII_ikatan_formal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297680"/>
            <a:ext cx="4572000" cy="17373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583680" y="4297680"/>
            <a:ext cx="4572000" cy="1737360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II: TINJAUAN PUSTAKA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Rantai Pengkondisi Sinyal AD623, ADC ADS1115, &amp; Metrologi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4800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284C7"/>
                </a:solidFill>
                <a:latin typeface="Arial"/>
              </a:defRPr>
            </a:pPr>
            <a:r>
              <a:t>1. Penguat Instrumentasi AD623 &amp; LPF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/>
              <a:t>• In-Amp rail-to-rail catu tunggal +5.0 V dengan CMRR tinggi meredam derau common-mode.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/>
              <a:t>• Resistor gain RG = 10.0 kΩ menghasilkan penguatan tetap G = 1 + (100 kΩ / RG) = 11.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/>
              <a:t>• Tegangan bias referensi VREF = 2.50 V (R3 = R4 = 1.0 kΩ) menjaga sinyal bipolar pada rentang 1.40–3.60 V (anti-clipping).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/>
              <a:t>• Filter pasif RC (R=10 kΩ, C=100 nF, fc ≈ 159 Hz) membatasi frekuensi di bawah batas Nyquist.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 b="1">
                <a:solidFill>
                  <a:srgbClr val="1E3A8A"/>
                </a:solidFill>
              </a:rPr>
              <a:t>• Sitasi: (Analog Devices, 2020; Pallàs-Areny &amp; Webster, 2001)</a:t>
            </a:r>
          </a:p>
        </p:txBody>
      </p:sp>
      <p:pic>
        <p:nvPicPr>
          <p:cNvPr id="8" name="Picture 7" descr="babII_AD623_Pi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4297680"/>
            <a:ext cx="3474720" cy="1737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463040" y="4297680"/>
            <a:ext cx="3474720" cy="1737360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1072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325880"/>
            <a:ext cx="4800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  <a:latin typeface="Arial"/>
              </a:defRPr>
            </a:pPr>
            <a:r>
              <a:t>2. ADC 16-Bit ADS1115 &amp; Metrologi IUPAC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/>
              <a:t>• ADC Delta-Sigma 16-bit antarmuka I2C (alamat 0x48, laju konversi 128 SPS).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/>
              <a:t>• PGA internal GAIN_TWOTHIRDS (FSR = ±6.144 V) menghasilkan resolusi 0.1875 mV/count.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/>
              <a:t>• Rumus LOD &amp; LOQ Standar IUPAC: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</a:rPr>
              <a:t>    LOD = (3.3 x σ_blank) / m    |    LOQ = (10 x σ_blank) / m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/>
              <a:t>• Sensitivitas: m = ΔV / ΔC (kemiringan kurva respon kalibrasi sensor).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E3A8A"/>
                </a:solidFill>
              </a:rPr>
              <a:t>• Sitasi: (Texas Instruments, 2018; Mocak et al., 1997; IUPAC, 2014)</a:t>
            </a:r>
          </a:p>
        </p:txBody>
      </p:sp>
      <p:pic>
        <p:nvPicPr>
          <p:cNvPr id="12" name="Picture 11" descr="babII_ADS-1115-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297680"/>
            <a:ext cx="2926080" cy="17373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315200" y="4297680"/>
            <a:ext cx="2926080" cy="1737360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II: TINJAUAN PUSTAKA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Fondasi Matematis Komparasi 4 Model Machine Learning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16636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489204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Arial"/>
              </a:defRPr>
            </a:pPr>
            <a:r>
              <a:t>1. Support Vector Machine (SVM)</a:t>
            </a:r>
          </a:p>
          <a:p>
            <a:pPr>
              <a:spcAft>
                <a:spcPts val="400"/>
              </a:spcAft>
              <a:defRPr sz="950" b="1">
                <a:solidFill>
                  <a:srgbClr val="475569"/>
                </a:solidFill>
                <a:latin typeface="Arial"/>
              </a:defRPr>
            </a:pPr>
            <a:r>
              <a:t>MODEL KLASIK (BASELINE)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• Maksimasi marjin pemisah hiperplane dalam bentuk dual Lagrange: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    max_α ∑ α_i - 0.5 ∑ α_i α_j y_i y_j K(x_i, x_j)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• Kernel Radial Basis Function (RBF): K(x_i, x_j) = exp(-γ ||x_i - x_j||²)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• Tuning hyperparameter C dan γ via Grid Search &amp; 5-Fold CV.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00" b="1">
                <a:solidFill>
                  <a:srgbClr val="1E3A8A"/>
                </a:solidFill>
              </a:rPr>
              <a:t>• Sitasi: (Cortes &amp; Vapnik, 1995; Schölkopf et al., 2002)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234440"/>
            <a:ext cx="516636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325880"/>
            <a:ext cx="489204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2. Random Forest (RF)</a:t>
            </a:r>
          </a:p>
          <a:p>
            <a:pPr>
              <a:spcAft>
                <a:spcPts val="400"/>
              </a:spcAft>
              <a:defRPr sz="950" b="1">
                <a:solidFill>
                  <a:srgbClr val="475569"/>
                </a:solidFill>
                <a:latin typeface="Arial"/>
              </a:defRPr>
            </a:pPr>
            <a:r>
              <a:t>MODEL KLASIK (ENSEMBLE TREES)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• Metode Ensemble Bagging dari B pohon keputusan acak mandiri.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• Prediksi agregat mayoritas: y_pred = mode{h_b(x)} untuk b=1..B.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• Tuning parameter: n_estimators (50–200) dan max_depth (3–10).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• Evaluasi Feature Importance berbasis reduksi Gini Impurity.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00" b="1">
                <a:solidFill>
                  <a:srgbClr val="1E3A8A"/>
                </a:solidFill>
              </a:rPr>
              <a:t>• Sitasi: (Breiman, 2001; Tyralis et al., 2019)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516636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489204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3. Quantum Support Vector (QSVC)</a:t>
            </a:r>
          </a:p>
          <a:p>
            <a:pPr>
              <a:spcAft>
                <a:spcPts val="400"/>
              </a:spcAft>
              <a:defRPr sz="950" b="1">
                <a:solidFill>
                  <a:srgbClr val="475569"/>
                </a:solidFill>
                <a:latin typeface="Arial"/>
              </a:defRPr>
            </a:pPr>
            <a:r>
              <a:t>MODEL KUANTUM (KERNEL-BASED QISKIT)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• Pemetaan data non-linier ke ruang Hilbert 8D 3-qubit: |Φ(x)⟩ = U_Φ(x)|0⟩^⊗3.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• Sirkuit ZZFeatureMap membangkitkan belitan kuantum (quantum entanglement).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• Quantum Kernel Matrix: K_ij^Q = |⟨Φ(x_i)|Φ(x_j)⟩|² dihitung pada simulator kuantum.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• Optimasi marjin klasik diterapkan pada ruang berdimensi tinggi.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00" b="1">
                <a:solidFill>
                  <a:srgbClr val="1E3A8A"/>
                </a:solidFill>
              </a:rPr>
              <a:t>• Sitasi: (Havlíček et al., 2019; Schuld &amp; Killoran, 2019)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3840480"/>
            <a:ext cx="516636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3931920"/>
            <a:ext cx="489204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Arial"/>
              </a:defRPr>
            </a:pPr>
            <a:r>
              <a:t>4. Variational Quantum Classifier (VQC)</a:t>
            </a:r>
          </a:p>
          <a:p>
            <a:pPr>
              <a:spcAft>
                <a:spcPts val="400"/>
              </a:spcAft>
              <a:defRPr sz="950" b="1">
                <a:solidFill>
                  <a:srgbClr val="475569"/>
                </a:solidFill>
                <a:latin typeface="Arial"/>
              </a:defRPr>
            </a:pPr>
            <a:r>
              <a:t>MODEL KUANTUM (PARAMETRIZED ANSATZ)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• Menggabungkan Feature Map kuantum dan ansatz sirkuit bervariasi W(θ).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• Status kuantum: |ψ(x, θ)⟩ = W(θ) U_Φ(x) |0⟩^⊗3 (Ansatz RealAmplitudes).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• Optimasi sudut θ gerbang rotasi kuantum secara iteratif via optimizer COBYLA/SPSA.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50"/>
              <a:t>• Prediksi kelas melalui pembacaan nilai ekspektasi Hamiltonian: ⟨Z_0⟩.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1100" b="1">
                <a:solidFill>
                  <a:srgbClr val="1E3A8A"/>
                </a:solidFill>
              </a:rPr>
              <a:t>• Sitasi: (Cerezo et al., 2021; Qiskit Machine Learning, 2024)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II: TINJAUAN PUSTAKA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Matriks Komparasi Penelitian Terdahulu &amp; Kebaruan Riset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280160"/>
          <a:ext cx="1072865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371600"/>
                <a:gridCol w="1828800"/>
                <a:gridCol w="1828800"/>
                <a:gridCol w="2864815"/>
              </a:tblGrid>
              <a:tr h="8077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Peneliti &amp; Tahun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 Analit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Transduser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Material Reseptor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 Cerdas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Limitasi / Keterbatasan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Wang et al. (2021)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Formalin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MOS Gas Sensor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ZnO Nanorod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Tanpa 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Suhu operasi 300 °C, boros daya, interferensi aroma bumbu tinggi.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Singhal et al. (2024)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Formalin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Elektrokimia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Grafena-Kitosan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Tanpa ML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Destruktif, preparasi elektroda rumit, rentan fouling analit organik.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Sun et al. (2023)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Formalin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Biosensor Enzim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Enzim FDH Imobil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KNN Klasik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Stabilitas enzim rendah (&lt; 2 minggu), denaturasi cepat pada suhu ruang.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Gilang Pratama (2026)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Glukosa Saliva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GMR Spintronik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Fe3O4/PVA-GOx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Rasio MR rendah (10–15%), terbatas pada satu model klasik saja.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Fahry R. S. (2026)</a:t>
                      </a:r>
                      <a:br/>
                      <a:r>
                        <a:t>[Penelitian Ini]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Formalin Bakso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TMR Spintronik</a:t>
                      </a:r>
                      <a:br/>
                      <a:r>
                        <a:t>(ALT023-10E)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Nanofiber Hijau</a:t>
                      </a:r>
                      <a:br/>
                      <a:r>
                        <a:t>Fe3O4/PVA-Sitrat-ADH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Komparasi 4 Model</a:t>
                      </a:r>
                      <a:br/>
                      <a:r>
                        <a:t>(SVM, RF, QSVC, VQC)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Kebaruan: MR &gt; 200%, ikatan kovalen spesifik, analisis komparatif ruang Hilbert &amp; uji ketahanan derau.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III: METODE PENELITIAN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Diagram Alir Tahapan Penelitian Menyeluruh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4864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284C7"/>
                </a:solidFill>
                <a:latin typeface="Arial"/>
              </a:defRPr>
            </a:pPr>
            <a:r>
              <a:t>8 TAHAPAN EKSEKUSI RISET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1. Studi Literatur: </a:t>
            </a:r>
            <a:r>
              <a:rPr sz="1150">
                <a:solidFill>
                  <a:srgbClr val="0F172A"/>
                </a:solidFill>
              </a:rPr>
              <a:t>Kajian transduser TMR, nanofiber kovalen, dan Quantum ML.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2. Desain Hardware: </a:t>
            </a:r>
            <a:r>
              <a:rPr sz="1150">
                <a:solidFill>
                  <a:srgbClr val="0F172A"/>
                </a:solidFill>
              </a:rPr>
              <a:t>Rantai sinyal ALT023-10E → AD623 → LPF → ADS1115 → Arduino.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3. Desain Software: </a:t>
            </a:r>
            <a:r>
              <a:rPr sz="1150">
                <a:solidFill>
                  <a:srgbClr val="0F172A"/>
                </a:solidFill>
              </a:rPr>
              <a:t>Firmware mikrokontroler dan GUI Python Raspberry Pi 5.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4. Sintesis Material: </a:t>
            </a:r>
            <a:r>
              <a:rPr sz="1150">
                <a:solidFill>
                  <a:srgbClr val="0F172A"/>
                </a:solidFill>
              </a:rPr>
              <a:t>Elektrospinning Fe3O4/PVA, curing sitrat 130 °C, fungsionalisasi ADH.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5. Karakterisasi Medan: </a:t>
            </a:r>
            <a:r>
              <a:rPr sz="1150">
                <a:solidFill>
                  <a:srgbClr val="0F172A"/>
                </a:solidFill>
              </a:rPr>
              <a:t>Pengujian V-B dan dV/dB terhadap acuan kumparan Helmholtz.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6. Pengujian Formalin: </a:t>
            </a:r>
            <a:r>
              <a:rPr sz="1150">
                <a:solidFill>
                  <a:srgbClr val="0F172A"/>
                </a:solidFill>
              </a:rPr>
              <a:t>Uji respon larutan standar (0–100 ppm) dan ekstrak bakso pasar.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7. Pemodelan Cerdas: </a:t>
            </a:r>
            <a:r>
              <a:rPr sz="1150">
                <a:solidFill>
                  <a:srgbClr val="0F172A"/>
                </a:solidFill>
              </a:rPr>
              <a:t>Pelatihan &amp; validasi komparasi 4 model (SVM, RF, QSVC, VQC).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8. Evaluasi &amp; Laporan: </a:t>
            </a:r>
            <a:r>
              <a:rPr sz="1150">
                <a:solidFill>
                  <a:srgbClr val="0F172A"/>
                </a:solidFill>
              </a:rPr>
              <a:t>Analisis noise robustness, penyusunan naskah, dan publikasi.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34440"/>
            <a:ext cx="496793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37160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59669"/>
                </a:solidFill>
                <a:latin typeface="Arial"/>
              </a:defRPr>
            </a:pPr>
            <a:r>
              <a:t>PENJAMINAN MUTU DATA RISET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• Ground Truth Metrologis:
</a:t>
            </a:r>
            <a:r>
              <a:rPr sz="1150">
                <a:solidFill>
                  <a:srgbClr val="0F172A"/>
                </a:solidFill>
              </a:rPr>
              <a:t>Pengukuran medan magnet Helmholtz menggunakan teslameter terkalibrasi sebagai acuan absolut.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• Replikasi Pengukuran:
</a:t>
            </a:r>
            <a:r>
              <a:rPr sz="1150">
                <a:solidFill>
                  <a:srgbClr val="0F172A"/>
                </a:solidFill>
              </a:rPr>
              <a:t>Setiap titik konsentrasi diukur secara berulang (triplo) untuk mendapatkan simpangan baku presisi.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• Protokol Stabilisasi:
</a:t>
            </a:r>
            <a:r>
              <a:rPr sz="1150">
                <a:solidFill>
                  <a:srgbClr val="0F172A"/>
                </a:solidFill>
              </a:rPr>
              <a:t>Akuisisi 5.0 detik mengabaikan 1.0 detik pertama (settling time) untuk membuang efek transien awal.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• Pencegahan Data Leakage:
</a:t>
            </a:r>
            <a:r>
              <a:rPr sz="1150">
                <a:solidFill>
                  <a:srgbClr val="0F172A"/>
                </a:solidFill>
              </a:rPr>
              <a:t>Standarisasi fitur dan pembagian dataset dilakukan berbasis sampel tetesan independen, bukan irisan waktu yang sama.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III: METODE PENELITIAN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Desain Mekatronika &amp; Rangkaian Perangkat Keras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4800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284C7"/>
                </a:solidFill>
                <a:latin typeface="Arial"/>
              </a:defRPr>
            </a:pPr>
            <a:r>
              <a:t>1. Mekatronika Casing &amp; Kumparan Helmholtz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Kit terintegrasi dengan layar sentuh Raspberry Pi 5, mikrokontroler Arduino Uno, kumparan Helmholtz (0–16 V DC), dan slot sensor TMR.</a:t>
            </a:r>
          </a:p>
        </p:txBody>
      </p:sp>
      <p:pic>
        <p:nvPicPr>
          <p:cNvPr id="8" name="Picture 7" descr="babIII_desainlu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68880"/>
            <a:ext cx="237744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14400" y="2468880"/>
            <a:ext cx="2377440" cy="3566160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abIII_desaindal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468880"/>
            <a:ext cx="2377440" cy="35661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474720" y="2468880"/>
            <a:ext cx="2377440" cy="3566160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91072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325880"/>
            <a:ext cx="4800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  <a:latin typeface="Arial"/>
              </a:defRPr>
            </a:pPr>
            <a:r>
              <a:t>2. Rantai Sinyal Presisi &amp; Grounding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Filter RFI diferensial, AD623 (G=11, VREF=2.50 V), LPF pasif RC (fc=159 Hz), ADS1115 16-bit, serta pemisahan ground AGND dan DGND.</a:t>
            </a:r>
          </a:p>
        </p:txBody>
      </p:sp>
      <p:pic>
        <p:nvPicPr>
          <p:cNvPr id="14" name="Picture 13" descr="babIII_skematik_TMR_grounding_f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2468880"/>
            <a:ext cx="480060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473952" y="2468880"/>
            <a:ext cx="4800600" cy="3566160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III: METODE PENELITIAN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Diagram Alir Perangkat Lunak Mikrokontroler &amp; Python Host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Arial"/>
              </a:defRPr>
            </a:pPr>
            <a:r>
              <a:t>1. Firmware Arduino Uno (sensor_tmr_formalin.ino)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Akuisisi deterministik 128 SPS, pembacaan I2C pin AIN0, streaming serial CSV murni tanpa rata-rata.</a:t>
            </a:r>
          </a:p>
        </p:txBody>
      </p:sp>
      <p:pic>
        <p:nvPicPr>
          <p:cNvPr id="8" name="Picture 7" descr="babIII_AlurSoftwareArduino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331720"/>
            <a:ext cx="3840480" cy="37490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371600" y="2331720"/>
            <a:ext cx="3840480" cy="3749039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1072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32588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2. Host Python GUI (kalibrasi_tmr_formalin.py)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Engine berbasis durasi 5.0 detik (buang settling time 1.0 detik), regresi linier otomatis, dan plot 300 DPI.</a:t>
            </a:r>
          </a:p>
        </p:txBody>
      </p:sp>
      <p:pic>
        <p:nvPicPr>
          <p:cNvPr id="12" name="Picture 11" descr="babIII_DiagramAlirPython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331720"/>
            <a:ext cx="4800600" cy="374903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73952" y="2331720"/>
            <a:ext cx="4800600" cy="3749039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III: METODE PENELITIAN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Diagram Alir Pemodelan 4 Model &amp; Deployment Realtime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6692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Arial"/>
              </a:defRPr>
            </a:pPr>
            <a:r>
              <a:t>Pelatihan Komparatif 4 Model (SVM, RF vs QSVC, VQC)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Ekstraksi 3 Fitur (V_mean, ΔV, σ_V), split 80:20, validasi 5-fold CV, dan uji noise robustness.</a:t>
            </a:r>
          </a:p>
        </p:txBody>
      </p:sp>
      <p:pic>
        <p:nvPicPr>
          <p:cNvPr id="8" name="Picture 7" descr="babIII_ModelBuilding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40280"/>
            <a:ext cx="5303520" cy="3886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14400" y="2240280"/>
            <a:ext cx="5303520" cy="3886200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0" y="1234440"/>
            <a:ext cx="48764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3258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Deployment Sistem Inferensi Realtime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Penerapan model optimal pada Raspberry Pi 5 GUI untuk klasifikasi status keamanan pangan bakso.</a:t>
            </a:r>
          </a:p>
        </p:txBody>
      </p:sp>
      <p:pic>
        <p:nvPicPr>
          <p:cNvPr id="12" name="Picture 11" descr="babIII_ModelDeploy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240280"/>
            <a:ext cx="4480560" cy="3886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766560" y="2240280"/>
            <a:ext cx="4480560" cy="3886200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III: METODE PENELITIAN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Sintesis Nanofiber Kovalen &amp; Preparasi Sampel Bakso Riil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4800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284C7"/>
                </a:solidFill>
                <a:latin typeface="Arial"/>
              </a:defRPr>
            </a:pPr>
            <a:r>
              <a:t>SINTESIS NANOFIBER Fe3O4/PVA-SITRAT-ADH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250">
                <a:solidFill>
                  <a:srgbClr val="0F172A"/>
                </a:solidFill>
              </a:rPr>
              <a:t>1. Sintesis Fe3O4 Hijau: </a:t>
            </a:r>
            <a:r>
              <a:rPr sz="1150">
                <a:solidFill>
                  <a:srgbClr val="0F172A"/>
                </a:solidFill>
              </a:rPr>
              <a:t>Kopresipitasi garam besi dengan ekstrak daun kelor sebagai agen pereduksi ramah lingkungan.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250">
                <a:solidFill>
                  <a:srgbClr val="0F172A"/>
                </a:solidFill>
              </a:rPr>
              <a:t>2. Larutan Polimer Doping: </a:t>
            </a:r>
            <a:r>
              <a:rPr sz="1150">
                <a:solidFill>
                  <a:srgbClr val="0F172A"/>
                </a:solidFill>
              </a:rPr>
              <a:t>Pencampuran PVA 10% w/v dengan 2% w/v nanopartikel Fe3O4 dan 5% w/v asam sitrat.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250">
                <a:solidFill>
                  <a:srgbClr val="0F172A"/>
                </a:solidFill>
              </a:rPr>
              <a:t>3. Proses Electrospinning: </a:t>
            </a:r>
            <a:r>
              <a:rPr sz="1150">
                <a:solidFill>
                  <a:srgbClr val="0F172A"/>
                </a:solidFill>
              </a:rPr>
              <a:t>Tegangan tinggi 15 kV, jarak jarum-kolektor 12 cm, laju alir syringe pump 0.8 mL/jam.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250">
                <a:solidFill>
                  <a:srgbClr val="0F172A"/>
                </a:solidFill>
              </a:rPr>
              <a:t>4. Thermal Curing 130 °C: </a:t>
            </a:r>
            <a:r>
              <a:rPr sz="1150">
                <a:solidFill>
                  <a:srgbClr val="0F172A"/>
                </a:solidFill>
              </a:rPr>
              <a:t>Pemanasan oven 130 °C selama 2 jam untuk reaksi esterifikasi penaut silang anti-air.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250">
                <a:solidFill>
                  <a:srgbClr val="0F172A"/>
                </a:solidFill>
              </a:rPr>
              <a:t>5. Imobilisasi ADH: </a:t>
            </a:r>
            <a:r>
              <a:rPr sz="1150">
                <a:solidFill>
                  <a:srgbClr val="0F172A"/>
                </a:solidFill>
              </a:rPr>
              <a:t>Fungsionalisasi gugus hidrazida terminal bebas sebagai chemo-receptor spesifik formaldehida.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371600"/>
            <a:ext cx="4800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  <a:latin typeface="Arial"/>
              </a:defRPr>
            </a:pPr>
            <a:r>
              <a:t>PREPARASI &amp; PENGUJIAN SAMPEL BAKSO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250">
                <a:solidFill>
                  <a:srgbClr val="0F172A"/>
                </a:solidFill>
              </a:rPr>
              <a:t>1. Sampling Pasar: </a:t>
            </a:r>
            <a:r>
              <a:rPr sz="1150">
                <a:solidFill>
                  <a:srgbClr val="0F172A"/>
                </a:solidFill>
              </a:rPr>
              <a:t>Pengambilan sampel bakso sapi dari pasar tradisional dan pasar modern di wilayah Bandung.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250">
                <a:solidFill>
                  <a:srgbClr val="0F172A"/>
                </a:solidFill>
              </a:rPr>
              <a:t>2. Pembuatan Sampel Kontrol: </a:t>
            </a:r>
            <a:r>
              <a:rPr sz="1150">
                <a:solidFill>
                  <a:srgbClr val="0F172A"/>
                </a:solidFill>
              </a:rPr>
              <a:t>Bakso higienis buatan laboratorium tanpa penambahan bahan pengawet sintetik.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250">
                <a:solidFill>
                  <a:srgbClr val="0F172A"/>
                </a:solidFill>
              </a:rPr>
              <a:t>3. Preparasi Sampel Spiked: </a:t>
            </a:r>
            <a:r>
              <a:rPr sz="1150">
                <a:solidFill>
                  <a:srgbClr val="0F172A"/>
                </a:solidFill>
              </a:rPr>
              <a:t>Injeksi larutan formalin dengan variasi konsentrasi terukur (10, 20, 50, 100 ppm) untuk validasi.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250">
                <a:solidFill>
                  <a:srgbClr val="0F172A"/>
                </a:solidFill>
              </a:rPr>
              <a:t>4. Ekstraksi Filtrat: </a:t>
            </a:r>
            <a:r>
              <a:rPr sz="1150">
                <a:solidFill>
                  <a:srgbClr val="0F172A"/>
                </a:solidFill>
              </a:rPr>
              <a:t>Penghancuran mekanik sampel bakso, penambahan aquades steril, sonikasi 15 menit, dan sentrifugasi.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b="1" sz="1250">
                <a:solidFill>
                  <a:srgbClr val="0F172A"/>
                </a:solidFill>
              </a:rPr>
              <a:t>5. Prosedur Uji Sensor TMR: </a:t>
            </a:r>
            <a:r>
              <a:rPr sz="1150">
                <a:solidFill>
                  <a:srgbClr val="0F172A"/>
                </a:solidFill>
              </a:rPr>
              <a:t>Penetesan 50 µL filtrat ke atas reseptor nanofiber, perekaman sinyal 5.0 detik, dan inferensi ML.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III: METODE PENELITIAN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Jadwal &amp; Tempat Pelaksanaan Penelitian (Gantt Chart)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728655" cy="1051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93C5FD"/>
                </a:solidFill>
                <a:latin typeface="Arial"/>
              </a:defRPr>
            </a:pPr>
            <a:r>
              <a:t>LOKASI &amp; PERIODE RISET: BOLABOT TECHNO ROBOTIC INSTITUTE BANDUNG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Jl. Sauyunan VI No. 10 Blok F6, Kelurahan Cipadung, Kecamatan Panyileukan, Kota Bandung, Jawa Barat 40614.</a:t>
            </a:r>
            <a:br/>
            <a:r>
              <a:t>Periode Riset Efektif: Bulan September – Desember 2026 (Durasi: 16 Pekan Kerja Efektif).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468880"/>
          <a:ext cx="10728655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425135"/>
                <a:gridCol w="1188720"/>
                <a:gridCol w="1188720"/>
                <a:gridCol w="1188720"/>
                <a:gridCol w="1188720"/>
              </a:tblGrid>
              <a:tr h="54210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Tahapan Kegiatan Penelitian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Bulan 1 (Sep)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Bulan 2 (Okt)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Bulan 3 (Nov)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Bulan 4 (Des)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Studi literatur &amp; perancangan desain rantai sinyal hardware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284C7"/>
                          </a:solidFill>
                          <a:latin typeface="Arial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Sintesis material nanofiber Fe3O4/PVA-Sitrat-ADH kovalen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284C7"/>
                          </a:solidFill>
                          <a:latin typeface="Arial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284C7"/>
                          </a:solidFill>
                          <a:latin typeface="Arial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Perakitan instrumen TMR, kalibrasi Helmholtz, &amp; firmware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284C7"/>
                          </a:solidFill>
                          <a:latin typeface="Arial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284C7"/>
                          </a:solidFill>
                          <a:latin typeface="Arial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Pengujian larutan formalin standar &amp; ekstrak sampel bakso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284C7"/>
                          </a:solidFill>
                          <a:latin typeface="Arial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Pelatihan &amp; komparasi model klasik vs kuantum (Qiskit)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284C7"/>
                          </a:solidFill>
                          <a:latin typeface="Arial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284C7"/>
                          </a:solidFill>
                          <a:latin typeface="Arial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2112"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Evaluasi noise robustness, analisis metrologis, &amp; skripsi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284C7"/>
                          </a:solidFill>
                          <a:latin typeface="Arial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DAFTAR PUSTAKA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Pustaka Rujukan Utama Berbobot Internasional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72865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371600"/>
            <a:ext cx="101800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DAFTAR REFERENSI KUNCI PROPOSAL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1150">
                <a:solidFill>
                  <a:srgbClr val="0F172A"/>
                </a:solidFill>
                <a:latin typeface="Arial"/>
              </a:rPr>
              <a:t>Analog Devices. (2020). AD623: Single-Supply, Rail-to-Rail, Low Cost Instrumentation Amplifier Data Sheet (Rev. E). Norwood: Analog Devices, Inc.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1150">
                <a:solidFill>
                  <a:srgbClr val="0F172A"/>
                </a:solidFill>
                <a:latin typeface="Arial"/>
              </a:rPr>
              <a:t>Antarnusa, G., Suharyadi, E., &amp; Kato, T. (2022). Giant Magnetoresistance Biosensor Based on Fe3O4 Magnetic Nanoparticles for Biomedical Applications. Sensors, 22(14), 5120.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1150">
                <a:solidFill>
                  <a:srgbClr val="0F172A"/>
                </a:solidFill>
                <a:latin typeface="Arial"/>
              </a:rPr>
              <a:t>Breiman, L. (2001). Random Forests. Machine Learning, 45(1), 5–32.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1150">
                <a:solidFill>
                  <a:srgbClr val="0F172A"/>
                </a:solidFill>
                <a:latin typeface="Arial"/>
              </a:rPr>
              <a:t>Cerezo, M., Arrasmith, A., Babbush, R., Benjamin, S. C., Endo, S., Fujii, K., ... &amp; Coles, P. J. (2021). Variational Quantum Algorithms. Nature Reviews Physics, 3(9), 625–644.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1150">
                <a:solidFill>
                  <a:srgbClr val="0F172A"/>
                </a:solidFill>
                <a:latin typeface="Arial"/>
              </a:rPr>
              <a:t>Cortes, C., &amp; Vapnik, V. (1995). Support-Vector Networks. Machine Learning, 20(3), 273–297.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1150">
                <a:solidFill>
                  <a:srgbClr val="0F172A"/>
                </a:solidFill>
                <a:latin typeface="Arial"/>
              </a:rPr>
              <a:t>Havlíček, V., Córcoles, A. D., Temme, K., Harrow, A. W., Kandala, A., Chow, J. M., &amp; Gambetta, J. M. (2019). Supervised Learning with Quantum-Enhanced Feature Spaces. Nature, 567(7747), 209–212.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1150">
                <a:solidFill>
                  <a:srgbClr val="0F172A"/>
                </a:solidFill>
                <a:latin typeface="Arial"/>
              </a:rPr>
              <a:t>Hermanson, G. T. (2013). Bioconjugate Techniques (3rd ed.). Boston: Academic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1150">
                <a:solidFill>
                  <a:srgbClr val="0F172A"/>
                </a:solidFill>
                <a:latin typeface="Arial"/>
              </a:rPr>
              <a:t>Mocak, J., Bond, A. M., Mitchell, S., &amp; Scollary, G. (1997). A Statistical Overview of Limit of Detection and Limit of Quantification in Analytical Chemistry. Pure and Applied Chemistry, 69(2), 297–328.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1150">
                <a:solidFill>
                  <a:srgbClr val="0F172A"/>
                </a:solidFill>
                <a:latin typeface="Arial"/>
              </a:rPr>
              <a:t>NVE Corporation. (2023). TMR ALT023-10E High Sensitivity Analog Magnetometer Sensor Catalog. Eden Prairie: NVE Corporation.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1150">
                <a:solidFill>
                  <a:srgbClr val="0F172A"/>
                </a:solidFill>
                <a:latin typeface="Arial"/>
              </a:rPr>
              <a:t>Pannetier, M., Fermon, C., Le Goff, G., Simola, J., &amp; Kerr, E. (2022). High-Sensitivity TMR Sensors for Biomagnetic Applications. Journal of Magnetism and Magnetic Materials, 548, 168920.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U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71600"/>
            <a:ext cx="1005840" cy="1005840"/>
          </a:xfrm>
          <a:prstGeom prst="rect">
            <a:avLst/>
          </a:prstGeom>
        </p:spPr>
      </p:pic>
      <p:pic>
        <p:nvPicPr>
          <p:cNvPr id="5" name="Picture 4" descr="Logo Fisika U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45920" y="2560320"/>
            <a:ext cx="889985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SEKIAN &amp; TERIMA KASIH</a:t>
            </a:r>
          </a:p>
          <a:p>
            <a:pPr algn="ctr">
              <a:spcAft>
                <a:spcPts val="1800"/>
              </a:spcAft>
              <a:defRPr sz="1600" b="1">
                <a:solidFill>
                  <a:srgbClr val="0284C7"/>
                </a:solidFill>
                <a:latin typeface="Arial"/>
              </a:defRPr>
            </a:pPr>
            <a:r>
              <a:t>Sesi Diskusi &amp; Tanya Jawab Seminar Proposal Tugas Akhir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Fahry Rizky Samsudin (NIM: 1237030018)</a:t>
            </a:r>
          </a:p>
          <a:p>
            <a:pPr algn="ctr">
              <a:defRPr sz="1200">
                <a:solidFill>
                  <a:srgbClr val="475569"/>
                </a:solidFill>
                <a:latin typeface="Arial"/>
              </a:defRPr>
            </a:pPr>
            <a:r>
              <a:t>Jurusan Fisika, Fakultas Sains dan Teknologi</a:t>
            </a:r>
            <a:br/>
            <a:r>
              <a:t>Universitas Islam Negeri Sunan Gunung Djati Bandung</a:t>
            </a:r>
            <a:br/>
            <a:r>
              <a:t>Tahun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Proposal Tugas Akhir — Fahry Rizky Samsudin (1237030018) | Jurusan Fisika UIN Sunan Gunung Djati Bandung</a:t>
            </a:r>
            <a:r>
              <a:rPr b="1">
                <a:solidFill>
                  <a:srgbClr val="1E3A8A"/>
                </a:solidFill>
              </a:rPr>
              <a:t>                    Slide 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