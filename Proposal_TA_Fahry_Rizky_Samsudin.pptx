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 U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084" y="548640"/>
            <a:ext cx="829591" cy="1188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03120" y="548640"/>
            <a:ext cx="932688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2563EB"/>
                </a:solidFill>
                <a:latin typeface="Segoe UI"/>
              </a:defRPr>
            </a:pPr>
            <a:r>
              <a:t>SEMINAR PROPOSAL TUGAS AKHIR | PROGRAM STUDI FISIKA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1">
                <a:solidFill>
                  <a:srgbClr val="0F1E4A"/>
                </a:solidFill>
                <a:latin typeface="Segoe UI"/>
              </a:defRPr>
            </a:pPr>
            <a:r>
              <a:t>RANCANG BANGUN INSTRUMENTASI SENSOR TUNNELING MAGNETORESISTANCE BERBASIS NANOFIBER Fe3O4/PVA-SITRAT-ADH UNTUK DETEKSI FORMALIN PADA BAKSO MENGGUNAKAN KOMPARASI MODEL SVM DAN QSVC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Integrasi Nanokomposit Magnetik, Rantai Akuisisi Presisi AD623-ADS1115, dan Quantum Machine Learning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749039"/>
            <a:ext cx="512064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886200"/>
            <a:ext cx="4754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2563EB"/>
                </a:solidFill>
                <a:latin typeface="Segoe UI"/>
              </a:defRPr>
            </a:pPr>
            <a:r>
              <a:t>PENELITI UTAMA</a:t>
            </a:r>
          </a:p>
          <a:p>
            <a:pPr>
              <a:spcAft>
                <a:spcPts val="400"/>
              </a:spcAft>
              <a:defRPr sz="1150" b="1">
                <a:solidFill>
                  <a:srgbClr val="0F1E4A"/>
                </a:solidFill>
                <a:latin typeface="Segoe UI"/>
              </a:defRPr>
            </a:pPr>
            <a:r>
              <a:t>Identitas Peneliti</a:t>
            </a:r>
          </a:p>
          <a:p>
            <a:pPr>
              <a:lnSpc>
                <a:spcPct val="115000"/>
              </a:lnSpc>
              <a:spcAft>
                <a:spcPts val="350"/>
              </a:spcAft>
            </a:pPr>
            <a:r>
              <a:rPr b="1" sz="1000">
                <a:solidFill>
                  <a:srgbClr val="2563EB"/>
                </a:solidFill>
                <a:latin typeface="Segoe UI"/>
              </a:rPr>
              <a:t>• </a:t>
            </a:r>
            <a:r>
              <a:rPr b="1" sz="1000">
                <a:solidFill>
                  <a:srgbClr val="0F172A"/>
                </a:solidFill>
                <a:latin typeface="Segoe UI"/>
              </a:rPr>
              <a:t>Nama Lengkap: </a:t>
            </a:r>
            <a:r>
              <a:rPr sz="1000">
                <a:solidFill>
                  <a:srgbClr val="334155"/>
                </a:solidFill>
                <a:latin typeface="Segoe UI"/>
              </a:rPr>
              <a:t>Fahry Rizky Samsudin</a:t>
            </a:r>
          </a:p>
          <a:p>
            <a:pPr>
              <a:lnSpc>
                <a:spcPct val="115000"/>
              </a:lnSpc>
              <a:spcAft>
                <a:spcPts val="350"/>
              </a:spcAft>
            </a:pPr>
            <a:r>
              <a:rPr b="1" sz="1000">
                <a:solidFill>
                  <a:srgbClr val="2563EB"/>
                </a:solidFill>
                <a:latin typeface="Segoe UI"/>
              </a:rPr>
              <a:t>• </a:t>
            </a:r>
            <a:r>
              <a:rPr b="1" sz="1000">
                <a:solidFill>
                  <a:srgbClr val="0F172A"/>
                </a:solidFill>
                <a:latin typeface="Segoe UI"/>
              </a:rPr>
              <a:t>Nomor Induk (NIM): </a:t>
            </a:r>
            <a:r>
              <a:rPr sz="1000">
                <a:solidFill>
                  <a:srgbClr val="334155"/>
                </a:solidFill>
                <a:latin typeface="Segoe UI"/>
              </a:rPr>
              <a:t>1237030018</a:t>
            </a:r>
          </a:p>
          <a:p>
            <a:pPr>
              <a:lnSpc>
                <a:spcPct val="115000"/>
              </a:lnSpc>
              <a:spcAft>
                <a:spcPts val="350"/>
              </a:spcAft>
            </a:pPr>
            <a:r>
              <a:rPr b="1" sz="1000">
                <a:solidFill>
                  <a:srgbClr val="2563EB"/>
                </a:solidFill>
                <a:latin typeface="Segoe UI"/>
              </a:rPr>
              <a:t>• </a:t>
            </a:r>
            <a:r>
              <a:rPr b="1" sz="1000">
                <a:solidFill>
                  <a:srgbClr val="0F172A"/>
                </a:solidFill>
                <a:latin typeface="Segoe UI"/>
              </a:rPr>
              <a:t>Program Studi: </a:t>
            </a:r>
            <a:r>
              <a:rPr sz="1000">
                <a:solidFill>
                  <a:srgbClr val="334155"/>
                </a:solidFill>
                <a:latin typeface="Segoe UI"/>
              </a:rPr>
              <a:t>Fisika, Fakultas Sains dan Teknologi</a:t>
            </a:r>
          </a:p>
          <a:p>
            <a:pPr>
              <a:lnSpc>
                <a:spcPct val="115000"/>
              </a:lnSpc>
              <a:spcAft>
                <a:spcPts val="350"/>
              </a:spcAft>
            </a:pPr>
            <a:r>
              <a:rPr b="1" sz="1000">
                <a:solidFill>
                  <a:srgbClr val="2563EB"/>
                </a:solidFill>
                <a:latin typeface="Segoe UI"/>
              </a:rPr>
              <a:t>• </a:t>
            </a:r>
            <a:r>
              <a:rPr b="1" sz="1000">
                <a:solidFill>
                  <a:srgbClr val="0F172A"/>
                </a:solidFill>
                <a:latin typeface="Segoe UI"/>
              </a:rPr>
              <a:t>Institusi: </a:t>
            </a:r>
            <a:r>
              <a:rPr sz="1000">
                <a:solidFill>
                  <a:srgbClr val="334155"/>
                </a:solidFill>
                <a:latin typeface="Segoe UI"/>
              </a:rPr>
              <a:t>UIN Sunan Gunung Djati Bandung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749039"/>
            <a:ext cx="52120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3886200"/>
            <a:ext cx="4846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059669"/>
                </a:solidFill>
                <a:latin typeface="Segoe UI"/>
              </a:defRPr>
            </a:pPr>
            <a:r>
              <a:t>AKADEMIK &amp; INDUSTRI</a:t>
            </a:r>
          </a:p>
          <a:p>
            <a:pPr>
              <a:spcAft>
                <a:spcPts val="400"/>
              </a:spcAft>
              <a:defRPr sz="1150" b="1">
                <a:solidFill>
                  <a:srgbClr val="0F1E4A"/>
                </a:solidFill>
                <a:latin typeface="Segoe UI"/>
              </a:defRPr>
            </a:pPr>
            <a:r>
              <a:t>Dewan Pembimbing &amp; Mitra</a:t>
            </a:r>
          </a:p>
          <a:p>
            <a:pPr>
              <a:lnSpc>
                <a:spcPct val="115000"/>
              </a:lnSpc>
              <a:spcAft>
                <a:spcPts val="350"/>
              </a:spcAft>
            </a:pPr>
            <a:r>
              <a:rPr b="1" sz="1000">
                <a:solidFill>
                  <a:srgbClr val="2563EB"/>
                </a:solidFill>
                <a:latin typeface="Segoe UI"/>
              </a:rPr>
              <a:t>• </a:t>
            </a:r>
            <a:r>
              <a:rPr b="1" sz="1000">
                <a:solidFill>
                  <a:srgbClr val="0F172A"/>
                </a:solidFill>
                <a:latin typeface="Segoe UI"/>
              </a:rPr>
              <a:t>Pembimbing I: </a:t>
            </a:r>
            <a:r>
              <a:rPr sz="1000">
                <a:solidFill>
                  <a:srgbClr val="334155"/>
                </a:solidFill>
                <a:latin typeface="Segoe UI"/>
              </a:rPr>
              <a:t>Mada Sanjaya W.S., Ph.D.</a:t>
            </a:r>
          </a:p>
          <a:p>
            <a:pPr>
              <a:lnSpc>
                <a:spcPct val="115000"/>
              </a:lnSpc>
              <a:spcAft>
                <a:spcPts val="350"/>
              </a:spcAft>
            </a:pPr>
            <a:r>
              <a:rPr b="1" sz="1000">
                <a:solidFill>
                  <a:srgbClr val="2563EB"/>
                </a:solidFill>
                <a:latin typeface="Segoe UI"/>
              </a:rPr>
              <a:t>• </a:t>
            </a:r>
            <a:r>
              <a:rPr b="1" sz="1000">
                <a:solidFill>
                  <a:srgbClr val="0F172A"/>
                </a:solidFill>
                <a:latin typeface="Segoe UI"/>
              </a:rPr>
              <a:t>Pembimbing II: </a:t>
            </a:r>
            <a:r>
              <a:rPr sz="1000">
                <a:solidFill>
                  <a:srgbClr val="334155"/>
                </a:solidFill>
                <a:latin typeface="Segoe UI"/>
              </a:rPr>
              <a:t>Yudha Satya Perkasa, M.T.</a:t>
            </a:r>
          </a:p>
          <a:p>
            <a:pPr>
              <a:lnSpc>
                <a:spcPct val="115000"/>
              </a:lnSpc>
              <a:spcAft>
                <a:spcPts val="350"/>
              </a:spcAft>
            </a:pPr>
            <a:r>
              <a:rPr b="1" sz="1000">
                <a:solidFill>
                  <a:srgbClr val="2563EB"/>
                </a:solidFill>
                <a:latin typeface="Segoe UI"/>
              </a:rPr>
              <a:t>• </a:t>
            </a:r>
            <a:r>
              <a:rPr b="1" sz="1000">
                <a:solidFill>
                  <a:srgbClr val="0F172A"/>
                </a:solidFill>
                <a:latin typeface="Segoe UI"/>
              </a:rPr>
              <a:t>Mitra Penelitian: </a:t>
            </a:r>
            <a:r>
              <a:rPr sz="1000">
                <a:solidFill>
                  <a:srgbClr val="334155"/>
                </a:solidFill>
                <a:latin typeface="Segoe UI"/>
              </a:rPr>
              <a:t>Bolabot Techno Robotic Institute Bandung</a:t>
            </a:r>
          </a:p>
          <a:p>
            <a:pPr>
              <a:lnSpc>
                <a:spcPct val="115000"/>
              </a:lnSpc>
              <a:spcAft>
                <a:spcPts val="350"/>
              </a:spcAft>
            </a:pPr>
            <a:r>
              <a:rPr b="1" sz="1000">
                <a:solidFill>
                  <a:srgbClr val="2563EB"/>
                </a:solidFill>
                <a:latin typeface="Segoe UI"/>
              </a:rPr>
              <a:t>• </a:t>
            </a:r>
            <a:r>
              <a:rPr b="1" sz="1000">
                <a:solidFill>
                  <a:srgbClr val="0F172A"/>
                </a:solidFill>
                <a:latin typeface="Segoe UI"/>
              </a:rPr>
              <a:t>Tahun Akademik: </a:t>
            </a:r>
            <a:r>
              <a:rPr sz="1000">
                <a:solidFill>
                  <a:srgbClr val="334155"/>
                </a:solidFill>
                <a:latin typeface="Segoe UI"/>
              </a:rPr>
              <a:t>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6419088"/>
            <a:ext cx="1072865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464808"/>
            <a:ext cx="8961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Proposal Tugas Akhir Fisika UIN Sunan Gunung Djati Bandung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0" y="6464808"/>
            <a:ext cx="1584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1E3A8A"/>
                </a:solidFill>
                <a:latin typeface="Segoe UI"/>
              </a:defRPr>
            </a:pPr>
            <a:r>
              <a:t>1 / 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KEMITRAAN INDUSTRI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50" b="1">
                <a:solidFill>
                  <a:srgbClr val="0F1E4A"/>
                </a:solidFill>
                <a:latin typeface="Segoe UI"/>
              </a:defRPr>
            </a:pPr>
            <a:r>
              <a:t>Profil Mitra Riset: Bolabot Techno Robotic Institute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  <a:latin typeface="Segoe UI"/>
              </a:defRPr>
            </a:pPr>
            <a:r>
              <a:t>Pusat Riset dan Inovasi Robotika, Instrumentasi Medis, dan AI Terapan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0020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2563EB"/>
                </a:solidFill>
                <a:latin typeface="Segoe UI"/>
              </a:defRPr>
            </a:pPr>
            <a:r>
              <a:t>ENTITAS MITRA RISET</a:t>
            </a:r>
          </a:p>
          <a:p>
            <a:pPr>
              <a:spcAft>
                <a:spcPts val="400"/>
              </a:spcAft>
              <a:defRPr sz="1150" b="1">
                <a:solidFill>
                  <a:srgbClr val="0F1E4A"/>
                </a:solidFill>
                <a:latin typeface="Segoe UI"/>
              </a:defRPr>
            </a:pPr>
            <a:r>
              <a:t>Identitas &amp; Legalitas Industri</a:t>
            </a:r>
          </a:p>
          <a:p>
            <a:pPr>
              <a:lnSpc>
                <a:spcPct val="115000"/>
              </a:lnSpc>
              <a:spcAft>
                <a:spcPts val="350"/>
              </a:spcAft>
            </a:pPr>
            <a:r>
              <a:rPr b="1" sz="1050">
                <a:solidFill>
                  <a:srgbClr val="2563EB"/>
                </a:solidFill>
                <a:latin typeface="Segoe UI"/>
              </a:rPr>
              <a:t>• </a:t>
            </a:r>
            <a:r>
              <a:rPr b="1" sz="1050">
                <a:solidFill>
                  <a:srgbClr val="0F172A"/>
                </a:solidFill>
                <a:latin typeface="Segoe UI"/>
              </a:rPr>
              <a:t>Nama Entitas: </a:t>
            </a:r>
            <a:r>
              <a:rPr sz="1050">
                <a:solidFill>
                  <a:srgbClr val="334155"/>
                </a:solidFill>
                <a:latin typeface="Segoe UI"/>
              </a:rPr>
              <a:t>Bolabot Techno Robotic Institute</a:t>
            </a:r>
          </a:p>
          <a:p>
            <a:pPr>
              <a:lnSpc>
                <a:spcPct val="115000"/>
              </a:lnSpc>
              <a:spcAft>
                <a:spcPts val="350"/>
              </a:spcAft>
            </a:pPr>
            <a:r>
              <a:rPr b="1" sz="1050">
                <a:solidFill>
                  <a:srgbClr val="2563EB"/>
                </a:solidFill>
                <a:latin typeface="Segoe UI"/>
              </a:rPr>
              <a:t>• </a:t>
            </a:r>
            <a:r>
              <a:rPr b="1" sz="1050">
                <a:solidFill>
                  <a:srgbClr val="0F172A"/>
                </a:solidFill>
                <a:latin typeface="Segoe UI"/>
              </a:rPr>
              <a:t>Pendiri &amp; Direktur: </a:t>
            </a:r>
            <a:r>
              <a:rPr sz="1050">
                <a:solidFill>
                  <a:srgbClr val="334155"/>
                </a:solidFill>
                <a:latin typeface="Segoe UI"/>
              </a:rPr>
              <a:t>Mada Sanjaya W.S., Ph.D. (Berdiri sejak 2010)</a:t>
            </a:r>
          </a:p>
          <a:p>
            <a:pPr>
              <a:lnSpc>
                <a:spcPct val="115000"/>
              </a:lnSpc>
              <a:spcAft>
                <a:spcPts val="350"/>
              </a:spcAft>
            </a:pPr>
            <a:r>
              <a:rPr b="1" sz="1050">
                <a:solidFill>
                  <a:srgbClr val="2563EB"/>
                </a:solidFill>
                <a:latin typeface="Segoe UI"/>
              </a:rPr>
              <a:t>• </a:t>
            </a:r>
            <a:r>
              <a:rPr b="1" sz="1050">
                <a:solidFill>
                  <a:srgbClr val="0F172A"/>
                </a:solidFill>
                <a:latin typeface="Segoe UI"/>
              </a:rPr>
              <a:t>Lokasi Fasilitas: </a:t>
            </a:r>
            <a:r>
              <a:rPr sz="1050">
                <a:solidFill>
                  <a:srgbClr val="334155"/>
                </a:solidFill>
                <a:latin typeface="Segoe UI"/>
              </a:rPr>
              <a:t>Jl. Sauyunan VI No. 10 Blok F6, Bandung, Jawa Barat</a:t>
            </a:r>
          </a:p>
          <a:p>
            <a:pPr>
              <a:lnSpc>
                <a:spcPct val="115000"/>
              </a:lnSpc>
              <a:spcAft>
                <a:spcPts val="350"/>
              </a:spcAft>
            </a:pPr>
            <a:r>
              <a:rPr b="1" sz="1050">
                <a:solidFill>
                  <a:srgbClr val="2563EB"/>
                </a:solidFill>
                <a:latin typeface="Segoe UI"/>
              </a:rPr>
              <a:t>• </a:t>
            </a:r>
            <a:r>
              <a:rPr b="1" sz="1050">
                <a:solidFill>
                  <a:srgbClr val="0F172A"/>
                </a:solidFill>
                <a:latin typeface="Segoe UI"/>
              </a:rPr>
              <a:t>Fasilitas Lab: </a:t>
            </a:r>
            <a:r>
              <a:rPr sz="1050">
                <a:solidFill>
                  <a:srgbClr val="334155"/>
                </a:solidFill>
                <a:latin typeface="Segoe UI"/>
              </a:rPr>
              <a:t>Lab Fabrikasi 3D, Lab Sintesis Kimia, Lab Kalibrasi Medan Magnet Helmholtz, Stasiun Komputasi AI</a:t>
            </a:r>
          </a:p>
          <a:p>
            <a:pPr>
              <a:lnSpc>
                <a:spcPct val="115000"/>
              </a:lnSpc>
              <a:spcAft>
                <a:spcPts val="350"/>
              </a:spcAft>
            </a:pPr>
            <a:r>
              <a:rPr b="1" sz="1050">
                <a:solidFill>
                  <a:srgbClr val="2563EB"/>
                </a:solidFill>
                <a:latin typeface="Segoe UI"/>
              </a:rPr>
              <a:t>• </a:t>
            </a:r>
            <a:r>
              <a:rPr b="1" sz="1050">
                <a:solidFill>
                  <a:srgbClr val="0F172A"/>
                </a:solidFill>
                <a:latin typeface="Segoe UI"/>
              </a:rPr>
              <a:t>Periode Riset: </a:t>
            </a:r>
            <a:r>
              <a:rPr sz="1050">
                <a:solidFill>
                  <a:srgbClr val="334155"/>
                </a:solidFill>
                <a:latin typeface="Segoe UI"/>
              </a:rPr>
              <a:t>September - Desember 2026 (Durasi 4 Bulan Efektif)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0020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059669"/>
                </a:solidFill>
                <a:latin typeface="Segoe UI"/>
              </a:defRPr>
            </a:pPr>
            <a:r>
              <a:t>FOKUS INOVASI TERAPAN</a:t>
            </a:r>
          </a:p>
          <a:p>
            <a:pPr>
              <a:spcAft>
                <a:spcPts val="400"/>
              </a:spcAft>
              <a:defRPr sz="1150" b="1">
                <a:solidFill>
                  <a:srgbClr val="0F1E4A"/>
                </a:solidFill>
                <a:latin typeface="Segoe UI"/>
              </a:defRPr>
            </a:pPr>
            <a:r>
              <a:t>Roadmap Riset Bolabot (4 Pilar Utama)</a:t>
            </a:r>
          </a:p>
          <a:p>
            <a:pPr>
              <a:lnSpc>
                <a:spcPct val="115000"/>
              </a:lnSpc>
              <a:spcAft>
                <a:spcPts val="350"/>
              </a:spcAft>
            </a:pPr>
            <a:r>
              <a:rPr b="1" sz="1000">
                <a:solidFill>
                  <a:srgbClr val="2563EB"/>
                </a:solidFill>
                <a:latin typeface="Segoe UI"/>
              </a:rPr>
              <a:t>• </a:t>
            </a:r>
            <a:r>
              <a:rPr b="1" sz="1000">
                <a:solidFill>
                  <a:srgbClr val="0F172A"/>
                </a:solidFill>
                <a:latin typeface="Segoe UI"/>
              </a:rPr>
              <a:t>Pilar 1: Robotika Edukasi &amp; Otomasi </a:t>
            </a:r>
            <a:r>
              <a:rPr sz="1000">
                <a:solidFill>
                  <a:srgbClr val="334155"/>
                </a:solidFill>
                <a:latin typeface="Segoe UI"/>
              </a:rPr>
              <a:t>Platform edukasi mekatronika dan mikrokontroler nasional.</a:t>
            </a:r>
          </a:p>
          <a:p>
            <a:pPr>
              <a:lnSpc>
                <a:spcPct val="115000"/>
              </a:lnSpc>
              <a:spcAft>
                <a:spcPts val="350"/>
              </a:spcAft>
            </a:pPr>
            <a:r>
              <a:rPr b="1" sz="1000">
                <a:solidFill>
                  <a:srgbClr val="2563EB"/>
                </a:solidFill>
                <a:latin typeface="Segoe UI"/>
              </a:rPr>
              <a:t>• </a:t>
            </a:r>
            <a:r>
              <a:rPr b="1" sz="1000">
                <a:solidFill>
                  <a:srgbClr val="0F172A"/>
                </a:solidFill>
                <a:latin typeface="Segoe UI"/>
              </a:rPr>
              <a:t>Pilar 2: Robotika Medis &amp; Rehabilitasi </a:t>
            </a:r>
            <a:r>
              <a:rPr sz="1000">
                <a:solidFill>
                  <a:srgbClr val="334155"/>
                </a:solidFill>
                <a:latin typeface="Segoe UI"/>
              </a:rPr>
              <a:t>Pengembangan eksoskeleton dan perangkat bantu terapi medis.</a:t>
            </a:r>
          </a:p>
          <a:p>
            <a:pPr>
              <a:lnSpc>
                <a:spcPct val="115000"/>
              </a:lnSpc>
              <a:spcAft>
                <a:spcPts val="350"/>
              </a:spcAft>
            </a:pPr>
            <a:r>
              <a:rPr b="1" sz="1000">
                <a:solidFill>
                  <a:srgbClr val="2563EB"/>
                </a:solidFill>
                <a:latin typeface="Segoe UI"/>
              </a:rPr>
              <a:t>• </a:t>
            </a:r>
            <a:r>
              <a:rPr b="1" sz="1000">
                <a:solidFill>
                  <a:srgbClr val="0F172A"/>
                </a:solidFill>
                <a:latin typeface="Segoe UI"/>
              </a:rPr>
              <a:t>Pilar 3: Sensor Biomedis Cerdas </a:t>
            </a:r>
            <a:r>
              <a:rPr sz="1000">
                <a:solidFill>
                  <a:srgbClr val="334155"/>
                </a:solidFill>
                <a:latin typeface="Segoe UI"/>
              </a:rPr>
              <a:t>Rancang bangun instrumen biosensor berbasis nanokomposit magnetik (GMR &amp; TMR) untuk keamanan pangan dan deteksi klinis.</a:t>
            </a:r>
          </a:p>
          <a:p>
            <a:pPr>
              <a:lnSpc>
                <a:spcPct val="115000"/>
              </a:lnSpc>
              <a:spcAft>
                <a:spcPts val="350"/>
              </a:spcAft>
            </a:pPr>
            <a:r>
              <a:rPr b="1" sz="1000">
                <a:solidFill>
                  <a:srgbClr val="2563EB"/>
                </a:solidFill>
                <a:latin typeface="Segoe UI"/>
              </a:rPr>
              <a:t>• </a:t>
            </a:r>
            <a:r>
              <a:rPr b="1" sz="1000">
                <a:solidFill>
                  <a:srgbClr val="0F172A"/>
                </a:solidFill>
                <a:latin typeface="Segoe UI"/>
              </a:rPr>
              <a:t>Pilar 4: Komputasi AI &amp; Quantum ML </a:t>
            </a:r>
            <a:r>
              <a:rPr sz="1000">
                <a:solidFill>
                  <a:srgbClr val="334155"/>
                </a:solidFill>
                <a:latin typeface="Segoe UI"/>
              </a:rPr>
              <a:t>Integrasi model machine learning klasik dan algoritma kuantum (QSVC) pada sistem tertanam (edge devices).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6419088"/>
            <a:ext cx="1072865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464808"/>
            <a:ext cx="8961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Fahry Rizky Samsudin (1237030018) | Proposal Tugas Akhir Fisika UIN SGD Bandung &amp; Bolabot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0" y="6464808"/>
            <a:ext cx="1584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1E3A8A"/>
                </a:solidFill>
                <a:latin typeface="Segoe UI"/>
              </a:defRPr>
            </a:pPr>
            <a:r>
              <a:t>2 / 30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STRUKTUR PRESENTASI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50" b="1">
                <a:solidFill>
                  <a:srgbClr val="0F1E4A"/>
                </a:solidFill>
                <a:latin typeface="Segoe UI"/>
              </a:defRPr>
            </a:pPr>
            <a:r>
              <a:t>Sistematika Paparan Sidang Proposal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  <a:latin typeface="Segoe UI"/>
              </a:defRPr>
            </a:pPr>
            <a:r>
              <a:t>Rangkuman 5 Agenda Pokok Pembahasan Proposal Tugas Akhir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10728655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563624"/>
            <a:ext cx="685800" cy="548640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2563EB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527048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100">
                <a:solidFill>
                  <a:srgbClr val="0F1E4A"/>
                </a:solidFill>
                <a:latin typeface="Segoe UI"/>
              </a:defRPr>
            </a:pPr>
            <a:r>
              <a:t>BAB I: PENDAHULUAN</a:t>
            </a:r>
          </a:p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Latar Belakang, 5 Rumusan Masalah, 6 Batasan, 5 Tujuan, Manfaat Riset, dan 4 Metode Pengumpulan Data.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377440"/>
            <a:ext cx="10728655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2523744"/>
            <a:ext cx="685800" cy="548640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2563EB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2487168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100">
                <a:solidFill>
                  <a:srgbClr val="0F1E4A"/>
                </a:solidFill>
                <a:latin typeface="Segoe UI"/>
              </a:defRPr>
            </a:pPr>
            <a:r>
              <a:t>BAB II: TINJAUAN PUSTAKA</a:t>
            </a:r>
          </a:p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Fisika TMR Julliere, Reaksi Hidrazon ADH, Kumparan Helmholtz, AD623, ADS1115, Nanofiber Sitrat, SVM &amp; QSVC.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337560"/>
            <a:ext cx="10728655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4400" y="3483864"/>
            <a:ext cx="685800" cy="548640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2563EB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3447288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100">
                <a:solidFill>
                  <a:srgbClr val="0F1E4A"/>
                </a:solidFill>
                <a:latin typeface="Segoe UI"/>
              </a:defRPr>
            </a:pPr>
            <a:r>
              <a:t>BAB III: METODE PENELITIAN</a:t>
            </a:r>
          </a:p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Spesifikasi Alat Bahan, Diagram Alir, Rangkaian Skematik, Casing 3D, Sintesis Nanofiber, Kalibrasi, &amp; Pipeline ML.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297680"/>
            <a:ext cx="10728655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14400" y="4443984"/>
            <a:ext cx="685800" cy="548640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2563EB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4407408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100">
                <a:solidFill>
                  <a:srgbClr val="0F1E4A"/>
                </a:solidFill>
                <a:latin typeface="Segoe UI"/>
              </a:defRPr>
            </a:pPr>
            <a:r>
              <a:t>RENCANA KERJA 4 BULAN</a:t>
            </a:r>
          </a:p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Timeline Gantt Chart pelaksanaan riset di Bolabot (September - Desember 2026) dan alokasi sumber daya.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257800"/>
            <a:ext cx="10728655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4400" y="5404104"/>
            <a:ext cx="685800" cy="548640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2563EB"/>
                </a:solidFill>
                <a:latin typeface="Segoe UI"/>
              </a:defRPr>
            </a:pPr>
            <a: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5367528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100">
                <a:solidFill>
                  <a:srgbClr val="0F1E4A"/>
                </a:solidFill>
                <a:latin typeface="Segoe UI"/>
              </a:defRPr>
            </a:pPr>
            <a:r>
              <a:t>TARGET LUARAN &amp; PENUTUP</a:t>
            </a:r>
          </a:p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Target publikasi prosiding internasional bereputasi / jurnal SINTA 2, prototipe instrumen, dan sesi diskusi.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6419088"/>
            <a:ext cx="1072865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6464808"/>
            <a:ext cx="8961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Fahry Rizky Samsudin (1237030018) | Proposal Tugas Akhir Fisika UIN SGD Bandung &amp; Bolabot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0" y="6464808"/>
            <a:ext cx="1584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1E3A8A"/>
                </a:solidFill>
                <a:latin typeface="Segoe UI"/>
              </a:defRPr>
            </a:pPr>
            <a:r>
              <a:t>3 / 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BAB I: PENDAHULUAN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50" b="1">
                <a:solidFill>
                  <a:srgbClr val="0F1E4A"/>
                </a:solidFill>
                <a:latin typeface="Segoe UI"/>
              </a:defRPr>
            </a:pPr>
            <a:r>
              <a:t>Latar Belakang I: Urgensi Deteksi Formalin pada Pangan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  <a:latin typeface="Segoe UI"/>
              </a:defRPr>
            </a:pPr>
            <a:r>
              <a:t>Penyalahgunaan Pengawet Berbahaya dan Limitasi Metode Analisis Saat Ini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12064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00200"/>
            <a:ext cx="4663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E11D48"/>
                </a:solidFill>
                <a:latin typeface="Segoe UI"/>
              </a:defRPr>
            </a:pPr>
            <a:r>
              <a:t>URGENSI KESEHATAN PANGAN</a:t>
            </a:r>
          </a:p>
          <a:p>
            <a:pPr>
              <a:spcAft>
                <a:spcPts val="400"/>
              </a:spcAft>
              <a:defRPr sz="1150" b="1">
                <a:solidFill>
                  <a:srgbClr val="0F1E4A"/>
                </a:solidFill>
                <a:latin typeface="Segoe UI"/>
              </a:defRPr>
            </a:pPr>
            <a:r>
              <a:t>Bahaya Formalin pada Produk Bakso</a:t>
            </a:r>
          </a:p>
          <a:p>
            <a:pPr>
              <a:lnSpc>
                <a:spcPct val="115000"/>
              </a:lnSpc>
              <a:spcAft>
                <a:spcPts val="350"/>
              </a:spcAft>
            </a:pPr>
            <a:r>
              <a:rPr b="1" sz="1000">
                <a:solidFill>
                  <a:srgbClr val="2563EB"/>
                </a:solidFill>
                <a:latin typeface="Segoe UI"/>
              </a:rPr>
              <a:t>• </a:t>
            </a:r>
            <a:r>
              <a:rPr b="1" sz="1000">
                <a:solidFill>
                  <a:srgbClr val="0F172A"/>
                </a:solidFill>
                <a:latin typeface="Segoe UI"/>
              </a:rPr>
              <a:t>Status Regulasi: </a:t>
            </a:r>
            <a:r>
              <a:rPr sz="1000">
                <a:solidFill>
                  <a:srgbClr val="334155"/>
                </a:solidFill>
                <a:latin typeface="Segoe UI"/>
              </a:rPr>
              <a:t>Formalin (formaldehida terlarut) dilarang keras sebagai bahan tambahan pangan (Permenkes RI).</a:t>
            </a:r>
          </a:p>
          <a:p>
            <a:pPr>
              <a:lnSpc>
                <a:spcPct val="115000"/>
              </a:lnSpc>
              <a:spcAft>
                <a:spcPts val="350"/>
              </a:spcAft>
            </a:pPr>
            <a:r>
              <a:rPr b="1" sz="1000">
                <a:solidFill>
                  <a:srgbClr val="2563EB"/>
                </a:solidFill>
                <a:latin typeface="Segoe UI"/>
              </a:rPr>
              <a:t>• </a:t>
            </a:r>
            <a:r>
              <a:rPr b="1" sz="1000">
                <a:solidFill>
                  <a:srgbClr val="0F172A"/>
                </a:solidFill>
                <a:latin typeface="Segoe UI"/>
              </a:rPr>
              <a:t>Toksisitas Kronis: </a:t>
            </a:r>
            <a:r>
              <a:rPr sz="1000">
                <a:solidFill>
                  <a:srgbClr val="334155"/>
                </a:solidFill>
                <a:latin typeface="Segoe UI"/>
              </a:rPr>
              <a:t>Karsinogenik Golongan 1 (IARC), pemicu iritasi saluran cerna, gagal ginjal, dan kanker nasofaring.</a:t>
            </a:r>
          </a:p>
          <a:p>
            <a:pPr>
              <a:lnSpc>
                <a:spcPct val="115000"/>
              </a:lnSpc>
              <a:spcAft>
                <a:spcPts val="350"/>
              </a:spcAft>
            </a:pPr>
            <a:r>
              <a:rPr b="1" sz="1000">
                <a:solidFill>
                  <a:srgbClr val="2563EB"/>
                </a:solidFill>
                <a:latin typeface="Segoe UI"/>
              </a:rPr>
              <a:t>• </a:t>
            </a:r>
            <a:r>
              <a:rPr b="1" sz="1000">
                <a:solidFill>
                  <a:srgbClr val="0F172A"/>
                </a:solidFill>
                <a:latin typeface="Segoe UI"/>
              </a:rPr>
              <a:t>Temuan Lapangan: </a:t>
            </a:r>
            <a:r>
              <a:rPr sz="1000">
                <a:solidFill>
                  <a:srgbClr val="334155"/>
                </a:solidFill>
                <a:latin typeface="Segoe UI"/>
              </a:rPr>
              <a:t>Studi di Pekanbaru menemukan formalin hingga 4.506 ppm pada bakso jalanan; temuan serupa di Padang dan Yogyakarta.</a:t>
            </a:r>
          </a:p>
          <a:p>
            <a:pPr>
              <a:lnSpc>
                <a:spcPct val="115000"/>
              </a:lnSpc>
              <a:spcAft>
                <a:spcPts val="350"/>
              </a:spcAft>
            </a:pPr>
            <a:r>
              <a:rPr b="1" sz="1000">
                <a:solidFill>
                  <a:srgbClr val="2563EB"/>
                </a:solidFill>
                <a:latin typeface="Segoe UI"/>
              </a:rPr>
              <a:t>• </a:t>
            </a:r>
            <a:r>
              <a:rPr b="1" sz="1000">
                <a:solidFill>
                  <a:srgbClr val="0F172A"/>
                </a:solidFill>
                <a:latin typeface="Segoe UI"/>
              </a:rPr>
              <a:t>Ambang Toleransi: </a:t>
            </a:r>
            <a:r>
              <a:rPr sz="1000">
                <a:solidFill>
                  <a:srgbClr val="334155"/>
                </a:solidFill>
                <a:latin typeface="Segoe UI"/>
              </a:rPr>
              <a:t>Ambang batas asupan harian maksimum EFSA hanya 100 ppm, paparan kumulatif sangat fatal.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21208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00200"/>
            <a:ext cx="4754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D97706"/>
                </a:solidFill>
                <a:latin typeface="Segoe UI"/>
              </a:defRPr>
            </a:pPr>
            <a:r>
              <a:t>GAP ANALISIS LABORATORIUM</a:t>
            </a:r>
          </a:p>
          <a:p>
            <a:pPr>
              <a:spcAft>
                <a:spcPts val="400"/>
              </a:spcAft>
              <a:defRPr sz="1150" b="1">
                <a:solidFill>
                  <a:srgbClr val="0F1E4A"/>
                </a:solidFill>
                <a:latin typeface="Segoe UI"/>
              </a:defRPr>
            </a:pPr>
            <a:r>
              <a:t>Keterbatasan Metode Deteksi Saat Ini</a:t>
            </a:r>
          </a:p>
          <a:p>
            <a:pPr>
              <a:lnSpc>
                <a:spcPct val="115000"/>
              </a:lnSpc>
              <a:spcAft>
                <a:spcPts val="350"/>
              </a:spcAft>
            </a:pPr>
            <a:r>
              <a:rPr b="1" sz="1000">
                <a:solidFill>
                  <a:srgbClr val="2563EB"/>
                </a:solidFill>
                <a:latin typeface="Segoe UI"/>
              </a:rPr>
              <a:t>• </a:t>
            </a:r>
            <a:r>
              <a:rPr b="1" sz="1000">
                <a:solidFill>
                  <a:srgbClr val="0F172A"/>
                </a:solidFill>
                <a:latin typeface="Segoe UI"/>
              </a:rPr>
              <a:t>Uji Kimia Kolorimetri (KMnO4): </a:t>
            </a:r>
            <a:r>
              <a:rPr sz="1000">
                <a:solidFill>
                  <a:srgbClr val="334155"/>
                </a:solidFill>
                <a:latin typeface="Segoe UI"/>
              </a:rPr>
              <a:t>Hanya kualitatif, rentan positif palsu oleh senyawa pereduksi alami, destruktif terhadap sampel.</a:t>
            </a:r>
          </a:p>
          <a:p>
            <a:pPr>
              <a:lnSpc>
                <a:spcPct val="115000"/>
              </a:lnSpc>
              <a:spcAft>
                <a:spcPts val="350"/>
              </a:spcAft>
            </a:pPr>
            <a:r>
              <a:rPr b="1" sz="1000">
                <a:solidFill>
                  <a:srgbClr val="2563EB"/>
                </a:solidFill>
                <a:latin typeface="Segoe UI"/>
              </a:rPr>
              <a:t>• </a:t>
            </a:r>
            <a:r>
              <a:rPr b="1" sz="1000">
                <a:solidFill>
                  <a:srgbClr val="0F172A"/>
                </a:solidFill>
                <a:latin typeface="Segoe UI"/>
              </a:rPr>
              <a:t>Kromatografi (HPLC / GC-MS): </a:t>
            </a:r>
            <a:r>
              <a:rPr sz="1000">
                <a:solidFill>
                  <a:srgbClr val="334155"/>
                </a:solidFill>
                <a:latin typeface="Segoe UI"/>
              </a:rPr>
              <a:t>Sangat akurat namun biaya tinggi, preparasi rumit berjam-jam, membutuhkan teknisi ahli, tidak portabel.</a:t>
            </a:r>
          </a:p>
          <a:p>
            <a:pPr>
              <a:lnSpc>
                <a:spcPct val="115000"/>
              </a:lnSpc>
              <a:spcAft>
                <a:spcPts val="350"/>
              </a:spcAft>
            </a:pPr>
            <a:r>
              <a:rPr b="1" sz="1000">
                <a:solidFill>
                  <a:srgbClr val="2563EB"/>
                </a:solidFill>
                <a:latin typeface="Segoe UI"/>
              </a:rPr>
              <a:t>• </a:t>
            </a:r>
            <a:r>
              <a:rPr b="1" sz="1000">
                <a:solidFill>
                  <a:srgbClr val="0F172A"/>
                </a:solidFill>
                <a:latin typeface="Segoe UI"/>
              </a:rPr>
              <a:t>Spektrofotometri UV-Vis: </a:t>
            </a:r>
            <a:r>
              <a:rPr sz="1000">
                <a:solidFill>
                  <a:srgbClr val="334155"/>
                </a:solidFill>
                <a:latin typeface="Segoe UI"/>
              </a:rPr>
              <a:t>Memerlukan reagen toksik (asam kromotropat), tidak fleksibel untuk inspeksi cepat di pasar tradisional.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892040"/>
            <a:ext cx="10728655" cy="12801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983480"/>
            <a:ext cx="10241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2563EB"/>
                </a:solidFill>
                <a:latin typeface="Segoe UI"/>
              </a:defRPr>
            </a:pPr>
            <a:r>
              <a:t>ARAH INOVASI INSTRUMENTASI</a:t>
            </a:r>
          </a:p>
          <a:p>
            <a:pPr>
              <a:spcAft>
                <a:spcPts val="400"/>
              </a:spcAft>
              <a:defRPr sz="1150" b="1">
                <a:solidFill>
                  <a:srgbClr val="0F1E4A"/>
                </a:solidFill>
                <a:latin typeface="Segoe UI"/>
              </a:defRPr>
            </a:pPr>
            <a:r>
              <a:t>Solusi yang Diusulkan pada Penelitian Ini</a:t>
            </a:r>
          </a:p>
          <a:p>
            <a:pPr>
              <a:defRPr sz="950">
                <a:solidFill>
                  <a:srgbClr val="0F172A"/>
                </a:solidFill>
                <a:latin typeface="Segoe UI"/>
              </a:defRPr>
            </a:pPr>
            <a:r>
              <a:t>Pengembangan instrumen biosensor terintegrasi: memanfaatkan efek Tunneling Magnetoresistance (TMR) berbiaya rendah, fungsionalisasi nanofiber selektif ADH, dan kecerdasan komputasi Quantum Machine Learning untuk deteksi cepat, kuantitatif, portabel, dan non-destruktif.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419088"/>
            <a:ext cx="1072865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464808"/>
            <a:ext cx="8961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Fahry Rizky Samsudin (1237030018) | Proposal Tugas Akhir Fisika UIN SGD Bandung &amp; Bolabot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0" y="6464808"/>
            <a:ext cx="1584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1E3A8A"/>
                </a:solidFill>
                <a:latin typeface="Segoe UI"/>
              </a:defRPr>
            </a:pPr>
            <a:r>
              <a:t>4 / 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BAB I: PENDAHULUAN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50" b="1">
                <a:solidFill>
                  <a:srgbClr val="0F1E4A"/>
                </a:solidFill>
                <a:latin typeface="Segoe UI"/>
              </a:defRPr>
            </a:pPr>
            <a:r>
              <a:t>Latar Belakang II: Keunggulan Sensor Tunneling Magnetoresistance (TMR)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  <a:latin typeface="Segoe UI"/>
              </a:defRPr>
            </a:pPr>
            <a:r>
              <a:t>Komparasi Fenomena Spintronika terhadap Sensor GMR dan Hall Effect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17320"/>
          <a:ext cx="10728655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2834640"/>
                <a:gridCol w="2864815"/>
              </a:tblGrid>
              <a:tr h="444137"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Parameter Evaluasi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Efek Hall Konvensional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Giant Magnetoresistance (GMR)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Tunneling Magnetoresistance (TMR)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Prinsip Fisika Dasar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Gaya Lorentz defleksi muatan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Spin-dependent scattering (logam)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Spin-dependent quantum tunneling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Struktur Lapisan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Semikonduktor silikon/GaAs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Ferromagnet / Logam Non-magnetik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Ferromagnet / Insulator Tipis (MgO)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Rasio Magnetoresistansi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&lt; 1% (Sangat Kecil)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10% - 20% pada suhu ruang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&gt; 100% - 200% pada suhu ruang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Sensitivitas Medan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Rendah (0.1 - 10 V/T)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Menengah (10 - 50 V/T)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Sangat Tinggi (hingga 6x lipat GMR)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Konsumsi Daya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Menengah (milliwatt)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Rendah (milliwatt)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Ultra-rendah (mikrowatt)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413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Platform Terpilih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AA005-02 (Riset Terdahulu)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ALT023-10E NVE (Penelitian Ini)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4709160"/>
            <a:ext cx="10728655" cy="1463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4800600"/>
            <a:ext cx="10241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1E3A8A"/>
                </a:solidFill>
                <a:latin typeface="Segoe UI"/>
              </a:defRPr>
            </a:pPr>
            <a:r>
              <a:t>KEUNGGULAN SPINTRONIKA</a:t>
            </a:r>
          </a:p>
          <a:p>
            <a:pPr>
              <a:spcAft>
                <a:spcPts val="400"/>
              </a:spcAft>
              <a:defRPr sz="1150" b="1">
                <a:solidFill>
                  <a:srgbClr val="0F1E4A"/>
                </a:solidFill>
                <a:latin typeface="Segoe UI"/>
              </a:defRPr>
            </a:pPr>
            <a:r>
              <a:t>Landasan Ilmiah Pemilihan Sensor TMR ALT023-10E</a:t>
            </a:r>
          </a:p>
          <a:p>
            <a:pPr>
              <a:lnSpc>
                <a:spcPct val="115000"/>
              </a:lnSpc>
              <a:spcAft>
                <a:spcPts val="350"/>
              </a:spcAft>
            </a:pPr>
            <a:r>
              <a:rPr b="1" sz="950">
                <a:solidFill>
                  <a:srgbClr val="2563EB"/>
                </a:solidFill>
                <a:latin typeface="Segoe UI"/>
              </a:rPr>
              <a:t>• </a:t>
            </a:r>
            <a:r>
              <a:rPr b="1" sz="950">
                <a:solidFill>
                  <a:srgbClr val="0F172A"/>
                </a:solidFill>
                <a:latin typeface="Segoe UI"/>
              </a:rPr>
              <a:t>Amplitudo Sinyal Lebih Besar: </a:t>
            </a:r>
            <a:r>
              <a:rPr sz="950">
                <a:solidFill>
                  <a:srgbClr val="334155"/>
                </a:solidFill>
                <a:latin typeface="Segoe UI"/>
              </a:rPr>
              <a:t>Output tegangan TMR mencapai 6x lipat lebih tinggi dari GMR, mengurangi kebutuhan penguatan bertingkat ekstrim yang rawan derau.</a:t>
            </a:r>
          </a:p>
          <a:p>
            <a:pPr>
              <a:lnSpc>
                <a:spcPct val="115000"/>
              </a:lnSpc>
              <a:spcAft>
                <a:spcPts val="350"/>
              </a:spcAft>
            </a:pPr>
            <a:r>
              <a:rPr b="1" sz="950">
                <a:solidFill>
                  <a:srgbClr val="2563EB"/>
                </a:solidFill>
                <a:latin typeface="Segoe UI"/>
              </a:rPr>
              <a:t>• </a:t>
            </a:r>
            <a:r>
              <a:rPr b="1" sz="950">
                <a:solidFill>
                  <a:srgbClr val="0F172A"/>
                </a:solidFill>
                <a:latin typeface="Segoe UI"/>
              </a:rPr>
              <a:t>Deteksi Medan Mikro: </a:t>
            </a:r>
            <a:r>
              <a:rPr sz="950">
                <a:solidFill>
                  <a:srgbClr val="334155"/>
                </a:solidFill>
                <a:latin typeface="Segoe UI"/>
              </a:rPr>
              <a:t>Mampu merespons distorsi fluks magnetik skala nano-Tesla hingga milli-Tesla saat molekul formalin terikat pada permukaan reseptor nanofiber.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419088"/>
            <a:ext cx="1072865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464808"/>
            <a:ext cx="8961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Fahry Rizky Samsudin (1237030018) | Proposal Tugas Akhir Fisika UIN SGD Bandung &amp; Bolabot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0" y="6464808"/>
            <a:ext cx="1584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1E3A8A"/>
                </a:solidFill>
                <a:latin typeface="Segoe UI"/>
              </a:defRPr>
            </a:pPr>
            <a:r>
              <a:t>5 / 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BAB I: PENDAHULUAN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50" b="1">
                <a:solidFill>
                  <a:srgbClr val="0F1E4A"/>
                </a:solidFill>
                <a:latin typeface="Segoe UI"/>
              </a:defRPr>
            </a:pPr>
            <a:r>
              <a:t>Latar Belakang III: Fungsionalisasi Nanofiber Fe3O4/PVA-Sitrat-ADH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  <a:latin typeface="Segoe UI"/>
              </a:defRPr>
            </a:pPr>
            <a:r>
              <a:t>Agen Taut-Silang Non-Toksik dan Gugus Pengenal Formaldehida Selektif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17320"/>
          <a:ext cx="64008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194560"/>
                <a:gridCol w="2194560"/>
              </a:tblGrid>
              <a:tr h="487680"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Parameter Komparasi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Glutaraldehida (GA) [Riset Umum]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Adipic Acid Dihydrazide (ADH) [Penelitian Ini]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Sifat Toksisitas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Toksik, uap iritatif kuat, karsinogenik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Ramah lingkungan, biokompatibel, aman laboratorium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Identitas Gugus Fungsi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Dialdehida (-CHO dan -CHO)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Dihidrazida (-NH-NH2 dan -NH-NH2)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Interaksi dengan Formalin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Ambiguitas pengenalan (sama-sama aldehida)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Reaksi spesifik membentuk ikatan hidrazon kovalen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Fungsi Kimiawi Utama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Crosslinker umum non-spesifik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Formaldehyde scavenger berdaya tangkap tinggi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Crosslinker Pendukung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Tidak ada (mandiri)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Asam Sitrat Termal 130 C (esterifikasi tahan air)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0" y="1417320"/>
            <a:ext cx="414497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79" y="1600200"/>
            <a:ext cx="374903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059669"/>
                </a:solidFill>
                <a:latin typeface="Segoe UI"/>
              </a:defRPr>
            </a:pPr>
            <a:r>
              <a:t>KEUNGGULAN GREEN NANOMATERIAL</a:t>
            </a:r>
          </a:p>
          <a:p>
            <a:pPr>
              <a:spcAft>
                <a:spcPts val="400"/>
              </a:spcAft>
              <a:defRPr sz="1150" b="1">
                <a:solidFill>
                  <a:srgbClr val="0F1E4A"/>
                </a:solidFill>
                <a:latin typeface="Segoe UI"/>
              </a:defRPr>
            </a:pPr>
            <a:r>
              <a:t>Sintesis Hijau Fe3O4 &amp; Polimer</a:t>
            </a:r>
          </a:p>
          <a:p>
            <a:pPr>
              <a:lnSpc>
                <a:spcPct val="115000"/>
              </a:lnSpc>
              <a:spcAft>
                <a:spcPts val="350"/>
              </a:spcAft>
            </a:pPr>
            <a:r>
              <a:rPr b="1" sz="950">
                <a:solidFill>
                  <a:srgbClr val="2563EB"/>
                </a:solidFill>
                <a:latin typeface="Segoe UI"/>
              </a:rPr>
              <a:t>• </a:t>
            </a:r>
            <a:r>
              <a:rPr b="1" sz="950">
                <a:solidFill>
                  <a:srgbClr val="0F172A"/>
                </a:solidFill>
                <a:latin typeface="Segoe UI"/>
              </a:rPr>
              <a:t>Ekstrak Daun Kelor: </a:t>
            </a:r>
            <a:r>
              <a:rPr sz="950">
                <a:solidFill>
                  <a:srgbClr val="334155"/>
                </a:solidFill>
                <a:latin typeface="Segoe UI"/>
              </a:rPr>
              <a:t>Moringa oleifera kaya senyawa polifenol alami sebagai pereduksi ion besi dan capping agent ramah lingkungan.</a:t>
            </a:r>
          </a:p>
          <a:p>
            <a:pPr>
              <a:lnSpc>
                <a:spcPct val="115000"/>
              </a:lnSpc>
              <a:spcAft>
                <a:spcPts val="350"/>
              </a:spcAft>
            </a:pPr>
            <a:r>
              <a:rPr b="1" sz="950">
                <a:solidFill>
                  <a:srgbClr val="2563EB"/>
                </a:solidFill>
                <a:latin typeface="Segoe UI"/>
              </a:rPr>
              <a:t>• </a:t>
            </a:r>
            <a:r>
              <a:rPr b="1" sz="950">
                <a:solidFill>
                  <a:srgbClr val="0F172A"/>
                </a:solidFill>
                <a:latin typeface="Segoe UI"/>
              </a:rPr>
              <a:t>Superparamagnetisme: </a:t>
            </a:r>
            <a:r>
              <a:rPr sz="950">
                <a:solidFill>
                  <a:srgbClr val="334155"/>
                </a:solidFill>
                <a:latin typeface="Segoe UI"/>
              </a:rPr>
              <a:t>Nanopartikel Fe3O4 berukuran sub-20 nm memiliki suseptibilitas tinggi tanpa histeresis remanen.</a:t>
            </a:r>
          </a:p>
          <a:p>
            <a:pPr>
              <a:lnSpc>
                <a:spcPct val="115000"/>
              </a:lnSpc>
              <a:spcAft>
                <a:spcPts val="350"/>
              </a:spcAft>
            </a:pPr>
            <a:r>
              <a:rPr b="1" sz="950">
                <a:solidFill>
                  <a:srgbClr val="2563EB"/>
                </a:solidFill>
                <a:latin typeface="Segoe UI"/>
              </a:rPr>
              <a:t>• </a:t>
            </a:r>
            <a:r>
              <a:rPr b="1" sz="950">
                <a:solidFill>
                  <a:srgbClr val="0F172A"/>
                </a:solidFill>
                <a:latin typeface="Segoe UI"/>
              </a:rPr>
              <a:t>Matriks PVA 10% wt: </a:t>
            </a:r>
            <a:r>
              <a:rPr sz="950">
                <a:solidFill>
                  <a:srgbClr val="334155"/>
                </a:solidFill>
                <a:latin typeface="Segoe UI"/>
              </a:rPr>
              <a:t>Membentuk jejaring nanofiber homogen berdiameter puluhan nanometer melalui electrospinning.</a:t>
            </a:r>
          </a:p>
          <a:p>
            <a:pPr>
              <a:lnSpc>
                <a:spcPct val="115000"/>
              </a:lnSpc>
              <a:spcAft>
                <a:spcPts val="350"/>
              </a:spcAft>
            </a:pPr>
            <a:r>
              <a:rPr b="1" sz="950">
                <a:solidFill>
                  <a:srgbClr val="2563EB"/>
                </a:solidFill>
                <a:latin typeface="Segoe UI"/>
              </a:rPr>
              <a:t>• </a:t>
            </a:r>
            <a:r>
              <a:rPr b="1" sz="950">
                <a:solidFill>
                  <a:srgbClr val="0F172A"/>
                </a:solidFill>
                <a:latin typeface="Segoe UI"/>
              </a:rPr>
              <a:t>Taut-Silang Asam Sitrat: </a:t>
            </a:r>
            <a:r>
              <a:rPr sz="950">
                <a:solidFill>
                  <a:srgbClr val="334155"/>
                </a:solidFill>
                <a:latin typeface="Segoe UI"/>
              </a:rPr>
              <a:t>Curing 130 C selama 1.5 jam mengikat gugus hidroksil PVA menjadi ikatan ester tak larut air.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526280"/>
            <a:ext cx="6400800" cy="164592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617720"/>
            <a:ext cx="6035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D97706"/>
                </a:solidFill>
                <a:latin typeface="Segoe UI"/>
              </a:defRPr>
            </a:pPr>
            <a:r>
              <a:t>MEKANISME TRANSDUKSI SENSOR</a:t>
            </a:r>
          </a:p>
          <a:p>
            <a:pPr>
              <a:spcAft>
                <a:spcPts val="400"/>
              </a:spcAft>
              <a:defRPr sz="1150" b="1">
                <a:solidFill>
                  <a:srgbClr val="0F1E4A"/>
                </a:solidFill>
                <a:latin typeface="Segoe UI"/>
              </a:defRPr>
            </a:pPr>
            <a:r>
              <a:t>Hipotesis Efek Magnetoresistif Gugus ADH</a:t>
            </a:r>
          </a:p>
          <a:p>
            <a:pPr>
              <a:defRPr sz="950">
                <a:solidFill>
                  <a:srgbClr val="0F172A"/>
                </a:solidFill>
                <a:latin typeface="Segoe UI"/>
              </a:defRPr>
            </a:pPr>
            <a:r>
              <a:t>Pengikatan molekul formaldehida oleh gugus hidrazida terminal ADH memicu transfer muatan lokal dan konformasi rantai polimer, mendistorsi medan fluks magnetik stray Fe3O4 yang terbaca seketika sebagai pergeseran kurva resistansi TMR.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6419088"/>
            <a:ext cx="1072865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464808"/>
            <a:ext cx="8961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Fahry Rizky Samsudin (1237030018) | Proposal Tugas Akhir Fisika UIN SGD Bandung &amp; Bolabot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0" y="6464808"/>
            <a:ext cx="1584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1E3A8A"/>
                </a:solidFill>
                <a:latin typeface="Segoe UI"/>
              </a:defRPr>
            </a:pPr>
            <a:r>
              <a:t>6 / 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BAB I: PENDAHULUAN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50" b="1">
                <a:solidFill>
                  <a:srgbClr val="0F1E4A"/>
                </a:solidFill>
                <a:latin typeface="Segoe UI"/>
              </a:defRPr>
            </a:pPr>
            <a:r>
              <a:t>Latar Belakang IV: Komparasi Model Cerdas SVM vs QSVC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  <a:latin typeface="Segoe UI"/>
              </a:defRPr>
            </a:pPr>
            <a:r>
              <a:t>Eksplorasi Quantum Machine Learning untuk Robustness Klasifikasi Sensor Pangan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0020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2563EB"/>
                </a:solidFill>
                <a:latin typeface="Segoe UI"/>
              </a:defRPr>
            </a:pPr>
            <a:r>
              <a:t>METODE KLASIK TERUJI</a:t>
            </a:r>
          </a:p>
          <a:p>
            <a:pPr>
              <a:spcAft>
                <a:spcPts val="400"/>
              </a:spcAft>
              <a:defRPr sz="1150" b="1">
                <a:solidFill>
                  <a:srgbClr val="0F1E4A"/>
                </a:solidFill>
                <a:latin typeface="Segoe UI"/>
              </a:defRPr>
            </a:pPr>
            <a:r>
              <a:t>Support Vector Machine (SVM) Klasik</a:t>
            </a:r>
          </a:p>
          <a:p>
            <a:pPr>
              <a:lnSpc>
                <a:spcPct val="115000"/>
              </a:lnSpc>
              <a:spcAft>
                <a:spcPts val="350"/>
              </a:spcAft>
            </a:pPr>
            <a:r>
              <a:rPr b="1" sz="1000">
                <a:solidFill>
                  <a:srgbClr val="2563EB"/>
                </a:solidFill>
                <a:latin typeface="Segoe UI"/>
              </a:rPr>
              <a:t>• </a:t>
            </a:r>
            <a:r>
              <a:rPr b="1" sz="1000">
                <a:solidFill>
                  <a:srgbClr val="0F172A"/>
                </a:solidFill>
                <a:latin typeface="Segoe UI"/>
              </a:rPr>
              <a:t>Prinsip Kerja: </a:t>
            </a:r>
            <a:r>
              <a:rPr sz="1000">
                <a:solidFill>
                  <a:srgbClr val="334155"/>
                </a:solidFill>
                <a:latin typeface="Segoe UI"/>
              </a:rPr>
              <a:t>Membangun hyperplane optimal dengan memaksimalkan margin pemisah antarkelas pada ruang fitur berdimensi tinggi.</a:t>
            </a:r>
          </a:p>
          <a:p>
            <a:pPr>
              <a:lnSpc>
                <a:spcPct val="115000"/>
              </a:lnSpc>
              <a:spcAft>
                <a:spcPts val="350"/>
              </a:spcAft>
            </a:pPr>
            <a:r>
              <a:rPr b="1" sz="1000">
                <a:solidFill>
                  <a:srgbClr val="2563EB"/>
                </a:solidFill>
                <a:latin typeface="Segoe UI"/>
              </a:rPr>
              <a:t>• </a:t>
            </a:r>
            <a:r>
              <a:rPr b="1" sz="1000">
                <a:solidFill>
                  <a:srgbClr val="0F172A"/>
                </a:solidFill>
                <a:latin typeface="Segoe UI"/>
              </a:rPr>
              <a:t>Fungsi Kernel: </a:t>
            </a:r>
            <a:r>
              <a:rPr sz="1000">
                <a:solidFill>
                  <a:srgbClr val="334155"/>
                </a:solidFill>
                <a:latin typeface="Segoe UI"/>
              </a:rPr>
              <a:t>Radial Basis Function (RBF) Kernel mentransformasikan data non-linear secara numerik.</a:t>
            </a:r>
          </a:p>
          <a:p>
            <a:pPr>
              <a:lnSpc>
                <a:spcPct val="115000"/>
              </a:lnSpc>
              <a:spcAft>
                <a:spcPts val="350"/>
              </a:spcAft>
            </a:pPr>
            <a:r>
              <a:rPr b="1" sz="1000">
                <a:solidFill>
                  <a:srgbClr val="2563EB"/>
                </a:solidFill>
                <a:latin typeface="Segoe UI"/>
              </a:rPr>
              <a:t>• </a:t>
            </a:r>
            <a:r>
              <a:rPr b="1" sz="1000">
                <a:solidFill>
                  <a:srgbClr val="0F172A"/>
                </a:solidFill>
                <a:latin typeface="Segoe UI"/>
              </a:rPr>
              <a:t>Keunggulan: </a:t>
            </a:r>
            <a:r>
              <a:rPr sz="1000">
                <a:solidFill>
                  <a:srgbClr val="334155"/>
                </a:solidFill>
                <a:latin typeface="Segoe UI"/>
              </a:rPr>
              <a:t>Komputasi cepat, stabil, tidak mudah overfitting pada ukuran sampel terbatas, implementasi praktis di mikrokomputer.</a:t>
            </a:r>
          </a:p>
          <a:p>
            <a:pPr>
              <a:lnSpc>
                <a:spcPct val="115000"/>
              </a:lnSpc>
              <a:spcAft>
                <a:spcPts val="350"/>
              </a:spcAft>
            </a:pPr>
            <a:r>
              <a:rPr b="1" sz="1000">
                <a:solidFill>
                  <a:srgbClr val="2563EB"/>
                </a:solidFill>
                <a:latin typeface="Segoe UI"/>
              </a:rPr>
              <a:t>• </a:t>
            </a:r>
            <a:r>
              <a:rPr b="1" sz="1000">
                <a:solidFill>
                  <a:srgbClr val="0F172A"/>
                </a:solidFill>
                <a:latin typeface="Segoe UI"/>
              </a:rPr>
              <a:t>Keterbatasan: </a:t>
            </a:r>
            <a:r>
              <a:rPr sz="1000">
                <a:solidFill>
                  <a:srgbClr val="334155"/>
                </a:solidFill>
                <a:latin typeface="Segoe UI"/>
              </a:rPr>
              <a:t>Rentan degradasi akurasi apabila fitur sinyal memiliki tumpang tindih derau ekstrem atau fluktuasi non-linear tinggi.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0020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059669"/>
                </a:solidFill>
                <a:latin typeface="Segoe UI"/>
              </a:defRPr>
            </a:pPr>
            <a:r>
              <a:t>INOVASI QUANTUM MACHINE LEARNING</a:t>
            </a:r>
          </a:p>
          <a:p>
            <a:pPr>
              <a:spcAft>
                <a:spcPts val="400"/>
              </a:spcAft>
              <a:defRPr sz="1150" b="1">
                <a:solidFill>
                  <a:srgbClr val="0F1E4A"/>
                </a:solidFill>
                <a:latin typeface="Segoe UI"/>
              </a:defRPr>
            </a:pPr>
            <a:r>
              <a:t>Quantum Support Vector Classifier (QSVC)</a:t>
            </a:r>
          </a:p>
          <a:p>
            <a:pPr>
              <a:lnSpc>
                <a:spcPct val="115000"/>
              </a:lnSpc>
              <a:spcAft>
                <a:spcPts val="350"/>
              </a:spcAft>
            </a:pPr>
            <a:r>
              <a:rPr b="1" sz="1000">
                <a:solidFill>
                  <a:srgbClr val="2563EB"/>
                </a:solidFill>
                <a:latin typeface="Segoe UI"/>
              </a:rPr>
              <a:t>• </a:t>
            </a:r>
            <a:r>
              <a:rPr b="1" sz="1000">
                <a:solidFill>
                  <a:srgbClr val="0F172A"/>
                </a:solidFill>
                <a:latin typeface="Segoe UI"/>
              </a:rPr>
              <a:t>Prinsip Kerja: </a:t>
            </a:r>
            <a:r>
              <a:rPr sz="1000">
                <a:solidFill>
                  <a:srgbClr val="334155"/>
                </a:solidFill>
                <a:latin typeface="Segoe UI"/>
              </a:rPr>
              <a:t>Memetakan vektor fitur sinyal sensor ke ruang Hilbert 2^n qubit melalui gerbang uniter ter-entangle (Quantum Feature Map).</a:t>
            </a:r>
          </a:p>
          <a:p>
            <a:pPr>
              <a:lnSpc>
                <a:spcPct val="115000"/>
              </a:lnSpc>
              <a:spcAft>
                <a:spcPts val="350"/>
              </a:spcAft>
            </a:pPr>
            <a:r>
              <a:rPr b="1" sz="1000">
                <a:solidFill>
                  <a:srgbClr val="2563EB"/>
                </a:solidFill>
                <a:latin typeface="Segoe UI"/>
              </a:rPr>
              <a:t>• </a:t>
            </a:r>
            <a:r>
              <a:rPr b="1" sz="1000">
                <a:solidFill>
                  <a:srgbClr val="0F172A"/>
                </a:solidFill>
                <a:latin typeface="Segoe UI"/>
              </a:rPr>
              <a:t>Quantum Kernel: </a:t>
            </a:r>
            <a:r>
              <a:rPr sz="1000">
                <a:solidFill>
                  <a:srgbClr val="334155"/>
                </a:solidFill>
                <a:latin typeface="Segoe UI"/>
              </a:rPr>
              <a:t>Menghitung derajat ketumpangtindihan status kuantum (Quantum State Fidelity) antar-sampel pengujian.</a:t>
            </a:r>
          </a:p>
          <a:p>
            <a:pPr>
              <a:lnSpc>
                <a:spcPct val="115000"/>
              </a:lnSpc>
              <a:spcAft>
                <a:spcPts val="350"/>
              </a:spcAft>
            </a:pPr>
            <a:r>
              <a:rPr b="1" sz="1000">
                <a:solidFill>
                  <a:srgbClr val="2563EB"/>
                </a:solidFill>
                <a:latin typeface="Segoe UI"/>
              </a:rPr>
              <a:t>• </a:t>
            </a:r>
            <a:r>
              <a:rPr b="1" sz="1000">
                <a:solidFill>
                  <a:srgbClr val="0F172A"/>
                </a:solidFill>
                <a:latin typeface="Segoe UI"/>
              </a:rPr>
              <a:t>Potensi Keunggulan: </a:t>
            </a:r>
            <a:r>
              <a:rPr sz="1000">
                <a:solidFill>
                  <a:srgbClr val="334155"/>
                </a:solidFill>
                <a:latin typeface="Segoe UI"/>
              </a:rPr>
              <a:t>Mampu menangkap korelasi non-linear kompleks yang sulit diakses kernel klasik; memiliki resistensi tinggi terhadap derau gaussian.</a:t>
            </a:r>
          </a:p>
          <a:p>
            <a:pPr>
              <a:lnSpc>
                <a:spcPct val="115000"/>
              </a:lnSpc>
              <a:spcAft>
                <a:spcPts val="350"/>
              </a:spcAft>
            </a:pPr>
            <a:r>
              <a:rPr b="1" sz="1000">
                <a:solidFill>
                  <a:srgbClr val="2563EB"/>
                </a:solidFill>
                <a:latin typeface="Segoe UI"/>
              </a:rPr>
              <a:t>• </a:t>
            </a:r>
            <a:r>
              <a:rPr b="1" sz="1000">
                <a:solidFill>
                  <a:srgbClr val="0F172A"/>
                </a:solidFill>
                <a:latin typeface="Segoe UI"/>
              </a:rPr>
              <a:t>Relevansi: </a:t>
            </a:r>
            <a:r>
              <a:rPr sz="1000">
                <a:solidFill>
                  <a:srgbClr val="334155"/>
                </a:solidFill>
                <a:latin typeface="Segoe UI"/>
              </a:rPr>
              <a:t>Studi komparasi empiris pertama di Indonesia untuk biosensor TMR keamanan pangan.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6419088"/>
            <a:ext cx="1072865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464808"/>
            <a:ext cx="8961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Fahry Rizky Samsudin (1237030018) | Proposal Tugas Akhir Fisika UIN SGD Bandung &amp; Bolabot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0" y="6464808"/>
            <a:ext cx="1584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1E3A8A"/>
                </a:solidFill>
                <a:latin typeface="Segoe UI"/>
              </a:defRPr>
            </a:pPr>
            <a:r>
              <a:t>7 / 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BAB I: PENDAHULUAN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50" b="1">
                <a:solidFill>
                  <a:srgbClr val="0F1E4A"/>
                </a:solidFill>
                <a:latin typeface="Segoe UI"/>
              </a:defRPr>
            </a:pPr>
            <a:r>
              <a:t>Rumusan Masalah Penelitian (5 Butir Spesifik)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  <a:latin typeface="Segoe UI"/>
              </a:defRPr>
            </a:pPr>
            <a:r>
              <a:t>Pertanyaan Ilmiah Kunci yang Menjadi Fokus Investigasi Tugas Akhir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10728655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581912"/>
            <a:ext cx="868680" cy="502920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2563EB"/>
                </a:solidFill>
                <a:latin typeface="Segoe UI"/>
              </a:defRPr>
            </a:pPr>
            <a:r>
              <a:t>RM-1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527048"/>
            <a:ext cx="9326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F1E4A"/>
                </a:solidFill>
                <a:latin typeface="Segoe UI"/>
              </a:defRPr>
            </a:pPr>
            <a:r>
              <a:t>Sensitivitas Sensor TMR terhadap Formalin</a:t>
            </a:r>
          </a:p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Bagaimana sensitivitas sensor Tunneling Magnetoresistance (TMR) yang berbasis nanofiber Fe3O4/PVA-Sitrat-ADH dalam mendeteksi variasi konsentrasi formalin?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377440"/>
            <a:ext cx="10728655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2542032"/>
            <a:ext cx="868680" cy="502920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2563EB"/>
                </a:solidFill>
                <a:latin typeface="Segoe UI"/>
              </a:defRPr>
            </a:pPr>
            <a:r>
              <a:t>RM-2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2487168"/>
            <a:ext cx="9326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F1E4A"/>
                </a:solidFill>
                <a:latin typeface="Segoe UI"/>
              </a:defRPr>
            </a:pPr>
            <a:r>
              <a:t>Batas Deteksi (Limit of Detection / LOD)</a:t>
            </a:r>
          </a:p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Bagaimana batas deteksi (limit of detection) yang diperoleh dari sensor TMR berbasis nanofiber Fe3O4/PVA-Sitrat-ADH dalam mendeteksi variasi konsentrasi formalin?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337560"/>
            <a:ext cx="10728655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4400" y="3502152"/>
            <a:ext cx="868680" cy="502920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2563EB"/>
                </a:solidFill>
                <a:latin typeface="Segoe UI"/>
              </a:defRPr>
            </a:pPr>
            <a:r>
              <a:t>RM-3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3447288"/>
            <a:ext cx="9326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F1E4A"/>
                </a:solidFill>
                <a:latin typeface="Segoe UI"/>
              </a:defRPr>
            </a:pPr>
            <a:r>
              <a:t>Pengaruh Gugus Hidrazida ADH pada Sinyal</a:t>
            </a:r>
          </a:p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Bagaimana gugus hidrazida pada nanofiber Fe3O4/PVA-Sitrat-ADH memengaruhi respons magnetoresistif sensor TMR terhadap keberadaan formalin?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297680"/>
            <a:ext cx="10728655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14400" y="4462272"/>
            <a:ext cx="868680" cy="502920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2563EB"/>
                </a:solidFill>
                <a:latin typeface="Segoe UI"/>
              </a:defRPr>
            </a:pPr>
            <a:r>
              <a:t>RM-4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4407408"/>
            <a:ext cx="9326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F1E4A"/>
                </a:solidFill>
                <a:latin typeface="Segoe UI"/>
              </a:defRPr>
            </a:pPr>
            <a:r>
              <a:t>Validitas Kurva Kalibrasi Instrumentasi</a:t>
            </a:r>
          </a:p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Bagaimana rancangan sistem instrumentasi (AD623-ADS1115-Arduino-Raspberry Pi) menghasilkan kurva kalibrasi yang valid antara tegangan keluaran sensor dan konsentrasi formalin pada bakso?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257800"/>
            <a:ext cx="10728655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4400" y="5422392"/>
            <a:ext cx="868680" cy="502920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2563EB"/>
                </a:solidFill>
                <a:latin typeface="Segoe UI"/>
              </a:defRPr>
            </a:pPr>
            <a:r>
              <a:t>RM-5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5367528"/>
            <a:ext cx="9326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F1E4A"/>
                </a:solidFill>
                <a:latin typeface="Segoe UI"/>
              </a:defRPr>
            </a:pPr>
            <a:r>
              <a:t>Komparasi Kinerja Model Klasifikasi SVM vs QSVC</a:t>
            </a:r>
          </a:p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Bagaimana komparasi performa klasifikasi antara model Support Vector Machine (SVM) klasik dan Quantum Support Vector Classifier (QSVC) dalam mendeteksi dan mengklasifikasikan kandungan formalin pada sampel bakso?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6419088"/>
            <a:ext cx="1072865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6464808"/>
            <a:ext cx="8961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Fahry Rizky Samsudin (1237030018) | Proposal Tugas Akhir Fisika UIN SGD Bandung &amp; Bolabot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0" y="6464808"/>
            <a:ext cx="1584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1E3A8A"/>
                </a:solidFill>
                <a:latin typeface="Segoe UI"/>
              </a:defRPr>
            </a:pPr>
            <a:r>
              <a:t>8 / 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BAB I: PENDAHULUAN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50" b="1">
                <a:solidFill>
                  <a:srgbClr val="0F1E4A"/>
                </a:solidFill>
                <a:latin typeface="Segoe UI"/>
              </a:defRPr>
            </a:pPr>
            <a:r>
              <a:t>Batasan Masalah Penelitian (6 Batasan)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  <a:latin typeface="Segoe UI"/>
              </a:defRPr>
            </a:pPr>
            <a:r>
              <a:t>Ruang Lingkup dan Asumsi Operasional Pengujian Laboratorium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242255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487649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 b="1">
                <a:solidFill>
                  <a:srgbClr val="0F1E4A"/>
                </a:solidFill>
                <a:latin typeface="Segoe UI"/>
              </a:defRPr>
            </a:pPr>
            <a:r>
              <a:t>Batasan 01: Spesifisitas Analit</a:t>
            </a:r>
          </a:p>
          <a:p>
            <a:pPr>
              <a:lnSpc>
                <a:spcPct val="115000"/>
              </a:lnSpc>
              <a:defRPr sz="950">
                <a:solidFill>
                  <a:srgbClr val="334155"/>
                </a:solidFill>
                <a:latin typeface="Segoe UI"/>
              </a:defRPr>
            </a:pPr>
            <a:r>
              <a:t>Penelitian berfokus eksklusif pada deteksi analit formalin (formaldehida terlarut); bahan pengawet/pewarna sintetis lain (boraks, rhodamin B) tidak dianalisis.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242255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487649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 b="1">
                <a:solidFill>
                  <a:srgbClr val="0F1E4A"/>
                </a:solidFill>
                <a:latin typeface="Segoe UI"/>
              </a:defRPr>
            </a:pPr>
            <a:r>
              <a:t>Batasan 02: Tahapan Sampel</a:t>
            </a:r>
          </a:p>
          <a:p>
            <a:pPr>
              <a:lnSpc>
                <a:spcPct val="115000"/>
              </a:lnSpc>
              <a:defRPr sz="950">
                <a:solidFill>
                  <a:srgbClr val="334155"/>
                </a:solidFill>
                <a:latin typeface="Segoe UI"/>
              </a:defRPr>
            </a:pPr>
            <a:r>
              <a:t>Pengujian kurva respons diawali larutan standar formalin bertingkat (mg/L terkontrol) sebelum diterapkan pada supernatan ekstrak sampel bakso riil.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17520"/>
            <a:ext cx="5242255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54680"/>
            <a:ext cx="487649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 b="1">
                <a:solidFill>
                  <a:srgbClr val="0F1E4A"/>
                </a:solidFill>
                <a:latin typeface="Segoe UI"/>
              </a:defRPr>
            </a:pPr>
            <a:r>
              <a:t>Batasan 03: Formulasi Material</a:t>
            </a:r>
          </a:p>
          <a:p>
            <a:pPr>
              <a:lnSpc>
                <a:spcPct val="115000"/>
              </a:lnSpc>
              <a:defRPr sz="950">
                <a:solidFill>
                  <a:srgbClr val="334155"/>
                </a:solidFill>
                <a:latin typeface="Segoe UI"/>
              </a:defRPr>
            </a:pPr>
            <a:r>
              <a:t>Material sensor dibatasi pada nanokomposit Fe3O4/PVA hasil elektrospinning dengan taut-silang asam sitrat (curing 130 C) dan fungsionalisasi ADH.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017520"/>
            <a:ext cx="5242255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154680"/>
            <a:ext cx="487649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 b="1">
                <a:solidFill>
                  <a:srgbClr val="0F1E4A"/>
                </a:solidFill>
                <a:latin typeface="Segoe UI"/>
              </a:defRPr>
            </a:pPr>
            <a:r>
              <a:t>Batasan 04: Status Hipotesis Reseptor</a:t>
            </a:r>
          </a:p>
          <a:p>
            <a:pPr>
              <a:lnSpc>
                <a:spcPct val="115000"/>
              </a:lnSpc>
              <a:defRPr sz="950">
                <a:solidFill>
                  <a:srgbClr val="334155"/>
                </a:solidFill>
                <a:latin typeface="Segoe UI"/>
              </a:defRPr>
            </a:pPr>
            <a:r>
              <a:t>Mekanisme pengenalan molekul formalin oleh gugus hidrazida ADH diperlakukan sebagai hipotesis yang diuji secara empiris, bukan mekanisme aksioma.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617720"/>
            <a:ext cx="5242255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754880"/>
            <a:ext cx="487649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 b="1">
                <a:solidFill>
                  <a:srgbClr val="0F1E4A"/>
                </a:solidFill>
                <a:latin typeface="Segoe UI"/>
              </a:defRPr>
            </a:pPr>
            <a:r>
              <a:t>Batasan 05: Parameter Evaluasi Fisik</a:t>
            </a:r>
          </a:p>
          <a:p>
            <a:pPr>
              <a:lnSpc>
                <a:spcPct val="115000"/>
              </a:lnSpc>
              <a:defRPr sz="950">
                <a:solidFill>
                  <a:srgbClr val="334155"/>
                </a:solidFill>
                <a:latin typeface="Segoe UI"/>
              </a:defRPr>
            </a:pPr>
            <a:r>
              <a:t>Karakterisasi sensor dibatasi pada parameter sensitivitas, batas deteksi (LOD), linearitas, dan kestabilan sinyal; ketahanan mekanik jangka panjang tidak diuji.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617720"/>
            <a:ext cx="5242255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4754880"/>
            <a:ext cx="487649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 b="1">
                <a:solidFill>
                  <a:srgbClr val="0F1E4A"/>
                </a:solidFill>
                <a:latin typeface="Segoe UI"/>
              </a:defRPr>
            </a:pPr>
            <a:r>
              <a:t>Batasan 06: Lingkup Pemodelan Cerdas</a:t>
            </a:r>
          </a:p>
          <a:p>
            <a:pPr>
              <a:lnSpc>
                <a:spcPct val="115000"/>
              </a:lnSpc>
              <a:defRPr sz="950">
                <a:solidFill>
                  <a:srgbClr val="334155"/>
                </a:solidFill>
                <a:latin typeface="Segoe UI"/>
              </a:defRPr>
            </a:pPr>
            <a:r>
              <a:t>Model kecerdasan buatan dibatasi pada komparasi algoritma klasik SVM (RBF kernel) dan simulasi QSVC berbasis quantum feature map Qiskit.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6419088"/>
            <a:ext cx="1072865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6464808"/>
            <a:ext cx="8961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Fahry Rizky Samsudin (1237030018) | Proposal Tugas Akhir Fisika UIN SGD Bandung &amp; Bolabot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0" y="6464808"/>
            <a:ext cx="1584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1E3A8A"/>
                </a:solidFill>
                <a:latin typeface="Segoe UI"/>
              </a:defRPr>
            </a:pPr>
            <a:r>
              <a:t>9 / 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BAB I: PENDAHULUAN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50" b="1">
                <a:solidFill>
                  <a:srgbClr val="0F1E4A"/>
                </a:solidFill>
                <a:latin typeface="Segoe UI"/>
              </a:defRPr>
            </a:pPr>
            <a:r>
              <a:t>Tujuan Penelitian (5 Butir Sinkron)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  <a:latin typeface="Segoe UI"/>
              </a:defRPr>
            </a:pPr>
            <a:r>
              <a:t>Target Capaian Ilmiah yang Sinkron 1-ke-1 dengan Rumusan Masalah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10728655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581912"/>
            <a:ext cx="868680" cy="502920"/>
          </a:xfrm>
          <a:prstGeom prst="roundRect">
            <a:avLst/>
          </a:prstGeom>
          <a:solidFill>
            <a:srgbClr val="ECFDF5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059669"/>
                </a:solidFill>
                <a:latin typeface="Segoe UI"/>
              </a:defRPr>
            </a:pPr>
            <a:r>
              <a:t>T-1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527048"/>
            <a:ext cx="9326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F1E4A"/>
                </a:solidFill>
                <a:latin typeface="Segoe UI"/>
              </a:defRPr>
            </a:pPr>
            <a:r>
              <a:t>Evaluasi Sensitivitas Sensor TMR</a:t>
            </a:r>
          </a:p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Mengevaluasi sensitivitas sensor Tunneling Magnetoresistance (TMR) berbasis nanofiber Fe3O4/PVA-Sitrat-ADH dalam mendeteksi variasi konsentrasi larutan formalin.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377440"/>
            <a:ext cx="10728655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2542032"/>
            <a:ext cx="868680" cy="502920"/>
          </a:xfrm>
          <a:prstGeom prst="roundRect">
            <a:avLst/>
          </a:prstGeom>
          <a:solidFill>
            <a:srgbClr val="ECFDF5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059669"/>
                </a:solidFill>
                <a:latin typeface="Segoe UI"/>
              </a:defRPr>
            </a:pPr>
            <a:r>
              <a:t>T-2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2487168"/>
            <a:ext cx="9326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F1E4A"/>
                </a:solidFill>
                <a:latin typeface="Segoe UI"/>
              </a:defRPr>
            </a:pPr>
            <a:r>
              <a:t>Penentuan Batas Deteksi Kuantitatif (LOD)</a:t>
            </a:r>
          </a:p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Menentukan batas deteksi (Limit of Detection / LOD) formalin secara kuantitatif berdasarkan kurva respons sensor dan simpangan baku baseline sinyal.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337560"/>
            <a:ext cx="10728655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4400" y="3502152"/>
            <a:ext cx="868680" cy="502920"/>
          </a:xfrm>
          <a:prstGeom prst="roundRect">
            <a:avLst/>
          </a:prstGeom>
          <a:solidFill>
            <a:srgbClr val="ECFDF5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059669"/>
                </a:solidFill>
                <a:latin typeface="Segoe UI"/>
              </a:defRPr>
            </a:pPr>
            <a:r>
              <a:t>T-3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3447288"/>
            <a:ext cx="9326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F1E4A"/>
                </a:solidFill>
                <a:latin typeface="Segoe UI"/>
              </a:defRPr>
            </a:pPr>
            <a:r>
              <a:t>Investigasi Peran Gugus Hidrazida ADH</a:t>
            </a:r>
          </a:p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Mengevaluasi peran fungsional gugus hidrazida pada nanofiber Fe3O4/PVA-Sitrat-ADH dalam memodulasi respons sinyal magnetoresistif sensor TMR.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297680"/>
            <a:ext cx="10728655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14400" y="4462272"/>
            <a:ext cx="868680" cy="502920"/>
          </a:xfrm>
          <a:prstGeom prst="roundRect">
            <a:avLst/>
          </a:prstGeom>
          <a:solidFill>
            <a:srgbClr val="ECFDF5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059669"/>
                </a:solidFill>
                <a:latin typeface="Segoe UI"/>
              </a:defRPr>
            </a:pPr>
            <a:r>
              <a:t>T-4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4407408"/>
            <a:ext cx="9326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F1E4A"/>
                </a:solidFill>
                <a:latin typeface="Segoe UI"/>
              </a:defRPr>
            </a:pPr>
            <a:r>
              <a:t>Validasi Sistem Instrumentasi &amp; Kalibrasi</a:t>
            </a:r>
          </a:p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Merancang dan memvalidasi rantai instrumentasi (AD623-ADS1115-Arduino-Raspberry Pi) yang menghasilkan kurva kalibrasi presisi antara tegangan sensor dan kadar formalin bakso.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257800"/>
            <a:ext cx="10728655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4400" y="5422392"/>
            <a:ext cx="868680" cy="502920"/>
          </a:xfrm>
          <a:prstGeom prst="roundRect">
            <a:avLst/>
          </a:prstGeom>
          <a:solidFill>
            <a:srgbClr val="ECFDF5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059669"/>
                </a:solidFill>
                <a:latin typeface="Segoe UI"/>
              </a:defRPr>
            </a:pPr>
            <a:r>
              <a:t>T-5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5367528"/>
            <a:ext cx="9326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F1E4A"/>
                </a:solidFill>
                <a:latin typeface="Segoe UI"/>
              </a:defRPr>
            </a:pPr>
            <a:r>
              <a:t>Komparasi Evaluatif Model SVM vs QSVC</a:t>
            </a:r>
          </a:p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Menganalisis dan membandingkan performa akurasi, presisi, recall, F1-score, serta ketahanan derau model SVM klasik versus QSVC kuantum pada klasifikasi keamanan bakso.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6419088"/>
            <a:ext cx="1072865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6464808"/>
            <a:ext cx="8961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Fahry Rizky Samsudin (1237030018) | Proposal Tugas Akhir Fisika UIN SGD Bandung &amp; Bolabot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0" y="6464808"/>
            <a:ext cx="1584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1E3A8A"/>
                </a:solidFill>
                <a:latin typeface="Segoe UI"/>
              </a:defRPr>
            </a:pPr>
            <a:r>
              <a:t>10 / 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BAB I: PENDAHULUAN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50" b="1">
                <a:solidFill>
                  <a:srgbClr val="0F1E4A"/>
                </a:solidFill>
                <a:latin typeface="Segoe UI"/>
              </a:defRPr>
            </a:pPr>
            <a:r>
              <a:t>Manfaat Penelitian (4 Dimensi Strategis)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  <a:latin typeface="Segoe UI"/>
              </a:defRPr>
            </a:pPr>
            <a:r>
              <a:t>Kontribusi Signifikan bagi Sains, Industri, Pengawasan Pangan, dan IPTEK Nasional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242255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00200"/>
            <a:ext cx="4785055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2563EB"/>
                </a:solidFill>
                <a:latin typeface="Segoe UI"/>
              </a:defRPr>
            </a:pPr>
            <a:r>
              <a:t>PILAR MANFAAT 01</a:t>
            </a:r>
          </a:p>
          <a:p>
            <a:pPr>
              <a:spcAft>
                <a:spcPts val="400"/>
              </a:spcAft>
              <a:defRPr sz="1150" b="1">
                <a:solidFill>
                  <a:srgbClr val="0F1E4A"/>
                </a:solidFill>
                <a:latin typeface="Segoe UI"/>
              </a:defRPr>
            </a:pPr>
            <a:r>
              <a:t>Akademisi &amp; Sains</a:t>
            </a:r>
          </a:p>
          <a:p>
            <a:pPr>
              <a:lnSpc>
                <a:spcPct val="120000"/>
              </a:lnSpc>
              <a:defRPr sz="1000">
                <a:solidFill>
                  <a:srgbClr val="334155"/>
                </a:solidFill>
                <a:latin typeface="Segoe UI"/>
              </a:defRPr>
            </a:pPr>
            <a:r>
              <a:t>Memberikan kajian baru mengenai dinamika antarmuka sensor spintronika TMR dengan reseptor nanokomposit polimer, serta mengevaluasi penerapan Quantum Machine Learning pada pengolahan sinyal biosensor.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242255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00200"/>
            <a:ext cx="4785055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059669"/>
                </a:solidFill>
                <a:latin typeface="Segoe UI"/>
              </a:defRPr>
            </a:pPr>
            <a:r>
              <a:t>PILAR MANFAAT 02</a:t>
            </a:r>
          </a:p>
          <a:p>
            <a:pPr>
              <a:spcAft>
                <a:spcPts val="400"/>
              </a:spcAft>
              <a:defRPr sz="1150" b="1">
                <a:solidFill>
                  <a:srgbClr val="0F1E4A"/>
                </a:solidFill>
                <a:latin typeface="Segoe UI"/>
              </a:defRPr>
            </a:pPr>
            <a:r>
              <a:t>Mitra Industri Bolabot</a:t>
            </a:r>
          </a:p>
          <a:p>
            <a:pPr>
              <a:lnSpc>
                <a:spcPct val="120000"/>
              </a:lnSpc>
              <a:defRPr sz="1000">
                <a:solidFill>
                  <a:srgbClr val="334155"/>
                </a:solidFill>
                <a:latin typeface="Segoe UI"/>
              </a:defRPr>
            </a:pPr>
            <a:r>
              <a:t>Menyediakan prototipe instrumentasi biosensor cerdas portabel yang teruji secara eksperimental dan siap dihilirisasi ke tahap produksi komersial alat uji pangan cepat.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5242255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023360"/>
            <a:ext cx="4785055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D97706"/>
                </a:solidFill>
                <a:latin typeface="Segoe UI"/>
              </a:defRPr>
            </a:pPr>
            <a:r>
              <a:t>PILAR MANFAAT 03</a:t>
            </a:r>
          </a:p>
          <a:p>
            <a:pPr>
              <a:spcAft>
                <a:spcPts val="400"/>
              </a:spcAft>
              <a:defRPr sz="1150" b="1">
                <a:solidFill>
                  <a:srgbClr val="0F1E4A"/>
                </a:solidFill>
                <a:latin typeface="Segoe UI"/>
              </a:defRPr>
            </a:pPr>
            <a:r>
              <a:t>Masyarakat &amp; BPOM</a:t>
            </a:r>
          </a:p>
          <a:p>
            <a:pPr>
              <a:lnSpc>
                <a:spcPct val="120000"/>
              </a:lnSpc>
              <a:defRPr sz="1000">
                <a:solidFill>
                  <a:srgbClr val="334155"/>
                </a:solidFill>
                <a:latin typeface="Segoe UI"/>
              </a:defRPr>
            </a:pPr>
            <a:r>
              <a:t>Menghadirkan alternatif instrumen skrining formalin yang cepat, murah, dan akurat di lapangan tanpa merusak produk pangan, melindungi masyarakat dari bahaya karsinogenik.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840480"/>
            <a:ext cx="5242255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4023360"/>
            <a:ext cx="4785055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1E3A8A"/>
                </a:solidFill>
                <a:latin typeface="Segoe UI"/>
              </a:defRPr>
            </a:pPr>
            <a:r>
              <a:t>PILAR MANFAAT 04</a:t>
            </a:r>
          </a:p>
          <a:p>
            <a:pPr>
              <a:spcAft>
                <a:spcPts val="400"/>
              </a:spcAft>
              <a:defRPr sz="1150" b="1">
                <a:solidFill>
                  <a:srgbClr val="0F1E4A"/>
                </a:solidFill>
                <a:latin typeface="Segoe UI"/>
              </a:defRPr>
            </a:pPr>
            <a:r>
              <a:t>Kemandirian IPTEK Nasional</a:t>
            </a:r>
          </a:p>
          <a:p>
            <a:pPr>
              <a:lnSpc>
                <a:spcPct val="120000"/>
              </a:lnSpc>
              <a:defRPr sz="1000">
                <a:solidFill>
                  <a:srgbClr val="334155"/>
                </a:solidFill>
                <a:latin typeface="Segoe UI"/>
              </a:defRPr>
            </a:pPr>
            <a:r>
              <a:t>Mendukung substitusi alat uji impor berbiaya miliaran rupiah dengan instrumentasi berbasis komponen terbuka, sintesis hijau lokal, dan perangkat lunak mandiri.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419088"/>
            <a:ext cx="1072865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6464808"/>
            <a:ext cx="8961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Fahry Rizky Samsudin (1237030018) | Proposal Tugas Akhir Fisika UIN SGD Bandung &amp; Bolabot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6464808"/>
            <a:ext cx="1584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1E3A8A"/>
                </a:solidFill>
                <a:latin typeface="Segoe UI"/>
              </a:defRPr>
            </a:pPr>
            <a:r>
              <a:t>11 / 30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BAB I: PENDAHULUAN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50" b="1">
                <a:solidFill>
                  <a:srgbClr val="0F1E4A"/>
                </a:solidFill>
                <a:latin typeface="Segoe UI"/>
              </a:defRPr>
            </a:pPr>
            <a:r>
              <a:t>Metode Pengumpulan Data Penelitian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  <a:latin typeface="Segoe UI"/>
              </a:defRPr>
            </a:pPr>
            <a:r>
              <a:t>Tahapan Sistematis Perolehan Data Teoretis, Eksperimental, dan Komputasional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10728655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618488"/>
            <a:ext cx="777240" cy="64008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1E3A8A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554480"/>
            <a:ext cx="9326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2563EB"/>
                </a:solidFill>
                <a:latin typeface="Segoe UI"/>
              </a:defRPr>
            </a:pPr>
            <a:r>
              <a:t>KAJIAN JURNAL &amp; TEORI DASAR</a:t>
            </a:r>
          </a:p>
          <a:p>
            <a:pPr>
              <a:spcAft>
                <a:spcPts val="400"/>
              </a:spcAft>
              <a:defRPr sz="1150" b="1">
                <a:solidFill>
                  <a:srgbClr val="0F1E4A"/>
                </a:solidFill>
                <a:latin typeface="Segoe UI"/>
              </a:defRPr>
            </a:pPr>
            <a:r>
              <a:t>Studi Literatur</a:t>
            </a:r>
          </a:p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Mengumpulkan data primer dari jurnal bereputasi internasional (IEEE, Elsevier, Springer) mengenai efek TMR, mekanisme reaksi hidrazon formalin-ADH, sintesis nanopartikel Fe3O4 daun kelor, serta kerangka kerja Qiskit QSVC.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06040"/>
            <a:ext cx="10728655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2807208"/>
            <a:ext cx="777240" cy="64008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1E3A8A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2743200"/>
            <a:ext cx="9326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2563EB"/>
                </a:solidFill>
                <a:latin typeface="Segoe UI"/>
              </a:defRPr>
            </a:pPr>
            <a:r>
              <a:t>EVALUASI PROTOTIPE TERDAHULU</a:t>
            </a:r>
          </a:p>
          <a:p>
            <a:pPr>
              <a:spcAft>
                <a:spcPts val="400"/>
              </a:spcAft>
              <a:defRPr sz="1150" b="1">
                <a:solidFill>
                  <a:srgbClr val="0F1E4A"/>
                </a:solidFill>
                <a:latin typeface="Segoe UI"/>
              </a:defRPr>
            </a:pPr>
            <a:r>
              <a:t>Observasi &amp; Studi Pendahuluan</a:t>
            </a:r>
          </a:p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Menganalisis keterbatasan prototipe GMR sebelumnya di laboratorium Bolabot untuk menyempurnakan tata letak sirkuit pengkondisi sinyal AD623, peredaman derau ground loop, dan kestabilan dudukan sensor.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794760"/>
            <a:ext cx="10728655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4400" y="3995928"/>
            <a:ext cx="777240" cy="64008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1E3A8A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3931920"/>
            <a:ext cx="9326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2563EB"/>
                </a:solidFill>
                <a:latin typeface="Segoe UI"/>
              </a:defRPr>
            </a:pPr>
            <a:r>
              <a:t>SINTESIS &amp; KARAKTERISASI FISIK</a:t>
            </a:r>
          </a:p>
          <a:p>
            <a:pPr>
              <a:spcAft>
                <a:spcPts val="400"/>
              </a:spcAft>
              <a:defRPr sz="1150" b="1">
                <a:solidFill>
                  <a:srgbClr val="0F1E4A"/>
                </a:solidFill>
                <a:latin typeface="Segoe UI"/>
              </a:defRPr>
            </a:pPr>
            <a:r>
              <a:t>Eksperimen Laboratorium Terstruktur</a:t>
            </a:r>
          </a:p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Melaksanakan sintesis kopresipitasi Fe3O4, elektrospinning sol PVA-sitrat-ADH (curing 130 C), pemetaan kurva medan Helmholtz (0-16 V), serta akuisisi respons tegangan sensor terhadap larutan formalin bertingkat.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983480"/>
            <a:ext cx="10728655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14400" y="5184648"/>
            <a:ext cx="777240" cy="64008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1E3A8A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5120640"/>
            <a:ext cx="9326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2563EB"/>
                </a:solidFill>
                <a:latin typeface="Segoe UI"/>
              </a:defRPr>
            </a:pPr>
            <a:r>
              <a:t>EKSTRAKSI FITUR &amp; MACHINE LEARNING</a:t>
            </a:r>
          </a:p>
          <a:p>
            <a:pPr>
              <a:spcAft>
                <a:spcPts val="400"/>
              </a:spcAft>
              <a:defRPr sz="1150" b="1">
                <a:solidFill>
                  <a:srgbClr val="0F1E4A"/>
                </a:solidFill>
                <a:latin typeface="Segoe UI"/>
              </a:defRPr>
            </a:pPr>
            <a:r>
              <a:t>Analisis Data &amp; Pemodelan Cerdas</a:t>
            </a:r>
          </a:p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Melakukan pra-pemrosesan sinyal sensor, pembentukan kurva kalibrasi regresi dV/dB, ekstraksi 5 fitur dinamis sampel bakso, serta validasi silang (5-fold cross validation) model komparasi SVM dan QSVC.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6419088"/>
            <a:ext cx="1072865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6464808"/>
            <a:ext cx="8961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Fahry Rizky Samsudin (1237030018) | Proposal Tugas Akhir Fisika UIN SGD Bandung &amp; Bolabot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0" y="6464808"/>
            <a:ext cx="1584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1E3A8A"/>
                </a:solidFill>
                <a:latin typeface="Segoe UI"/>
              </a:defRPr>
            </a:pPr>
            <a:r>
              <a:t>12 / 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BAB II: TINJAUAN PUSTAKA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50" b="1">
                <a:solidFill>
                  <a:srgbClr val="0F1E4A"/>
                </a:solidFill>
                <a:latin typeface="Segoe UI"/>
              </a:defRPr>
            </a:pPr>
            <a:r>
              <a:t>Landasan Teori I: Reaksi Kimia Formaldehid &amp; Gugus Hidrazida ADH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  <a:latin typeface="Segoe UI"/>
              </a:defRPr>
            </a:pPr>
            <a:r>
              <a:t>Mekanisme Adisi-Eliminasi Nukleofilik Pembentukan Ikatan Kovalen Hidrazon Stabil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486400" cy="4754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512064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2563EB"/>
                </a:solidFill>
                <a:latin typeface="Segoe UI"/>
              </a:defRPr>
            </a:pPr>
            <a:r>
              <a:t>PERSAMAAN REAKSI IKATAN HIDRAZON</a:t>
            </a:r>
          </a:p>
          <a:p>
            <a:pPr>
              <a:spcAft>
                <a:spcPts val="400"/>
              </a:spcAft>
              <a:defRPr sz="1350" b="1">
                <a:solidFill>
                  <a:srgbClr val="0F1E4A"/>
                </a:solidFill>
                <a:latin typeface="Georgia"/>
              </a:defRPr>
            </a:pPr>
            <a:r>
              <a:t>R-NH-NH2  +  HCHO  --&gt;  R-NH-N=CH2  +  H2O</a:t>
            </a:r>
          </a:p>
          <a:p>
            <a:pPr>
              <a:spcAft>
                <a:spcPts val="150"/>
              </a:spcAft>
            </a:pPr>
            <a:r>
              <a:rPr b="1" sz="850">
                <a:solidFill>
                  <a:srgbClr val="1E3A8A"/>
                </a:solidFill>
                <a:latin typeface="Segoe UI"/>
              </a:rPr>
              <a:t>R-NH-NH2 : </a:t>
            </a:r>
            <a:r>
              <a:rPr sz="850">
                <a:solidFill>
                  <a:srgbClr val="334155"/>
                </a:solidFill>
                <a:latin typeface="Segoe UI"/>
              </a:rPr>
              <a:t>Adipic acid dihydrazide (ADH) dengan gugus hidrazida terminal aktif</a:t>
            </a:r>
          </a:p>
          <a:p>
            <a:pPr>
              <a:spcAft>
                <a:spcPts val="150"/>
              </a:spcAft>
            </a:pPr>
            <a:r>
              <a:rPr b="1" sz="850">
                <a:solidFill>
                  <a:srgbClr val="1E3A8A"/>
                </a:solidFill>
                <a:latin typeface="Segoe UI"/>
              </a:rPr>
              <a:t>HCHO : </a:t>
            </a:r>
            <a:r>
              <a:rPr sz="850">
                <a:solidFill>
                  <a:srgbClr val="334155"/>
                </a:solidFill>
                <a:latin typeface="Segoe UI"/>
              </a:rPr>
              <a:t>Molekul formaldehida bebas (gugus karbonil elektrofilik)</a:t>
            </a:r>
          </a:p>
          <a:p>
            <a:pPr>
              <a:spcAft>
                <a:spcPts val="150"/>
              </a:spcAft>
            </a:pPr>
            <a:r>
              <a:rPr b="1" sz="850">
                <a:solidFill>
                  <a:srgbClr val="1E3A8A"/>
                </a:solidFill>
                <a:latin typeface="Segoe UI"/>
              </a:rPr>
              <a:t>R-NH-N=CH2 : </a:t>
            </a:r>
            <a:r>
              <a:rPr sz="850">
                <a:solidFill>
                  <a:srgbClr val="334155"/>
                </a:solidFill>
                <a:latin typeface="Segoe UI"/>
              </a:rPr>
              <a:t>Ikatan hidrazon kovalen stabil hasil penangkapan formaldehida</a:t>
            </a:r>
          </a:p>
          <a:p>
            <a:pPr>
              <a:spcAft>
                <a:spcPts val="150"/>
              </a:spcAft>
            </a:pPr>
            <a:r>
              <a:rPr b="1" sz="850">
                <a:solidFill>
                  <a:srgbClr val="1E3A8A"/>
                </a:solidFill>
                <a:latin typeface="Segoe UI"/>
              </a:rPr>
              <a:t>H2O : </a:t>
            </a:r>
            <a:r>
              <a:rPr sz="850">
                <a:solidFill>
                  <a:srgbClr val="334155"/>
                </a:solidFill>
                <a:latin typeface="Segoe UI"/>
              </a:rPr>
              <a:t>Molekul air hasil reaksi kondensasi adisi-eliminasi nukleofilik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5120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b="1" sz="950">
                <a:solidFill>
                  <a:srgbClr val="0F1E4A"/>
                </a:solidFill>
                <a:latin typeface="Segoe UI"/>
              </a:defRPr>
            </a:pPr>
            <a:r>
              <a:t>Pengaruh terhadap Transduksi Sensor Magnetik:</a:t>
            </a:r>
          </a:p>
          <a:p>
            <a:pPr>
              <a:defRPr sz="900">
                <a:solidFill>
                  <a:srgbClr val="334155"/>
                </a:solidFill>
                <a:latin typeface="Segoe UI"/>
              </a:defRPr>
            </a:pPr>
            <a:r>
              <a:t>Pembentukan ikatan hidrazon menyebabkan delokalisasi elektron dan perubahan konformasi spasial rantai polimer, mengubah momen dipol magnetik stray nanopartikel Fe3O4 di sekitar sensor TMR.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55664" y="1559337"/>
            <a:ext cx="5010912" cy="44708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babII_ikatan_formal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595913"/>
            <a:ext cx="4937760" cy="43976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09359" y="6030182"/>
            <a:ext cx="53035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00" i="1">
                <a:solidFill>
                  <a:srgbClr val="64748B"/>
                </a:solidFill>
                <a:latin typeface="Segoe UI"/>
              </a:defRPr>
            </a:pPr>
            <a:r>
              <a:t>Gambar II.1 Diagram Reaksi Penangkapan Formaldehida oleh Gugus Hidrazida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419088"/>
            <a:ext cx="1072865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464808"/>
            <a:ext cx="8961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Fahry Rizky Samsudin (1237030018) | Proposal Tugas Akhir Fisika UIN SGD Bandung &amp; Bolabot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0" y="6464808"/>
            <a:ext cx="1584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1E3A8A"/>
                </a:solidFill>
                <a:latin typeface="Segoe UI"/>
              </a:defRPr>
            </a:pPr>
            <a:r>
              <a:t>13 / 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BAB II: TINJAUAN PUSTAKA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50" b="1">
                <a:solidFill>
                  <a:srgbClr val="0F1E4A"/>
                </a:solidFill>
                <a:latin typeface="Segoe UI"/>
              </a:defRPr>
            </a:pPr>
            <a:r>
              <a:t>Landasan Teori II: Fisika Tunneling Magnetoresistance (TMR)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  <a:latin typeface="Segoe UI"/>
              </a:defRPr>
            </a:pPr>
            <a:r>
              <a:t>Fenomena Terowongan Kuantum Spin-Polarized pada Sambungan MgO Terowongan Magnetik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486400" cy="4754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512064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2563EB"/>
                </a:solidFill>
                <a:latin typeface="Segoe UI"/>
              </a:defRPr>
            </a:pPr>
            <a:r>
              <a:t>MODEL TEROWONGAN JULLIERE (RASIO TMR)</a:t>
            </a:r>
          </a:p>
          <a:p>
            <a:pPr>
              <a:spcAft>
                <a:spcPts val="400"/>
              </a:spcAft>
              <a:defRPr sz="1350" b="1">
                <a:solidFill>
                  <a:srgbClr val="0F1E4A"/>
                </a:solidFill>
                <a:latin typeface="Georgia"/>
              </a:defRPr>
            </a:pPr>
            <a:r>
              <a:t>TMR = (R_AP - R_P) / R_P = (2 * P1 * P2) / (1 - P1 * P2)</a:t>
            </a:r>
          </a:p>
          <a:p>
            <a:pPr>
              <a:spcAft>
                <a:spcPts val="150"/>
              </a:spcAft>
            </a:pPr>
            <a:r>
              <a:rPr b="1" sz="850">
                <a:solidFill>
                  <a:srgbClr val="1E3A8A"/>
                </a:solidFill>
                <a:latin typeface="Segoe UI"/>
              </a:rPr>
              <a:t>TMR : </a:t>
            </a:r>
            <a:r>
              <a:rPr sz="850">
                <a:solidFill>
                  <a:srgbClr val="334155"/>
                </a:solidFill>
                <a:latin typeface="Segoe UI"/>
              </a:rPr>
              <a:t>Rasio perubahan resistansi tunneling magnetik (%)</a:t>
            </a:r>
          </a:p>
          <a:p>
            <a:pPr>
              <a:spcAft>
                <a:spcPts val="150"/>
              </a:spcAft>
            </a:pPr>
            <a:r>
              <a:rPr b="1" sz="850">
                <a:solidFill>
                  <a:srgbClr val="1E3A8A"/>
                </a:solidFill>
                <a:latin typeface="Segoe UI"/>
              </a:rPr>
              <a:t>R_AP : </a:t>
            </a:r>
            <a:r>
              <a:rPr sz="850">
                <a:solidFill>
                  <a:srgbClr val="334155"/>
                </a:solidFill>
                <a:latin typeface="Segoe UI"/>
              </a:rPr>
              <a:t>Resistansi sambungan saat orientasi spin elektroda anti-paralel</a:t>
            </a:r>
          </a:p>
          <a:p>
            <a:pPr>
              <a:spcAft>
                <a:spcPts val="150"/>
              </a:spcAft>
            </a:pPr>
            <a:r>
              <a:rPr b="1" sz="850">
                <a:solidFill>
                  <a:srgbClr val="1E3A8A"/>
                </a:solidFill>
                <a:latin typeface="Segoe UI"/>
              </a:rPr>
              <a:t>R_P : </a:t>
            </a:r>
            <a:r>
              <a:rPr sz="850">
                <a:solidFill>
                  <a:srgbClr val="334155"/>
                </a:solidFill>
                <a:latin typeface="Segoe UI"/>
              </a:rPr>
              <a:t>Resistansi sambungan saat orientasi spin elektroda paralel</a:t>
            </a:r>
          </a:p>
          <a:p>
            <a:pPr>
              <a:spcAft>
                <a:spcPts val="150"/>
              </a:spcAft>
            </a:pPr>
            <a:r>
              <a:rPr b="1" sz="850">
                <a:solidFill>
                  <a:srgbClr val="1E3A8A"/>
                </a:solidFill>
                <a:latin typeface="Segoe UI"/>
              </a:rPr>
              <a:t>P1, P2 : </a:t>
            </a:r>
            <a:r>
              <a:rPr sz="850">
                <a:solidFill>
                  <a:srgbClr val="334155"/>
                </a:solidFill>
                <a:latin typeface="Segoe UI"/>
              </a:rPr>
              <a:t>Derajat polarisasi spin elektron pada ferromagnetik 1 dan 2</a:t>
            </a:r>
          </a:p>
          <a:p>
            <a:pPr>
              <a:spcAft>
                <a:spcPts val="150"/>
              </a:spcAft>
            </a:pPr>
            <a:r>
              <a:rPr b="1" sz="850">
                <a:solidFill>
                  <a:srgbClr val="1E3A8A"/>
                </a:solidFill>
                <a:latin typeface="Segoe UI"/>
              </a:rPr>
              <a:t>ALT023-10E : </a:t>
            </a:r>
            <a:r>
              <a:rPr sz="850">
                <a:solidFill>
                  <a:srgbClr val="334155"/>
                </a:solidFill>
                <a:latin typeface="Segoe UI"/>
              </a:rPr>
              <a:t>Sensor jembatan Wheatstone penuh bipolar dengan rentang linear +-1.0 mT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5120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950">
                <a:solidFill>
                  <a:srgbClr val="0F1E4A"/>
                </a:solidFill>
                <a:latin typeface="Segoe UI"/>
              </a:defRPr>
            </a:pPr>
            <a:r>
              <a:t>Spesifikasi Sensor ALT023-10E (NVE Corporation):</a:t>
            </a:r>
          </a:p>
          <a:p>
            <a:pPr>
              <a:lnSpc>
                <a:spcPct val="115000"/>
              </a:lnSpc>
              <a:spcAft>
                <a:spcPts val="350"/>
              </a:spcAft>
            </a:pPr>
            <a:r>
              <a:rPr b="1" sz="900">
                <a:solidFill>
                  <a:srgbClr val="2563EB"/>
                </a:solidFill>
                <a:latin typeface="Segoe UI"/>
              </a:rPr>
              <a:t>• </a:t>
            </a:r>
            <a:r>
              <a:rPr b="1" sz="900">
                <a:solidFill>
                  <a:srgbClr val="0F172A"/>
                </a:solidFill>
                <a:latin typeface="Segoe UI"/>
              </a:rPr>
              <a:t>Tegangan Suplai: </a:t>
            </a:r>
            <a:r>
              <a:rPr sz="900">
                <a:solidFill>
                  <a:srgbClr val="334155"/>
                </a:solidFill>
                <a:latin typeface="Segoe UI"/>
              </a:rPr>
              <a:t>5.0 V DC tunggal dengan kapasitor bypass 100 nF.</a:t>
            </a:r>
          </a:p>
          <a:p>
            <a:pPr>
              <a:lnSpc>
                <a:spcPct val="115000"/>
              </a:lnSpc>
              <a:spcAft>
                <a:spcPts val="350"/>
              </a:spcAft>
            </a:pPr>
            <a:r>
              <a:rPr b="1" sz="900">
                <a:solidFill>
                  <a:srgbClr val="2563EB"/>
                </a:solidFill>
                <a:latin typeface="Segoe UI"/>
              </a:rPr>
              <a:t>• </a:t>
            </a:r>
            <a:r>
              <a:rPr b="1" sz="900">
                <a:solidFill>
                  <a:srgbClr val="0F172A"/>
                </a:solidFill>
                <a:latin typeface="Segoe UI"/>
              </a:rPr>
              <a:t>Resistansi Jembatan: </a:t>
            </a:r>
            <a:r>
              <a:rPr sz="900">
                <a:solidFill>
                  <a:srgbClr val="334155"/>
                </a:solidFill>
                <a:latin typeface="Segoe UI"/>
              </a:rPr>
              <a:t>~20 kOhm per elemen jembatan Wheatstone.</a:t>
            </a:r>
          </a:p>
          <a:p>
            <a:pPr>
              <a:lnSpc>
                <a:spcPct val="115000"/>
              </a:lnSpc>
              <a:spcAft>
                <a:spcPts val="350"/>
              </a:spcAft>
            </a:pPr>
            <a:r>
              <a:rPr b="1" sz="900">
                <a:solidFill>
                  <a:srgbClr val="2563EB"/>
                </a:solidFill>
                <a:latin typeface="Segoe UI"/>
              </a:rPr>
              <a:t>• </a:t>
            </a:r>
            <a:r>
              <a:rPr b="1" sz="900">
                <a:solidFill>
                  <a:srgbClr val="0F172A"/>
                </a:solidFill>
                <a:latin typeface="Segoe UI"/>
              </a:rPr>
              <a:t>Sensitivitas: </a:t>
            </a:r>
            <a:r>
              <a:rPr sz="900">
                <a:solidFill>
                  <a:srgbClr val="334155"/>
                </a:solidFill>
                <a:latin typeface="Segoe UI"/>
              </a:rPr>
              <a:t>Jauh melampaui sensor GMR konvensional pada medan lemah.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6372" y="1380744"/>
            <a:ext cx="4209495" cy="2542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babII_TMR_Lay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2948" y="1417320"/>
            <a:ext cx="4136343" cy="2468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710068" y="3922776"/>
            <a:ext cx="4502103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00" i="1">
                <a:solidFill>
                  <a:srgbClr val="64748B"/>
                </a:solidFill>
                <a:latin typeface="Segoe UI"/>
              </a:defRPr>
            </a:pPr>
            <a:r>
              <a:t>Gambar II.2 Struktur Lapisan Magnetic Tunnel Junction (MTJ)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72984" y="4032504"/>
            <a:ext cx="2176272" cy="21762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babII_ALT0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0" y="4069080"/>
            <a:ext cx="2103120" cy="21031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26680" y="6208776"/>
            <a:ext cx="2468879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00" i="1">
                <a:solidFill>
                  <a:srgbClr val="64748B"/>
                </a:solidFill>
                <a:latin typeface="Segoe UI"/>
              </a:defRPr>
            </a:pPr>
            <a:r>
              <a:t>Gambar II.3 Paket dan Konfigurasi Pin Sensor TMR ALT023-10E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6419088"/>
            <a:ext cx="1072865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6464808"/>
            <a:ext cx="8961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Fahry Rizky Samsudin (1237030018) | Proposal Tugas Akhir Fisika UIN SGD Bandung &amp; Bolabot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0" y="6464808"/>
            <a:ext cx="1584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1E3A8A"/>
                </a:solidFill>
                <a:latin typeface="Segoe UI"/>
              </a:defRPr>
            </a:pPr>
            <a:r>
              <a:t>14 / 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BAB II: TINJAUAN PUSTAKA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50" b="1">
                <a:solidFill>
                  <a:srgbClr val="0F1E4A"/>
                </a:solidFill>
                <a:latin typeface="Segoe UI"/>
              </a:defRPr>
            </a:pPr>
            <a:r>
              <a:t>Landasan Teori III: Kumparan Helmholtz sebagai Medan Acuan Presisi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  <a:latin typeface="Segoe UI"/>
              </a:defRPr>
            </a:pPr>
            <a:r>
              <a:t>Pembangkitan Medan Magnet Homogen Melalui Pasangan Kumparan Koaksial Sejajar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486400" cy="4754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512064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2563EB"/>
                </a:solidFill>
                <a:latin typeface="Segoe UI"/>
              </a:defRPr>
            </a:pPr>
            <a:r>
              <a:t>PERSAMAAN MEDAN MAGNETIK PUSAT HELMHOLTZ</a:t>
            </a:r>
          </a:p>
          <a:p>
            <a:pPr>
              <a:spcAft>
                <a:spcPts val="400"/>
              </a:spcAft>
              <a:defRPr sz="1350" b="1">
                <a:solidFill>
                  <a:srgbClr val="0F1E4A"/>
                </a:solidFill>
                <a:latin typeface="Georgia"/>
              </a:defRPr>
            </a:pPr>
            <a:r>
              <a:t>B(0) = (4/5)^(3/2) * (mu_0 * N * I) / R  ~=  0.7155 * (mu_0 * N * I) / R</a:t>
            </a:r>
          </a:p>
          <a:p>
            <a:pPr>
              <a:spcAft>
                <a:spcPts val="150"/>
              </a:spcAft>
            </a:pPr>
            <a:r>
              <a:rPr b="1" sz="850">
                <a:solidFill>
                  <a:srgbClr val="1E3A8A"/>
                </a:solidFill>
                <a:latin typeface="Segoe UI"/>
              </a:rPr>
              <a:t>B(0) : </a:t>
            </a:r>
            <a:r>
              <a:rPr sz="850">
                <a:solidFill>
                  <a:srgbClr val="334155"/>
                </a:solidFill>
                <a:latin typeface="Segoe UI"/>
              </a:rPr>
              <a:t>Kuat medan magnetik homogen tepat di pusat kumparan (Tesla)</a:t>
            </a:r>
          </a:p>
          <a:p>
            <a:pPr>
              <a:spcAft>
                <a:spcPts val="150"/>
              </a:spcAft>
            </a:pPr>
            <a:r>
              <a:rPr b="1" sz="850">
                <a:solidFill>
                  <a:srgbClr val="1E3A8A"/>
                </a:solidFill>
                <a:latin typeface="Segoe UI"/>
              </a:rPr>
              <a:t>mu_0 : </a:t>
            </a:r>
            <a:r>
              <a:rPr sz="850">
                <a:solidFill>
                  <a:srgbClr val="334155"/>
                </a:solidFill>
                <a:latin typeface="Segoe UI"/>
              </a:rPr>
              <a:t>Permeabilitas magnetik ruang hampa (4*pi * 10^-7 T*m/A)</a:t>
            </a:r>
          </a:p>
          <a:p>
            <a:pPr>
              <a:spcAft>
                <a:spcPts val="150"/>
              </a:spcAft>
            </a:pPr>
            <a:r>
              <a:rPr b="1" sz="850">
                <a:solidFill>
                  <a:srgbClr val="1E3A8A"/>
                </a:solidFill>
                <a:latin typeface="Segoe UI"/>
              </a:rPr>
              <a:t>N : </a:t>
            </a:r>
            <a:r>
              <a:rPr sz="850">
                <a:solidFill>
                  <a:srgbClr val="334155"/>
                </a:solidFill>
                <a:latin typeface="Segoe UI"/>
              </a:rPr>
              <a:t>Jumlah lilitan kawat per kumparan tembaga</a:t>
            </a:r>
          </a:p>
          <a:p>
            <a:pPr>
              <a:spcAft>
                <a:spcPts val="150"/>
              </a:spcAft>
            </a:pPr>
            <a:r>
              <a:rPr b="1" sz="850">
                <a:solidFill>
                  <a:srgbClr val="1E3A8A"/>
                </a:solidFill>
                <a:latin typeface="Segoe UI"/>
              </a:rPr>
              <a:t>I : </a:t>
            </a:r>
            <a:r>
              <a:rPr sz="850">
                <a:solidFill>
                  <a:srgbClr val="334155"/>
                </a:solidFill>
                <a:latin typeface="Segoe UI"/>
              </a:rPr>
              <a:t>Arus listrik DC yang mengalir melintasi kumparan (Ampere)</a:t>
            </a:r>
          </a:p>
          <a:p>
            <a:pPr>
              <a:spcAft>
                <a:spcPts val="150"/>
              </a:spcAft>
            </a:pPr>
            <a:r>
              <a:rPr b="1" sz="850">
                <a:solidFill>
                  <a:srgbClr val="1E3A8A"/>
                </a:solidFill>
                <a:latin typeface="Segoe UI"/>
              </a:rPr>
              <a:t>R : </a:t>
            </a:r>
            <a:r>
              <a:rPr sz="850">
                <a:solidFill>
                  <a:srgbClr val="334155"/>
                </a:solidFill>
                <a:latin typeface="Segoe UI"/>
              </a:rPr>
              <a:t>Jari-jari kumparan dan jarak pemisah antarkumparan (meter)</a:t>
            </a:r>
          </a:p>
          <a:p>
            <a:pPr>
              <a:spcAft>
                <a:spcPts val="150"/>
              </a:spcAft>
            </a:pPr>
            <a:r>
              <a:rPr b="1" sz="850">
                <a:solidFill>
                  <a:srgbClr val="1E3A8A"/>
                </a:solidFill>
                <a:latin typeface="Segoe UI"/>
              </a:rPr>
              <a:t>Kondisi : </a:t>
            </a:r>
            <a:r>
              <a:rPr sz="850">
                <a:solidFill>
                  <a:srgbClr val="334155"/>
                </a:solidFill>
                <a:latin typeface="Segoe UI"/>
              </a:rPr>
              <a:t>Turunan kedua medan d^2B/dz^2 = 0 pada titik pusat (homogen)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417320"/>
            <a:ext cx="493776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20840" y="1600200"/>
            <a:ext cx="4480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1E3A8A"/>
                </a:solidFill>
                <a:latin typeface="Segoe UI"/>
              </a:defRPr>
            </a:pPr>
            <a:r>
              <a:t>GROUND TRUTH FISIK</a:t>
            </a:r>
          </a:p>
          <a:p>
            <a:pPr>
              <a:spcAft>
                <a:spcPts val="400"/>
              </a:spcAft>
              <a:defRPr sz="1150" b="1">
                <a:solidFill>
                  <a:srgbClr val="0F1E4A"/>
                </a:solidFill>
                <a:latin typeface="Segoe UI"/>
              </a:defRPr>
            </a:pPr>
            <a:r>
              <a:t>Spesifikasi Sistem Helmholtz Bolabot</a:t>
            </a:r>
          </a:p>
          <a:p>
            <a:pPr>
              <a:lnSpc>
                <a:spcPct val="115000"/>
              </a:lnSpc>
              <a:spcAft>
                <a:spcPts val="350"/>
              </a:spcAft>
            </a:pPr>
            <a:r>
              <a:rPr b="1" sz="1000">
                <a:solidFill>
                  <a:srgbClr val="2563EB"/>
                </a:solidFill>
                <a:latin typeface="Segoe UI"/>
              </a:rPr>
              <a:t>• </a:t>
            </a:r>
            <a:r>
              <a:rPr b="1" sz="1000">
                <a:solidFill>
                  <a:srgbClr val="0F172A"/>
                </a:solidFill>
                <a:latin typeface="Segoe UI"/>
              </a:rPr>
              <a:t>Catu Daya Variabel: </a:t>
            </a:r>
            <a:r>
              <a:rPr sz="1000">
                <a:solidFill>
                  <a:srgbClr val="334155"/>
                </a:solidFill>
                <a:latin typeface="Segoe UI"/>
              </a:rPr>
              <a:t>Power supply DC 0.0 - 16.0 V dengan pembacaan arus presisi.</a:t>
            </a:r>
          </a:p>
          <a:p>
            <a:pPr>
              <a:lnSpc>
                <a:spcPct val="115000"/>
              </a:lnSpc>
              <a:spcAft>
                <a:spcPts val="350"/>
              </a:spcAft>
            </a:pPr>
            <a:r>
              <a:rPr b="1" sz="1000">
                <a:solidFill>
                  <a:srgbClr val="2563EB"/>
                </a:solidFill>
                <a:latin typeface="Segoe UI"/>
              </a:rPr>
              <a:t>• </a:t>
            </a:r>
            <a:r>
              <a:rPr b="1" sz="1000">
                <a:solidFill>
                  <a:srgbClr val="0F172A"/>
                </a:solidFill>
                <a:latin typeface="Segoe UI"/>
              </a:rPr>
              <a:t>Resistansi Kumparan: </a:t>
            </a:r>
            <a:r>
              <a:rPr sz="1000">
                <a:solidFill>
                  <a:srgbClr val="334155"/>
                </a:solidFill>
                <a:latin typeface="Segoe UI"/>
              </a:rPr>
              <a:t>R kumparan ~10 Ohm, mengalirkan arus maksimal hingga ~1.6 A.</a:t>
            </a:r>
          </a:p>
          <a:p>
            <a:pPr>
              <a:lnSpc>
                <a:spcPct val="115000"/>
              </a:lnSpc>
              <a:spcAft>
                <a:spcPts val="350"/>
              </a:spcAft>
            </a:pPr>
            <a:r>
              <a:rPr b="1" sz="1000">
                <a:solidFill>
                  <a:srgbClr val="2563EB"/>
                </a:solidFill>
                <a:latin typeface="Segoe UI"/>
              </a:rPr>
              <a:t>• </a:t>
            </a:r>
            <a:r>
              <a:rPr b="1" sz="1000">
                <a:solidFill>
                  <a:srgbClr val="0F172A"/>
                </a:solidFill>
                <a:latin typeface="Segoe UI"/>
              </a:rPr>
              <a:t>Rentang Medan Terhasilkan: </a:t>
            </a:r>
            <a:r>
              <a:rPr sz="1000">
                <a:solidFill>
                  <a:srgbClr val="334155"/>
                </a:solidFill>
                <a:latin typeface="Segoe UI"/>
              </a:rPr>
              <a:t>Medan positif 0 - 11.5 mT, dapat dibalik polaritas hingga -4.0 mT.</a:t>
            </a:r>
          </a:p>
          <a:p>
            <a:pPr>
              <a:lnSpc>
                <a:spcPct val="115000"/>
              </a:lnSpc>
              <a:spcAft>
                <a:spcPts val="350"/>
              </a:spcAft>
            </a:pPr>
            <a:r>
              <a:rPr b="1" sz="1000">
                <a:solidFill>
                  <a:srgbClr val="2563EB"/>
                </a:solidFill>
                <a:latin typeface="Segoe UI"/>
              </a:rPr>
              <a:t>• </a:t>
            </a:r>
            <a:r>
              <a:rPr b="1" sz="1000">
                <a:solidFill>
                  <a:srgbClr val="0F172A"/>
                </a:solidFill>
                <a:latin typeface="Segoe UI"/>
              </a:rPr>
              <a:t>Operasi Eksternal: </a:t>
            </a:r>
            <a:r>
              <a:rPr sz="1000">
                <a:solidFill>
                  <a:srgbClr val="334155"/>
                </a:solidFill>
                <a:latin typeface="Segoe UI"/>
              </a:rPr>
              <a:t>Diatur melalui knob fisik laboratorium; GUI mencatat parameter Vhelm, Ihelm, dan Bteslameter sebagai ground truth manual.</a:t>
            </a:r>
          </a:p>
          <a:p>
            <a:pPr>
              <a:lnSpc>
                <a:spcPct val="115000"/>
              </a:lnSpc>
              <a:spcAft>
                <a:spcPts val="350"/>
              </a:spcAft>
            </a:pPr>
            <a:r>
              <a:rPr b="1" sz="1000">
                <a:solidFill>
                  <a:srgbClr val="2563EB"/>
                </a:solidFill>
                <a:latin typeface="Segoe UI"/>
              </a:rPr>
              <a:t>• </a:t>
            </a:r>
            <a:r>
              <a:rPr b="1" sz="1000">
                <a:solidFill>
                  <a:srgbClr val="0F172A"/>
                </a:solidFill>
                <a:latin typeface="Segoe UI"/>
              </a:rPr>
              <a:t>Verifikasi Medan: </a:t>
            </a:r>
            <a:r>
              <a:rPr sz="1000">
                <a:solidFill>
                  <a:srgbClr val="334155"/>
                </a:solidFill>
                <a:latin typeface="Segoe UI"/>
              </a:rPr>
              <a:t>Divalidasi langsung menggunakan teslameter digital bersertifikasi tepat di pusat sumbu z kumparan.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6419088"/>
            <a:ext cx="1072865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464808"/>
            <a:ext cx="8961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Fahry Rizky Samsudin (1237030018) | Proposal Tugas Akhir Fisika UIN SGD Bandung &amp; Bolabot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0" y="6464808"/>
            <a:ext cx="1584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1E3A8A"/>
                </a:solidFill>
                <a:latin typeface="Segoe UI"/>
              </a:defRPr>
            </a:pPr>
            <a:r>
              <a:t>15 / 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BAB II: TINJAUAN PUSTAKA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50" b="1">
                <a:solidFill>
                  <a:srgbClr val="0F1E4A"/>
                </a:solidFill>
                <a:latin typeface="Segoe UI"/>
              </a:defRPr>
            </a:pPr>
            <a:r>
              <a:t>Landasan Teori IV: Pengkondisi Sinyal AD623 &amp; Tegangan Referensi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  <a:latin typeface="Segoe UI"/>
              </a:defRPr>
            </a:pPr>
            <a:r>
              <a:t>Penguat Instrumentasi Presisi Rel-ke-Rel dengan Catu Daya Tunggal +5.0 V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486400" cy="4754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512064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2563EB"/>
                </a:solidFill>
                <a:latin typeface="Segoe UI"/>
              </a:defRPr>
            </a:pPr>
            <a:r>
              <a:t>PERSAMAAN PENGUATAN AD623</a:t>
            </a:r>
          </a:p>
          <a:p>
            <a:pPr>
              <a:spcAft>
                <a:spcPts val="400"/>
              </a:spcAft>
              <a:defRPr sz="1350" b="1">
                <a:solidFill>
                  <a:srgbClr val="0F1E4A"/>
                </a:solidFill>
                <a:latin typeface="Georgia"/>
              </a:defRPr>
            </a:pPr>
            <a:r>
              <a:t>V_out = G * (V_IN+ - V_IN-) + V_REF ,   G = 1 + (100 kOhm / R_G)</a:t>
            </a:r>
          </a:p>
          <a:p>
            <a:pPr>
              <a:spcAft>
                <a:spcPts val="150"/>
              </a:spcAft>
            </a:pPr>
            <a:r>
              <a:rPr b="1" sz="850">
                <a:solidFill>
                  <a:srgbClr val="1E3A8A"/>
                </a:solidFill>
                <a:latin typeface="Segoe UI"/>
              </a:rPr>
              <a:t>V_out : </a:t>
            </a:r>
            <a:r>
              <a:rPr sz="850">
                <a:solidFill>
                  <a:srgbClr val="334155"/>
                </a:solidFill>
                <a:latin typeface="Segoe UI"/>
              </a:rPr>
              <a:t>Tegangan keluaran analog penguat instrumentasi (Volt)</a:t>
            </a:r>
          </a:p>
          <a:p>
            <a:pPr>
              <a:spcAft>
                <a:spcPts val="150"/>
              </a:spcAft>
            </a:pPr>
            <a:r>
              <a:rPr b="1" sz="850">
                <a:solidFill>
                  <a:srgbClr val="1E3A8A"/>
                </a:solidFill>
                <a:latin typeface="Segoe UI"/>
              </a:rPr>
              <a:t>G : </a:t>
            </a:r>
            <a:r>
              <a:rPr sz="850">
                <a:solidFill>
                  <a:srgbClr val="334155"/>
                </a:solidFill>
                <a:latin typeface="Segoe UI"/>
              </a:rPr>
              <a:t>Faktor penguatan diferensial (Gain)</a:t>
            </a:r>
          </a:p>
          <a:p>
            <a:pPr>
              <a:spcAft>
                <a:spcPts val="150"/>
              </a:spcAft>
            </a:pPr>
            <a:r>
              <a:rPr b="1" sz="850">
                <a:solidFill>
                  <a:srgbClr val="1E3A8A"/>
                </a:solidFill>
                <a:latin typeface="Segoe UI"/>
              </a:rPr>
              <a:t>R_G : </a:t>
            </a:r>
            <a:r>
              <a:rPr sz="850">
                <a:solidFill>
                  <a:srgbClr val="334155"/>
                </a:solidFill>
                <a:latin typeface="Segoe UI"/>
              </a:rPr>
              <a:t>Resistor gain eksternal yang terpasang pada pin 1 dan pin 8</a:t>
            </a:r>
          </a:p>
          <a:p>
            <a:pPr>
              <a:spcAft>
                <a:spcPts val="150"/>
              </a:spcAft>
            </a:pPr>
            <a:r>
              <a:rPr b="1" sz="850">
                <a:solidFill>
                  <a:srgbClr val="1E3A8A"/>
                </a:solidFill>
                <a:latin typeface="Segoe UI"/>
              </a:rPr>
              <a:t>V_IN+, V_IN- : </a:t>
            </a:r>
            <a:r>
              <a:rPr sz="850">
                <a:solidFill>
                  <a:srgbClr val="334155"/>
                </a:solidFill>
                <a:latin typeface="Segoe UI"/>
              </a:rPr>
              <a:t>Tegangan masukan diferensial dari jembatan sensor TMR</a:t>
            </a:r>
          </a:p>
          <a:p>
            <a:pPr>
              <a:spcAft>
                <a:spcPts val="150"/>
              </a:spcAft>
            </a:pPr>
            <a:r>
              <a:rPr b="1" sz="850">
                <a:solidFill>
                  <a:srgbClr val="1E3A8A"/>
                </a:solidFill>
                <a:latin typeface="Segoe UI"/>
              </a:rPr>
              <a:t>V_REF : </a:t>
            </a:r>
            <a:r>
              <a:rPr sz="850">
                <a:solidFill>
                  <a:srgbClr val="334155"/>
                </a:solidFill>
                <a:latin typeface="Segoe UI"/>
              </a:rPr>
              <a:t>Tegangan referensi offset pada Pin 5 = 2.50 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5120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950">
                <a:solidFill>
                  <a:srgbClr val="0F1E4A"/>
                </a:solidFill>
                <a:latin typeface="Segoe UI"/>
              </a:defRPr>
            </a:pPr>
            <a:r>
              <a:t>Desain Kritis Tegangan Referensi VREF = 2.50 V:</a:t>
            </a:r>
          </a:p>
          <a:p>
            <a:pPr>
              <a:lnSpc>
                <a:spcPct val="115000"/>
              </a:lnSpc>
              <a:spcAft>
                <a:spcPts val="350"/>
              </a:spcAft>
            </a:pPr>
            <a:r>
              <a:rPr b="1" sz="900">
                <a:solidFill>
                  <a:srgbClr val="2563EB"/>
                </a:solidFill>
                <a:latin typeface="Segoe UI"/>
              </a:rPr>
              <a:t>• </a:t>
            </a:r>
            <a:r>
              <a:rPr b="1" sz="900">
                <a:solidFill>
                  <a:srgbClr val="0F172A"/>
                </a:solidFill>
                <a:latin typeface="Segoe UI"/>
              </a:rPr>
              <a:t>Pembagi Tegangan Resistor: </a:t>
            </a:r>
            <a:r>
              <a:rPr sz="900">
                <a:solidFill>
                  <a:srgbClr val="334155"/>
                </a:solidFill>
                <a:latin typeface="Segoe UI"/>
              </a:rPr>
              <a:t>Resistor presisi R3 = R4 = 1.0 kOhm membagi suplai +5.0 V tepat menjadi VREF = 2.50 V (bukan 1.65 V).</a:t>
            </a:r>
          </a:p>
          <a:p>
            <a:pPr>
              <a:lnSpc>
                <a:spcPct val="115000"/>
              </a:lnSpc>
              <a:spcAft>
                <a:spcPts val="350"/>
              </a:spcAft>
            </a:pPr>
            <a:r>
              <a:rPr b="1" sz="900">
                <a:solidFill>
                  <a:srgbClr val="2563EB"/>
                </a:solidFill>
                <a:latin typeface="Segoe UI"/>
              </a:rPr>
              <a:t>• </a:t>
            </a:r>
            <a:r>
              <a:rPr b="1" sz="900">
                <a:solidFill>
                  <a:srgbClr val="0F172A"/>
                </a:solidFill>
                <a:latin typeface="Segoe UI"/>
              </a:rPr>
              <a:t>Titik Nol Medan (B = 0): </a:t>
            </a:r>
            <a:r>
              <a:rPr sz="900">
                <a:solidFill>
                  <a:srgbClr val="334155"/>
                </a:solidFill>
                <a:latin typeface="Segoe UI"/>
              </a:rPr>
              <a:t>Keluaran bertengger stabil di 2.50 V, memungkinkan pembacaan medan bipolar (+- B) tanpa terpotong rel ground.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55664" y="2232825"/>
            <a:ext cx="5010912" cy="312386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babII_AD623_Pin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269401"/>
            <a:ext cx="4937760" cy="305071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09359" y="5356694"/>
            <a:ext cx="53035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00" i="1">
                <a:solidFill>
                  <a:srgbClr val="64748B"/>
                </a:solidFill>
                <a:latin typeface="Segoe UI"/>
              </a:defRPr>
            </a:pPr>
            <a:r>
              <a:t>Gambar II.4 Konfigurasi Pinout IC Penguat Instrumentasi AD623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419088"/>
            <a:ext cx="1072865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464808"/>
            <a:ext cx="8961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Fahry Rizky Samsudin (1237030018) | Proposal Tugas Akhir Fisika UIN SGD Bandung &amp; Bolabot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0" y="6464808"/>
            <a:ext cx="1584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1E3A8A"/>
                </a:solidFill>
                <a:latin typeface="Segoe UI"/>
              </a:defRPr>
            </a:pPr>
            <a:r>
              <a:t>16 / 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BAB II: TINJAUAN PUSTAKA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50" b="1">
                <a:solidFill>
                  <a:srgbClr val="0F1E4A"/>
                </a:solidFill>
                <a:latin typeface="Segoe UI"/>
              </a:defRPr>
            </a:pPr>
            <a:r>
              <a:t>Landasan Teori V: Filter Pasif Anti-Aliasing (RC LPF) &amp; ADC ADS1115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  <a:latin typeface="Segoe UI"/>
              </a:defRPr>
            </a:pPr>
            <a:r>
              <a:t>Penyaringan Derau Frekuensi Tinggi dan Digitalisasi 16-Bit Beresolusi Tinggi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486400" cy="4754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512064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2563EB"/>
                </a:solidFill>
                <a:latin typeface="Segoe UI"/>
              </a:defRPr>
            </a:pPr>
            <a:r>
              <a:t>FORMULA FREKUENSI CUT-OFF &amp; RESOLUSI LSB</a:t>
            </a:r>
          </a:p>
          <a:p>
            <a:pPr>
              <a:spcAft>
                <a:spcPts val="400"/>
              </a:spcAft>
              <a:defRPr sz="1350" b="1">
                <a:solidFill>
                  <a:srgbClr val="0F1E4A"/>
                </a:solidFill>
                <a:latin typeface="Georgia"/>
              </a:defRPr>
            </a:pPr>
            <a:r>
              <a:t>f_c = 1 / (2*pi * R * C) ,   LSB = FSR / 2^15 = 6.144 V / 32768 = 0.1875 mV</a:t>
            </a:r>
          </a:p>
          <a:p>
            <a:pPr>
              <a:spcAft>
                <a:spcPts val="150"/>
              </a:spcAft>
            </a:pPr>
            <a:r>
              <a:rPr b="1" sz="850">
                <a:solidFill>
                  <a:srgbClr val="1E3A8A"/>
                </a:solidFill>
                <a:latin typeface="Segoe UI"/>
              </a:rPr>
              <a:t>f_c : </a:t>
            </a:r>
            <a:r>
              <a:rPr sz="850">
                <a:solidFill>
                  <a:srgbClr val="334155"/>
                </a:solidFill>
                <a:latin typeface="Segoe UI"/>
              </a:rPr>
              <a:t>Frekuensi batas cut-off filter low pass pasif satu kutub (~15.9 kHz)</a:t>
            </a:r>
          </a:p>
          <a:p>
            <a:pPr>
              <a:spcAft>
                <a:spcPts val="150"/>
              </a:spcAft>
            </a:pPr>
            <a:r>
              <a:rPr b="1" sz="850">
                <a:solidFill>
                  <a:srgbClr val="1E3A8A"/>
                </a:solidFill>
                <a:latin typeface="Segoe UI"/>
              </a:rPr>
              <a:t>R, C : </a:t>
            </a:r>
            <a:r>
              <a:rPr sz="850">
                <a:solidFill>
                  <a:srgbClr val="334155"/>
                </a:solidFill>
                <a:latin typeface="Segoe UI"/>
              </a:rPr>
              <a:t>Resistor filter 1 kOhm dan kapasitor keramik 10 nF (decoupling 100 nF)</a:t>
            </a:r>
          </a:p>
          <a:p>
            <a:pPr>
              <a:spcAft>
                <a:spcPts val="150"/>
              </a:spcAft>
            </a:pPr>
            <a:r>
              <a:rPr b="1" sz="850">
                <a:solidFill>
                  <a:srgbClr val="1E3A8A"/>
                </a:solidFill>
                <a:latin typeface="Segoe UI"/>
              </a:rPr>
              <a:t>LSB : </a:t>
            </a:r>
            <a:r>
              <a:rPr sz="850">
                <a:solidFill>
                  <a:srgbClr val="334155"/>
                </a:solidFill>
                <a:latin typeface="Segoe UI"/>
              </a:rPr>
              <a:t>Resolusi terkecil ADC per hitungan count (0.1875 mV/count)</a:t>
            </a:r>
          </a:p>
          <a:p>
            <a:pPr>
              <a:spcAft>
                <a:spcPts val="150"/>
              </a:spcAft>
            </a:pPr>
            <a:r>
              <a:rPr b="1" sz="850">
                <a:solidFill>
                  <a:srgbClr val="1E3A8A"/>
                </a:solidFill>
                <a:latin typeface="Segoe UI"/>
              </a:rPr>
              <a:t>FSR : </a:t>
            </a:r>
            <a:r>
              <a:rPr sz="850">
                <a:solidFill>
                  <a:srgbClr val="334155"/>
                </a:solidFill>
                <a:latin typeface="Segoe UI"/>
              </a:rPr>
              <a:t>Full-Scale Range ADC pada penguatan GAIN_TWOTHIRDS (+-6.144 V)</a:t>
            </a:r>
          </a:p>
          <a:p>
            <a:pPr>
              <a:spcAft>
                <a:spcPts val="150"/>
              </a:spcAft>
            </a:pPr>
            <a:r>
              <a:rPr b="1" sz="850">
                <a:solidFill>
                  <a:srgbClr val="1E3A8A"/>
                </a:solidFill>
                <a:latin typeface="Segoe UI"/>
              </a:rPr>
              <a:t>Resolusi : </a:t>
            </a:r>
            <a:r>
              <a:rPr sz="850">
                <a:solidFill>
                  <a:srgbClr val="334155"/>
                </a:solidFill>
                <a:latin typeface="Segoe UI"/>
              </a:rPr>
              <a:t>16-Bit konversi diferensial atau single-ended via antarmuka I2C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20624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950">
                <a:solidFill>
                  <a:srgbClr val="0F1E4A"/>
                </a:solidFill>
                <a:latin typeface="Segoe UI"/>
              </a:defRPr>
            </a:pPr>
            <a:r>
              <a:t>Fungsi Proteksi Sinyal:</a:t>
            </a:r>
          </a:p>
          <a:p>
            <a:pPr>
              <a:lnSpc>
                <a:spcPct val="115000"/>
              </a:lnSpc>
              <a:spcAft>
                <a:spcPts val="350"/>
              </a:spcAft>
            </a:pPr>
            <a:r>
              <a:rPr b="1" sz="900">
                <a:solidFill>
                  <a:srgbClr val="2563EB"/>
                </a:solidFill>
                <a:latin typeface="Segoe UI"/>
              </a:rPr>
              <a:t>• </a:t>
            </a:r>
            <a:r>
              <a:rPr b="1" sz="900">
                <a:solidFill>
                  <a:srgbClr val="0F172A"/>
                </a:solidFill>
                <a:latin typeface="Segoe UI"/>
              </a:rPr>
              <a:t>Peredaman Aliasing: </a:t>
            </a:r>
            <a:r>
              <a:rPr sz="900">
                <a:solidFill>
                  <a:srgbClr val="334155"/>
                </a:solidFill>
                <a:latin typeface="Segoe UI"/>
              </a:rPr>
              <a:t>Memotong interferensi derau induksi jala-jala listrik dan switching power supply sebelum sampling ADC.</a:t>
            </a:r>
          </a:p>
          <a:p>
            <a:pPr>
              <a:lnSpc>
                <a:spcPct val="115000"/>
              </a:lnSpc>
              <a:spcAft>
                <a:spcPts val="350"/>
              </a:spcAft>
            </a:pPr>
            <a:r>
              <a:rPr b="1" sz="900">
                <a:solidFill>
                  <a:srgbClr val="2563EB"/>
                </a:solidFill>
                <a:latin typeface="Segoe UI"/>
              </a:rPr>
              <a:t>• </a:t>
            </a:r>
            <a:r>
              <a:rPr b="1" sz="900">
                <a:solidFill>
                  <a:srgbClr val="0F172A"/>
                </a:solidFill>
                <a:latin typeface="Segoe UI"/>
              </a:rPr>
              <a:t>Presisi Konversi: </a:t>
            </a:r>
            <a:r>
              <a:rPr sz="900">
                <a:solidFill>
                  <a:srgbClr val="334155"/>
                </a:solidFill>
                <a:latin typeface="Segoe UI"/>
              </a:rPr>
              <a:t>Menjamin fluktuasi sub-milivolt akibat interaksi formalin terekam akurat tanpa kehilangan informasi.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14252" y="1380744"/>
            <a:ext cx="2293734" cy="22677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babII_LP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0828" y="1417320"/>
            <a:ext cx="2220582" cy="21945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67948" y="3648456"/>
            <a:ext cx="2586342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00" i="1">
                <a:solidFill>
                  <a:srgbClr val="64748B"/>
                </a:solidFill>
                <a:latin typeface="Segoe UI"/>
              </a:defRPr>
            </a:pPr>
            <a:r>
              <a:t>Gambar II.5 Skema Sirkuit Filter RC Low-Pass Pasif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00844" y="3758184"/>
            <a:ext cx="2920551" cy="2450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babII_ADS-1115-c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7420" y="3794760"/>
            <a:ext cx="2847399" cy="23774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354540" y="6208776"/>
            <a:ext cx="3213159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00" i="1">
                <a:solidFill>
                  <a:srgbClr val="64748B"/>
                </a:solidFill>
                <a:latin typeface="Segoe UI"/>
              </a:defRPr>
            </a:pPr>
            <a:r>
              <a:t>Gambar II.6 Modul Konverter Analog-ke-Digital ADS1115 16-Bit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6419088"/>
            <a:ext cx="1072865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6464808"/>
            <a:ext cx="8961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Fahry Rizky Samsudin (1237030018) | Proposal Tugas Akhir Fisika UIN SGD Bandung &amp; Bolabot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0" y="6464808"/>
            <a:ext cx="1584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1E3A8A"/>
                </a:solidFill>
                <a:latin typeface="Segoe UI"/>
              </a:defRPr>
            </a:pPr>
            <a:r>
              <a:t>17 / 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BAB II: TINJAUAN PUSTAKA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50" b="1">
                <a:solidFill>
                  <a:srgbClr val="0F1E4A"/>
                </a:solidFill>
                <a:latin typeface="Segoe UI"/>
              </a:defRPr>
            </a:pPr>
            <a:r>
              <a:t>Landasan Teori VI: Sintesis Hijau Nanopartikel Fe3O4 &amp; Polimer PVA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  <a:latin typeface="Segoe UI"/>
              </a:defRPr>
            </a:pPr>
            <a:r>
              <a:t>Pemanfaatan Ekstrak Daun Kelor (Moringa oleifera) dan Polivinil Alkohol sebagai Carrier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0020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059669"/>
                </a:solidFill>
                <a:latin typeface="Segoe UI"/>
              </a:defRPr>
            </a:pPr>
            <a:r>
              <a:t>GREEN NANOTECHNOLOGY</a:t>
            </a:r>
          </a:p>
          <a:p>
            <a:pPr>
              <a:spcAft>
                <a:spcPts val="400"/>
              </a:spcAft>
              <a:defRPr sz="1150" b="1">
                <a:solidFill>
                  <a:srgbClr val="0F1E4A"/>
                </a:solidFill>
                <a:latin typeface="Segoe UI"/>
              </a:defRPr>
            </a:pPr>
            <a:r>
              <a:t>Sintesis Hijau Fe3O4 Daun Kelor</a:t>
            </a:r>
          </a:p>
          <a:p>
            <a:pPr>
              <a:lnSpc>
                <a:spcPct val="115000"/>
              </a:lnSpc>
              <a:spcAft>
                <a:spcPts val="350"/>
              </a:spcAft>
            </a:pPr>
            <a:r>
              <a:rPr b="1" sz="1000">
                <a:solidFill>
                  <a:srgbClr val="2563EB"/>
                </a:solidFill>
                <a:latin typeface="Segoe UI"/>
              </a:rPr>
              <a:t>• </a:t>
            </a:r>
            <a:r>
              <a:rPr b="1" sz="1000">
                <a:solidFill>
                  <a:srgbClr val="0F172A"/>
                </a:solidFill>
                <a:latin typeface="Segoe UI"/>
              </a:rPr>
              <a:t>Fitokimia Moringa oleifera: </a:t>
            </a:r>
            <a:r>
              <a:rPr sz="1000">
                <a:solidFill>
                  <a:srgbClr val="334155"/>
                </a:solidFill>
                <a:latin typeface="Segoe UI"/>
              </a:rPr>
              <a:t>Ekstrak daun kelor kaya akan senyawa bioaktif polifenol, flavonoid, dan asam askorbat.</a:t>
            </a:r>
          </a:p>
          <a:p>
            <a:pPr>
              <a:lnSpc>
                <a:spcPct val="115000"/>
              </a:lnSpc>
              <a:spcAft>
                <a:spcPts val="350"/>
              </a:spcAft>
            </a:pPr>
            <a:r>
              <a:rPr b="1" sz="1000">
                <a:solidFill>
                  <a:srgbClr val="2563EB"/>
                </a:solidFill>
                <a:latin typeface="Segoe UI"/>
              </a:rPr>
              <a:t>• </a:t>
            </a:r>
            <a:r>
              <a:rPr b="1" sz="1000">
                <a:solidFill>
                  <a:srgbClr val="0F172A"/>
                </a:solidFill>
                <a:latin typeface="Segoe UI"/>
              </a:rPr>
              <a:t>Peran Agen Pereduksi: </a:t>
            </a:r>
            <a:r>
              <a:rPr sz="1000">
                <a:solidFill>
                  <a:srgbClr val="334155"/>
                </a:solidFill>
                <a:latin typeface="Segoe UI"/>
              </a:rPr>
              <a:t>Mereduksi prekursor garam besi (FeCl3 dan FeCl2) secara bertahap menuju kristal magnetit Fe3O4.</a:t>
            </a:r>
          </a:p>
          <a:p>
            <a:pPr>
              <a:lnSpc>
                <a:spcPct val="115000"/>
              </a:lnSpc>
              <a:spcAft>
                <a:spcPts val="350"/>
              </a:spcAft>
            </a:pPr>
            <a:r>
              <a:rPr b="1" sz="1000">
                <a:solidFill>
                  <a:srgbClr val="2563EB"/>
                </a:solidFill>
                <a:latin typeface="Segoe UI"/>
              </a:rPr>
              <a:t>• </a:t>
            </a:r>
            <a:r>
              <a:rPr b="1" sz="1000">
                <a:solidFill>
                  <a:srgbClr val="0F172A"/>
                </a:solidFill>
                <a:latin typeface="Segoe UI"/>
              </a:rPr>
              <a:t>Capping Agent Alami: </a:t>
            </a:r>
            <a:r>
              <a:rPr sz="1000">
                <a:solidFill>
                  <a:srgbClr val="334155"/>
                </a:solidFill>
                <a:latin typeface="Segoe UI"/>
              </a:rPr>
              <a:t>Mencegah aglomerasi partikel secara alami tanpa memerlukan surfaktan sintetis toksik (seperti CTAB atau oleat).</a:t>
            </a:r>
          </a:p>
          <a:p>
            <a:pPr>
              <a:lnSpc>
                <a:spcPct val="115000"/>
              </a:lnSpc>
              <a:spcAft>
                <a:spcPts val="350"/>
              </a:spcAft>
            </a:pPr>
            <a:r>
              <a:rPr b="1" sz="1000">
                <a:solidFill>
                  <a:srgbClr val="2563EB"/>
                </a:solidFill>
                <a:latin typeface="Segoe UI"/>
              </a:rPr>
              <a:t>• </a:t>
            </a:r>
            <a:r>
              <a:rPr b="1" sz="1000">
                <a:solidFill>
                  <a:srgbClr val="0F172A"/>
                </a:solidFill>
                <a:latin typeface="Segoe UI"/>
              </a:rPr>
              <a:t>Karakter Superparamagnetik: </a:t>
            </a:r>
            <a:r>
              <a:rPr sz="1000">
                <a:solidFill>
                  <a:srgbClr val="334155"/>
                </a:solidFill>
                <a:latin typeface="Segoe UI"/>
              </a:rPr>
              <a:t>Menghasilkan suseptibilitas tinggi saat dikenai medan luar dan kembali nol seketika saat medan dihilangkan.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0020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2563EB"/>
                </a:solidFill>
                <a:latin typeface="Segoe UI"/>
              </a:defRPr>
            </a:pPr>
            <a:r>
              <a:t>CARRIER SERAT ELEKTROSPINNING</a:t>
            </a:r>
          </a:p>
          <a:p>
            <a:pPr>
              <a:spcAft>
                <a:spcPts val="400"/>
              </a:spcAft>
              <a:defRPr sz="1150" b="1">
                <a:solidFill>
                  <a:srgbClr val="0F1E4A"/>
                </a:solidFill>
                <a:latin typeface="Segoe UI"/>
              </a:defRPr>
            </a:pPr>
            <a:r>
              <a:t>Matriks Polimer Polivinil Alkohol (PVA)</a:t>
            </a:r>
          </a:p>
          <a:p>
            <a:pPr>
              <a:lnSpc>
                <a:spcPct val="115000"/>
              </a:lnSpc>
              <a:spcAft>
                <a:spcPts val="350"/>
              </a:spcAft>
            </a:pPr>
            <a:r>
              <a:rPr b="1" sz="1000">
                <a:solidFill>
                  <a:srgbClr val="2563EB"/>
                </a:solidFill>
                <a:latin typeface="Segoe UI"/>
              </a:rPr>
              <a:t>• </a:t>
            </a:r>
            <a:r>
              <a:rPr b="1" sz="1000">
                <a:solidFill>
                  <a:srgbClr val="0F172A"/>
                </a:solidFill>
                <a:latin typeface="Segoe UI"/>
              </a:rPr>
              <a:t>Formulasi Optimum 10% wt: </a:t>
            </a:r>
            <a:r>
              <a:rPr sz="1000">
                <a:solidFill>
                  <a:srgbClr val="334155"/>
                </a:solidFill>
                <a:latin typeface="Segoe UI"/>
              </a:rPr>
              <a:t>Konsentrasi 10% wt menghasilkan viskositas sol yang ideal untuk perentangan jet cairan elektrospinning tanpa pembentukan butiran manik-manik (beads-free).</a:t>
            </a:r>
          </a:p>
          <a:p>
            <a:pPr>
              <a:lnSpc>
                <a:spcPct val="115000"/>
              </a:lnSpc>
              <a:spcAft>
                <a:spcPts val="350"/>
              </a:spcAft>
            </a:pPr>
            <a:r>
              <a:rPr b="1" sz="1000">
                <a:solidFill>
                  <a:srgbClr val="2563EB"/>
                </a:solidFill>
                <a:latin typeface="Segoe UI"/>
              </a:rPr>
              <a:t>• </a:t>
            </a:r>
            <a:r>
              <a:rPr b="1" sz="1000">
                <a:solidFill>
                  <a:srgbClr val="0F172A"/>
                </a:solidFill>
                <a:latin typeface="Segoe UI"/>
              </a:rPr>
              <a:t>Struktur Rantai Hidrofilik: </a:t>
            </a:r>
            <a:r>
              <a:rPr sz="1000">
                <a:solidFill>
                  <a:srgbClr val="334155"/>
                </a:solidFill>
                <a:latin typeface="Segoe UI"/>
              </a:rPr>
              <a:t>Memiliki kelimpahan gugus hidroksil (-OH) yang membentuk ikatan hidrogen intermolekul yang kuat.</a:t>
            </a:r>
          </a:p>
          <a:p>
            <a:pPr>
              <a:lnSpc>
                <a:spcPct val="115000"/>
              </a:lnSpc>
              <a:spcAft>
                <a:spcPts val="350"/>
              </a:spcAft>
            </a:pPr>
            <a:r>
              <a:rPr b="1" sz="1000">
                <a:solidFill>
                  <a:srgbClr val="2563EB"/>
                </a:solidFill>
                <a:latin typeface="Segoe UI"/>
              </a:rPr>
              <a:t>• </a:t>
            </a:r>
            <a:r>
              <a:rPr b="1" sz="1000">
                <a:solidFill>
                  <a:srgbClr val="0F172A"/>
                </a:solidFill>
                <a:latin typeface="Segoe UI"/>
              </a:rPr>
              <a:t>Distribusi Homogen: </a:t>
            </a:r>
            <a:r>
              <a:rPr sz="1000">
                <a:solidFill>
                  <a:srgbClr val="334155"/>
                </a:solidFill>
                <a:latin typeface="Segoe UI"/>
              </a:rPr>
              <a:t>Menjaga nanopartikel Fe3O4 dan molekul ADH terdispersi merata di sepanjang diameter poros nanofiber.</a:t>
            </a:r>
          </a:p>
          <a:p>
            <a:pPr>
              <a:lnSpc>
                <a:spcPct val="115000"/>
              </a:lnSpc>
              <a:spcAft>
                <a:spcPts val="350"/>
              </a:spcAft>
            </a:pPr>
            <a:r>
              <a:rPr b="1" sz="1000">
                <a:solidFill>
                  <a:srgbClr val="2563EB"/>
                </a:solidFill>
                <a:latin typeface="Segoe UI"/>
              </a:rPr>
              <a:t>• </a:t>
            </a:r>
            <a:r>
              <a:rPr b="1" sz="1000">
                <a:solidFill>
                  <a:srgbClr val="0F172A"/>
                </a:solidFill>
                <a:latin typeface="Segoe UI"/>
              </a:rPr>
              <a:t>Biokompatibilitas Penuh: </a:t>
            </a:r>
            <a:r>
              <a:rPr sz="1000">
                <a:solidFill>
                  <a:srgbClr val="334155"/>
                </a:solidFill>
                <a:latin typeface="Segoe UI"/>
              </a:rPr>
              <a:t>Aman digunakan dalam analisis sampel bahan pangan konsumsi.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6419088"/>
            <a:ext cx="1072865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464808"/>
            <a:ext cx="8961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Fahry Rizky Samsudin (1237030018) | Proposal Tugas Akhir Fisika UIN SGD Bandung &amp; Bolabot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0" y="6464808"/>
            <a:ext cx="1584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1E3A8A"/>
                </a:solidFill>
                <a:latin typeface="Segoe UI"/>
              </a:defRPr>
            </a:pPr>
            <a:r>
              <a:t>18 / 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BAB II: TINJAUAN PUSTAKA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50" b="1">
                <a:solidFill>
                  <a:srgbClr val="0F1E4A"/>
                </a:solidFill>
                <a:latin typeface="Segoe UI"/>
              </a:defRPr>
            </a:pPr>
            <a:r>
              <a:t>Landasan Teori VII: Crosslinking Asam Sitrat &amp; Enkapsulasi ADH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  <a:latin typeface="Segoe UI"/>
              </a:defRPr>
            </a:pPr>
            <a:r>
              <a:t>Esterifikasi Termal 130 C untuk Ketahanan Air Nanofiber dan Penangkapan Formalin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48640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0020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D97706"/>
                </a:solidFill>
                <a:latin typeface="Segoe UI"/>
              </a:defRPr>
            </a:pPr>
            <a:r>
              <a:t>STABILISASI JARINGAN NANOFIBER</a:t>
            </a:r>
          </a:p>
          <a:p>
            <a:pPr>
              <a:spcAft>
                <a:spcPts val="400"/>
              </a:spcAft>
              <a:defRPr sz="1150" b="1">
                <a:solidFill>
                  <a:srgbClr val="0F1E4A"/>
                </a:solidFill>
                <a:latin typeface="Segoe UI"/>
              </a:defRPr>
            </a:pPr>
            <a:r>
              <a:t>Taut-Silang Asam Sitrat (Curing 130 C)</a:t>
            </a:r>
          </a:p>
          <a:p>
            <a:pPr>
              <a:lnSpc>
                <a:spcPct val="115000"/>
              </a:lnSpc>
              <a:spcAft>
                <a:spcPts val="350"/>
              </a:spcAft>
            </a:pPr>
            <a:r>
              <a:rPr b="1" sz="1000">
                <a:solidFill>
                  <a:srgbClr val="2563EB"/>
                </a:solidFill>
                <a:latin typeface="Segoe UI"/>
              </a:rPr>
              <a:t>• </a:t>
            </a:r>
            <a:r>
              <a:rPr b="1" sz="1000">
                <a:solidFill>
                  <a:srgbClr val="0F172A"/>
                </a:solidFill>
                <a:latin typeface="Segoe UI"/>
              </a:rPr>
              <a:t>Reaksi Esterifikasi Termal: </a:t>
            </a:r>
            <a:r>
              <a:rPr sz="1000">
                <a:solidFill>
                  <a:srgbClr val="334155"/>
                </a:solidFill>
                <a:latin typeface="Segoe UI"/>
              </a:rPr>
              <a:t>Asam sitrat (tri-karboksilat) bereaksi dengan gugus -OH rantai PVA membentuk jembatan ester kovalen.</a:t>
            </a:r>
          </a:p>
          <a:p>
            <a:pPr>
              <a:lnSpc>
                <a:spcPct val="115000"/>
              </a:lnSpc>
              <a:spcAft>
                <a:spcPts val="350"/>
              </a:spcAft>
            </a:pPr>
            <a:r>
              <a:rPr b="1" sz="1000">
                <a:solidFill>
                  <a:srgbClr val="2563EB"/>
                </a:solidFill>
                <a:latin typeface="Segoe UI"/>
              </a:rPr>
              <a:t>• </a:t>
            </a:r>
            <a:r>
              <a:rPr b="1" sz="1000">
                <a:solidFill>
                  <a:srgbClr val="0F172A"/>
                </a:solidFill>
                <a:latin typeface="Segoe UI"/>
              </a:rPr>
              <a:t>Suhu Curing Optimal 130 C: </a:t>
            </a:r>
            <a:r>
              <a:rPr sz="1000">
                <a:solidFill>
                  <a:srgbClr val="334155"/>
                </a:solidFill>
                <a:latin typeface="Segoe UI"/>
              </a:rPr>
              <a:t>Pemanasan selama 1.5 jam pada suhu 130 C memaksimalkan taut-silang tanpa memicu degradasi termal polimer maupun kerusakan gugus ADH.</a:t>
            </a:r>
          </a:p>
          <a:p>
            <a:pPr>
              <a:lnSpc>
                <a:spcPct val="115000"/>
              </a:lnSpc>
              <a:spcAft>
                <a:spcPts val="350"/>
              </a:spcAft>
            </a:pPr>
            <a:r>
              <a:rPr b="1" sz="1000">
                <a:solidFill>
                  <a:srgbClr val="2563EB"/>
                </a:solidFill>
                <a:latin typeface="Segoe UI"/>
              </a:rPr>
              <a:t>• </a:t>
            </a:r>
            <a:r>
              <a:rPr b="1" sz="1000">
                <a:solidFill>
                  <a:srgbClr val="0F172A"/>
                </a:solidFill>
                <a:latin typeface="Segoe UI"/>
              </a:rPr>
              <a:t>Ketahanan Air (Water Insoluble): </a:t>
            </a:r>
            <a:r>
              <a:rPr sz="1000">
                <a:solidFill>
                  <a:srgbClr val="334155"/>
                </a:solidFill>
                <a:latin typeface="Segoe UI"/>
              </a:rPr>
              <a:t>Mengubah film nanofiber menjadi tidak larut saat ditetesi analit cairan bakso, menjaga integritas struktur selama pengukuran.</a:t>
            </a:r>
          </a:p>
          <a:p>
            <a:pPr>
              <a:lnSpc>
                <a:spcPct val="115000"/>
              </a:lnSpc>
              <a:spcAft>
                <a:spcPts val="350"/>
              </a:spcAft>
            </a:pPr>
            <a:r>
              <a:rPr b="1" sz="1000">
                <a:solidFill>
                  <a:srgbClr val="2563EB"/>
                </a:solidFill>
                <a:latin typeface="Segoe UI"/>
              </a:rPr>
              <a:t>• </a:t>
            </a:r>
            <a:r>
              <a:rPr b="1" sz="1000">
                <a:solidFill>
                  <a:srgbClr val="0F172A"/>
                </a:solidFill>
                <a:latin typeface="Segoe UI"/>
              </a:rPr>
              <a:t>Enkapsulasi ADH: </a:t>
            </a:r>
            <a:r>
              <a:rPr sz="1000">
                <a:solidFill>
                  <a:srgbClr val="334155"/>
                </a:solidFill>
                <a:latin typeface="Segoe UI"/>
              </a:rPr>
              <a:t>Dua gugus hidrazida terminal ADH tetap bebas terekspos di permukaan serat, siap mengikat formaldehida secara selektif.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55664" y="2954512"/>
            <a:ext cx="5010912" cy="168049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babII_elspinPV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991088"/>
            <a:ext cx="4937760" cy="160734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09359" y="4635007"/>
            <a:ext cx="53035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00" i="1">
                <a:solidFill>
                  <a:srgbClr val="64748B"/>
                </a:solidFill>
                <a:latin typeface="Segoe UI"/>
              </a:defRPr>
            </a:pPr>
            <a:r>
              <a:t>Gambar II.7 Skema Pembentukan Nanofiber Melalui Metode Elektrospinning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6419088"/>
            <a:ext cx="1072865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464808"/>
            <a:ext cx="8961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Fahry Rizky Samsudin (1237030018) | Proposal Tugas Akhir Fisika UIN SGD Bandung &amp; Bolabot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0" y="6464808"/>
            <a:ext cx="1584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1E3A8A"/>
                </a:solidFill>
                <a:latin typeface="Segoe UI"/>
              </a:defRPr>
            </a:pPr>
            <a:r>
              <a:t>19 / 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BAB II: TINJAUAN PUSTAKA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50" b="1">
                <a:solidFill>
                  <a:srgbClr val="0F1E4A"/>
                </a:solidFill>
                <a:latin typeface="Segoe UI"/>
              </a:defRPr>
            </a:pPr>
            <a:r>
              <a:t>Landasan Teori VIII: Pemodelan Support Vector Machine (SVM)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  <a:latin typeface="Segoe UI"/>
              </a:defRPr>
            </a:pPr>
            <a:r>
              <a:t>Prinsip Hyperplane Margin Maksimal dan Transformasi Kernel Gaussian RBF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486400" cy="4754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512064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2563EB"/>
                </a:solidFill>
                <a:latin typeface="Segoe UI"/>
              </a:defRPr>
            </a:pPr>
            <a:r>
              <a:t>FORMULASI OPTIMASI SVM &amp; KERNEL RBF</a:t>
            </a:r>
          </a:p>
          <a:p>
            <a:pPr>
              <a:spcAft>
                <a:spcPts val="400"/>
              </a:spcAft>
              <a:defRPr sz="1350" b="1">
                <a:solidFill>
                  <a:srgbClr val="0F1E4A"/>
                </a:solidFill>
                <a:latin typeface="Georgia"/>
              </a:defRPr>
            </a:pPr>
            <a:r>
              <a:t>min (1/2 ||w||^2 + C * sum(xi_i)) ,   K(x, x') = exp(-gamma * ||x - x'||^2)</a:t>
            </a:r>
          </a:p>
          <a:p>
            <a:pPr>
              <a:spcAft>
                <a:spcPts val="150"/>
              </a:spcAft>
            </a:pPr>
            <a:r>
              <a:rPr b="1" sz="850">
                <a:solidFill>
                  <a:srgbClr val="1E3A8A"/>
                </a:solidFill>
                <a:latin typeface="Segoe UI"/>
              </a:rPr>
              <a:t>w : </a:t>
            </a:r>
            <a:r>
              <a:rPr sz="850">
                <a:solidFill>
                  <a:srgbClr val="334155"/>
                </a:solidFill>
                <a:latin typeface="Segoe UI"/>
              </a:rPr>
              <a:t>Vektor bobot normal yang mendefinisikan bidang pemisah hyperplane</a:t>
            </a:r>
          </a:p>
          <a:p>
            <a:pPr>
              <a:spcAft>
                <a:spcPts val="150"/>
              </a:spcAft>
            </a:pPr>
            <a:r>
              <a:rPr b="1" sz="850">
                <a:solidFill>
                  <a:srgbClr val="1E3A8A"/>
                </a:solidFill>
                <a:latin typeface="Segoe UI"/>
              </a:rPr>
              <a:t>C : </a:t>
            </a:r>
            <a:r>
              <a:rPr sz="850">
                <a:solidFill>
                  <a:srgbClr val="334155"/>
                </a:solidFill>
                <a:latin typeface="Segoe UI"/>
              </a:rPr>
              <a:t>Parameter regularisasi trade-off antara margin lebar dan toleransi eror</a:t>
            </a:r>
          </a:p>
          <a:p>
            <a:pPr>
              <a:spcAft>
                <a:spcPts val="150"/>
              </a:spcAft>
            </a:pPr>
            <a:r>
              <a:rPr b="1" sz="850">
                <a:solidFill>
                  <a:srgbClr val="1E3A8A"/>
                </a:solidFill>
                <a:latin typeface="Segoe UI"/>
              </a:rPr>
              <a:t>xi_i : </a:t>
            </a:r>
            <a:r>
              <a:rPr sz="850">
                <a:solidFill>
                  <a:srgbClr val="334155"/>
                </a:solidFill>
                <a:latin typeface="Segoe UI"/>
              </a:rPr>
              <a:t>Variabel slack untuk mentoleransi titik data yang melanggar batas margin</a:t>
            </a:r>
          </a:p>
          <a:p>
            <a:pPr>
              <a:spcAft>
                <a:spcPts val="150"/>
              </a:spcAft>
            </a:pPr>
            <a:r>
              <a:rPr b="1" sz="850">
                <a:solidFill>
                  <a:srgbClr val="1E3A8A"/>
                </a:solidFill>
                <a:latin typeface="Segoe UI"/>
              </a:rPr>
              <a:t>K(x, x') : </a:t>
            </a:r>
            <a:r>
              <a:rPr sz="850">
                <a:solidFill>
                  <a:srgbClr val="334155"/>
                </a:solidFill>
                <a:latin typeface="Segoe UI"/>
              </a:rPr>
              <a:t>Kernel Radial Basis Function (RBF) memetakan data ke ruang tak berhingga</a:t>
            </a:r>
          </a:p>
          <a:p>
            <a:pPr>
              <a:spcAft>
                <a:spcPts val="150"/>
              </a:spcAft>
            </a:pPr>
            <a:r>
              <a:rPr b="1" sz="850">
                <a:solidFill>
                  <a:srgbClr val="1E3A8A"/>
                </a:solidFill>
                <a:latin typeface="Segoe UI"/>
              </a:rPr>
              <a:t>gamma : </a:t>
            </a:r>
            <a:r>
              <a:rPr sz="850">
                <a:solidFill>
                  <a:srgbClr val="334155"/>
                </a:solidFill>
                <a:latin typeface="Segoe UI"/>
              </a:rPr>
              <a:t>Parameter invers lebar pengaruh sampel data tunggal (1 / 2*sigma^2)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5120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950">
                <a:solidFill>
                  <a:srgbClr val="0F1E4A"/>
                </a:solidFill>
                <a:latin typeface="Segoe UI"/>
              </a:defRPr>
            </a:pPr>
            <a:r>
              <a:t>Keunggulan &amp; Keterbatasan Model SVM:</a:t>
            </a:r>
          </a:p>
          <a:p>
            <a:pPr>
              <a:lnSpc>
                <a:spcPct val="115000"/>
              </a:lnSpc>
              <a:spcAft>
                <a:spcPts val="350"/>
              </a:spcAft>
            </a:pPr>
            <a:r>
              <a:rPr b="1" sz="900">
                <a:solidFill>
                  <a:srgbClr val="2563EB"/>
                </a:solidFill>
                <a:latin typeface="Segoe UI"/>
              </a:rPr>
              <a:t>• </a:t>
            </a:r>
            <a:r>
              <a:rPr b="1" sz="900">
                <a:solidFill>
                  <a:srgbClr val="0F172A"/>
                </a:solidFill>
                <a:latin typeface="Segoe UI"/>
              </a:rPr>
              <a:t>Keunggulan: </a:t>
            </a:r>
            <a:r>
              <a:rPr sz="900">
                <a:solidFill>
                  <a:srgbClr val="334155"/>
                </a:solidFill>
                <a:latin typeface="Segoe UI"/>
              </a:rPr>
              <a:t>Sangat tangguh pada data berdimensi sedang, kepastian solusi konvergen global optimum.</a:t>
            </a:r>
          </a:p>
          <a:p>
            <a:pPr>
              <a:lnSpc>
                <a:spcPct val="115000"/>
              </a:lnSpc>
              <a:spcAft>
                <a:spcPts val="350"/>
              </a:spcAft>
            </a:pPr>
            <a:r>
              <a:rPr b="1" sz="900">
                <a:solidFill>
                  <a:srgbClr val="2563EB"/>
                </a:solidFill>
                <a:latin typeface="Segoe UI"/>
              </a:rPr>
              <a:t>• </a:t>
            </a:r>
            <a:r>
              <a:rPr b="1" sz="900">
                <a:solidFill>
                  <a:srgbClr val="0F172A"/>
                </a:solidFill>
                <a:latin typeface="Segoe UI"/>
              </a:rPr>
              <a:t>Tantangan: </a:t>
            </a:r>
            <a:r>
              <a:rPr sz="900">
                <a:solidFill>
                  <a:srgbClr val="334155"/>
                </a:solidFill>
                <a:latin typeface="Segoe UI"/>
              </a:rPr>
              <a:t>Penentuan hyperparameter C dan gamma memerlukan pencarian grid search; rentan terhadap derau dinamis non-linear.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417320"/>
            <a:ext cx="493776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20840" y="1600200"/>
            <a:ext cx="4480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2563EB"/>
                </a:solidFill>
                <a:latin typeface="Segoe UI"/>
              </a:defRPr>
            </a:pPr>
            <a:r>
              <a:t>METODOLOGI KLASIK</a:t>
            </a:r>
          </a:p>
          <a:p>
            <a:pPr>
              <a:spcAft>
                <a:spcPts val="400"/>
              </a:spcAft>
              <a:defRPr sz="1150" b="1">
                <a:solidFill>
                  <a:srgbClr val="0F1E4A"/>
                </a:solidFill>
                <a:latin typeface="Segoe UI"/>
              </a:defRPr>
            </a:pPr>
            <a:r>
              <a:t>Arsitektur Klasifikasi Sinyal Sensor</a:t>
            </a:r>
          </a:p>
          <a:p>
            <a:pPr>
              <a:lnSpc>
                <a:spcPct val="115000"/>
              </a:lnSpc>
              <a:spcAft>
                <a:spcPts val="350"/>
              </a:spcAft>
            </a:pPr>
            <a:r>
              <a:rPr b="1" sz="1000">
                <a:solidFill>
                  <a:srgbClr val="2563EB"/>
                </a:solidFill>
                <a:latin typeface="Segoe UI"/>
              </a:rPr>
              <a:t>• </a:t>
            </a:r>
            <a:r>
              <a:rPr b="1" sz="1000">
                <a:solidFill>
                  <a:srgbClr val="0F172A"/>
                </a:solidFill>
                <a:latin typeface="Segoe UI"/>
              </a:rPr>
              <a:t>Input Vektor (5 Fitur): </a:t>
            </a:r>
            <a:r>
              <a:rPr sz="1000">
                <a:solidFill>
                  <a:srgbClr val="334155"/>
                </a:solidFill>
                <a:latin typeface="Segoe UI"/>
              </a:rPr>
              <a:t>Menerima 5 fitur dinamis terstandarisasi: dVmax, respon waktu, slope awal, Vsteady, dan AUC.</a:t>
            </a:r>
          </a:p>
          <a:p>
            <a:pPr>
              <a:lnSpc>
                <a:spcPct val="115000"/>
              </a:lnSpc>
              <a:spcAft>
                <a:spcPts val="350"/>
              </a:spcAft>
            </a:pPr>
            <a:r>
              <a:rPr b="1" sz="1000">
                <a:solidFill>
                  <a:srgbClr val="2563EB"/>
                </a:solidFill>
                <a:latin typeface="Segoe UI"/>
              </a:rPr>
              <a:t>• </a:t>
            </a:r>
            <a:r>
              <a:rPr b="1" sz="1000">
                <a:solidFill>
                  <a:srgbClr val="0F172A"/>
                </a:solidFill>
                <a:latin typeface="Segoe UI"/>
              </a:rPr>
              <a:t>Prapemrosesan Standard Scaler: </a:t>
            </a:r>
            <a:r>
              <a:rPr sz="1000">
                <a:solidFill>
                  <a:srgbClr val="334155"/>
                </a:solidFill>
                <a:latin typeface="Segoe UI"/>
              </a:rPr>
              <a:t>Normalisasi skala nilai z-score agar kontribusi antarfitur seimbang.</a:t>
            </a:r>
          </a:p>
          <a:p>
            <a:pPr>
              <a:lnSpc>
                <a:spcPct val="115000"/>
              </a:lnSpc>
              <a:spcAft>
                <a:spcPts val="350"/>
              </a:spcAft>
            </a:pPr>
            <a:r>
              <a:rPr b="1" sz="1000">
                <a:solidFill>
                  <a:srgbClr val="2563EB"/>
                </a:solidFill>
                <a:latin typeface="Segoe UI"/>
              </a:rPr>
              <a:t>• </a:t>
            </a:r>
            <a:r>
              <a:rPr b="1" sz="1000">
                <a:solidFill>
                  <a:srgbClr val="0F172A"/>
                </a:solidFill>
                <a:latin typeface="Segoe UI"/>
              </a:rPr>
              <a:t>Validasi Silang (5-Fold CV): </a:t>
            </a:r>
            <a:r>
              <a:rPr sz="1000">
                <a:solidFill>
                  <a:srgbClr val="334155"/>
                </a:solidFill>
                <a:latin typeface="Segoe UI"/>
              </a:rPr>
              <a:t>Evaluasi berulang pada 5 subset data acak untuk mencegah overfitting.</a:t>
            </a:r>
          </a:p>
          <a:p>
            <a:pPr>
              <a:lnSpc>
                <a:spcPct val="115000"/>
              </a:lnSpc>
              <a:spcAft>
                <a:spcPts val="350"/>
              </a:spcAft>
            </a:pPr>
            <a:r>
              <a:rPr b="1" sz="1000">
                <a:solidFill>
                  <a:srgbClr val="2563EB"/>
                </a:solidFill>
                <a:latin typeface="Segoe UI"/>
              </a:rPr>
              <a:t>• </a:t>
            </a:r>
            <a:r>
              <a:rPr b="1" sz="1000">
                <a:solidFill>
                  <a:srgbClr val="0F172A"/>
                </a:solidFill>
                <a:latin typeface="Segoe UI"/>
              </a:rPr>
              <a:t>Metrik Penilaian: </a:t>
            </a:r>
            <a:r>
              <a:rPr sz="1000">
                <a:solidFill>
                  <a:srgbClr val="334155"/>
                </a:solidFill>
                <a:latin typeface="Segoe UI"/>
              </a:rPr>
              <a:t>Akurasi, Presisi, Recall, F1-Score, dan matriks konfusi antarkelas formalin.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6419088"/>
            <a:ext cx="1072865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464808"/>
            <a:ext cx="8961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Fahry Rizky Samsudin (1237030018) | Proposal Tugas Akhir Fisika UIN SGD Bandung &amp; Bolabot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0" y="6464808"/>
            <a:ext cx="1584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1E3A8A"/>
                </a:solidFill>
                <a:latin typeface="Segoe UI"/>
              </a:defRPr>
            </a:pPr>
            <a:r>
              <a:t>20 / 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BAB II: TINJAUAN PUSTAKA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50" b="1">
                <a:solidFill>
                  <a:srgbClr val="0F1E4A"/>
                </a:solidFill>
                <a:latin typeface="Segoe UI"/>
              </a:defRPr>
            </a:pPr>
            <a:r>
              <a:t>Landasan Teori IX: Quantum Support Vector Classifier (QSVC)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  <a:latin typeface="Segoe UI"/>
              </a:defRPr>
            </a:pPr>
            <a:r>
              <a:t>Pemetaan Fitur Kuantum ke Ruang Hilbert 2^n Qubit dan Matriks Quantum Kernel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486400" cy="4754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512064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2563EB"/>
                </a:solidFill>
                <a:latin typeface="Segoe UI"/>
              </a:defRPr>
            </a:pPr>
            <a:r>
              <a:t>PEMETAAN KUANTUM &amp; MATRIKS KERNEL KUANTUM</a:t>
            </a:r>
          </a:p>
          <a:p>
            <a:pPr>
              <a:spcAft>
                <a:spcPts val="400"/>
              </a:spcAft>
              <a:defRPr sz="1350" b="1">
                <a:solidFill>
                  <a:srgbClr val="0F1E4A"/>
                </a:solidFill>
                <a:latin typeface="Georgia"/>
              </a:defRPr>
            </a:pPr>
            <a:r>
              <a:t>|psi(x)&gt; = U_Phi(x) |0^n&gt; ,   K_Q(x, x') = |&lt;psi(x') | psi(x)&gt;|^2</a:t>
            </a:r>
          </a:p>
          <a:p>
            <a:pPr>
              <a:spcAft>
                <a:spcPts val="150"/>
              </a:spcAft>
            </a:pPr>
            <a:r>
              <a:rPr b="1" sz="850">
                <a:solidFill>
                  <a:srgbClr val="1E3A8A"/>
                </a:solidFill>
                <a:latin typeface="Segoe UI"/>
              </a:rPr>
              <a:t>|0^n&gt; : </a:t>
            </a:r>
            <a:r>
              <a:rPr sz="850">
                <a:solidFill>
                  <a:srgbClr val="334155"/>
                </a:solidFill>
                <a:latin typeface="Segoe UI"/>
              </a:rPr>
              <a:t>Status awal dasar register n qubit kuantum (|00...0&gt;)</a:t>
            </a:r>
          </a:p>
          <a:p>
            <a:pPr>
              <a:spcAft>
                <a:spcPts val="150"/>
              </a:spcAft>
            </a:pPr>
            <a:r>
              <a:rPr b="1" sz="850">
                <a:solidFill>
                  <a:srgbClr val="1E3A8A"/>
                </a:solidFill>
                <a:latin typeface="Segoe UI"/>
              </a:rPr>
              <a:t>U_Phi(x) : </a:t>
            </a:r>
            <a:r>
              <a:rPr sz="850">
                <a:solidFill>
                  <a:srgbClr val="334155"/>
                </a:solidFill>
                <a:latin typeface="Segoe UI"/>
              </a:rPr>
              <a:t>Operator uniter sirkuit kuantum berparameter (ZZFeatureMap)</a:t>
            </a:r>
          </a:p>
          <a:p>
            <a:pPr>
              <a:spcAft>
                <a:spcPts val="150"/>
              </a:spcAft>
            </a:pPr>
            <a:r>
              <a:rPr b="1" sz="850">
                <a:solidFill>
                  <a:srgbClr val="1E3A8A"/>
                </a:solidFill>
                <a:latin typeface="Segoe UI"/>
              </a:rPr>
              <a:t>|psi(x)&gt; : </a:t>
            </a:r>
            <a:r>
              <a:rPr sz="850">
                <a:solidFill>
                  <a:srgbClr val="334155"/>
                </a:solidFill>
                <a:latin typeface="Segoe UI"/>
              </a:rPr>
              <a:t>Vektor status kuantum ter-entangle di ruang Hilbert berdimensi 2^n</a:t>
            </a:r>
          </a:p>
          <a:p>
            <a:pPr>
              <a:spcAft>
                <a:spcPts val="150"/>
              </a:spcAft>
            </a:pPr>
            <a:r>
              <a:rPr b="1" sz="850">
                <a:solidFill>
                  <a:srgbClr val="1E3A8A"/>
                </a:solidFill>
                <a:latin typeface="Segoe UI"/>
              </a:rPr>
              <a:t>K_Q(x, x') : </a:t>
            </a:r>
            <a:r>
              <a:rPr sz="850">
                <a:solidFill>
                  <a:srgbClr val="334155"/>
                </a:solidFill>
                <a:latin typeface="Segoe UI"/>
              </a:rPr>
              <a:t>Nilai matriks kernel kuantum berdasarkan Quantum State Fidelity</a:t>
            </a:r>
          </a:p>
          <a:p>
            <a:pPr>
              <a:spcAft>
                <a:spcPts val="150"/>
              </a:spcAft>
            </a:pPr>
            <a:r>
              <a:rPr b="1" sz="850">
                <a:solidFill>
                  <a:srgbClr val="1E3A8A"/>
                </a:solidFill>
                <a:latin typeface="Segoe UI"/>
              </a:rPr>
              <a:t>Separasi : </a:t>
            </a:r>
            <a:r>
              <a:rPr sz="850">
                <a:solidFill>
                  <a:srgbClr val="334155"/>
                </a:solidFill>
                <a:latin typeface="Segoe UI"/>
              </a:rPr>
              <a:t>Memisahkan pola korelasi non-linear yang tidak terurai oleh kernel klasik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92240" y="1417320"/>
          <a:ext cx="493776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</a:tblGrid>
              <a:tr h="792480"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Fitur Pembanding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SVM Klasik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QSVC Kuantum (Qiskit)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Ruang Pemetaan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Ruang Euclidean berdimensi tinggi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Ruang Hilbert berdimensi 2^n qubit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Transformasi Fitur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Fungsi matematika RBF Gauss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Sirkuit kuantum uniter &amp; keterikatan (entanglement)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Kalkulasi Kernel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Jarak kuadratik numerik ||x - x'||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Transisi probabilitas fidelitas status kuantum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Ketahanan Derau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Sensitif terhadap fluktuasi sinyal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Terbukti lebih resilien terhadap noise gaussian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Lingkungan Eksekusi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Scikit-Learn (CPU)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Qiskit Aer Statevector Simulator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31520" y="6419088"/>
            <a:ext cx="1072865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464808"/>
            <a:ext cx="8961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Fahry Rizky Samsudin (1237030018) | Proposal Tugas Akhir Fisika UIN SGD Bandung &amp; Bolabot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0" y="6464808"/>
            <a:ext cx="1584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1E3A8A"/>
                </a:solidFill>
                <a:latin typeface="Segoe UI"/>
              </a:defRPr>
            </a:pPr>
            <a:r>
              <a:t>21 / 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BAB III: METODE PENELITIAN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50" b="1">
                <a:solidFill>
                  <a:srgbClr val="0F1E4A"/>
                </a:solidFill>
                <a:latin typeface="Segoe UI"/>
              </a:defRPr>
            </a:pPr>
            <a:r>
              <a:t>Waktu, Tempat, dan Spesifikasi Alat &amp; Bahan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  <a:latin typeface="Segoe UI"/>
              </a:defRPr>
            </a:pPr>
            <a:r>
              <a:t>Pelaksanaan Riset di Bolabot Techno Robotic Institute (September - Desember 2026)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10728655" cy="8686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481328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50">
                <a:solidFill>
                  <a:srgbClr val="0F1E4A"/>
                </a:solidFill>
                <a:latin typeface="Segoe UI"/>
              </a:defRPr>
            </a:pPr>
            <a:r>
              <a:t>Waktu Pelaksanaan : September 2026 - Desember 2026 (Durasi 4 Bulan Efektif)</a:t>
            </a:r>
          </a:p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Tempat Riset       : Kantor Bolabot Techno Robotic Institute, Jl. Sauyunan VI No. 10 Blok F6, Bandung, Jawa Barat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2423160"/>
          <a:ext cx="10728655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743200"/>
                <a:gridCol w="3291840"/>
                <a:gridCol w="3047695"/>
              </a:tblGrid>
              <a:tr h="480060"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Kategori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Item / Instrumen Spesifik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Spesifikasi / Parameter Teknis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Fungsi Utama dalam Riset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Hardware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Sensor TMR ALT023-10E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Bipolar bridge, linear +-1.0 mT, Vcc 5V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Transduser medan magnetik distorsi formalin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Hardware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In-Amp AD623 &amp; ADS1115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Catu 5V, VREF 2.50V, ADC 16-Bit I2C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Pengkondisi sinyal &amp; digitalisasi presisi tinggi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Hardware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Kumparan Helmholtz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R ~10 Ohm, 0 - 16 V DC, 0 - 11.5 mT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Pembangkit medan magnet acuan homogen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Hardware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Sistem Mikrokontroler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Arduino Uno R3 &amp; Raspberry Pi 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Akuisisi serial &amp; stasiun komputasi ML edge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Kimia / Bahan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Ekstrak Daun Kelor &amp; Besi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Moringa oleifera, FeCl3 &amp; FeCl2 (2:1)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Green synthesis nanopartikel superparamagnetik Fe3O4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Kimia / Bahan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Polimer PVA, Sitrat, ADH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PVA 10% wt, Asam Sitrat, ADH 98%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Matriks nanofiber elektrospinning selektif formalin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Sampel Uji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Formalin &amp; Sampel Bakso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Standar HCHO 37% &amp; Bakso Pasar Riil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Pembuatan kurva kalibrasi &amp; validasi klasifikasi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31520" y="6419088"/>
            <a:ext cx="1072865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464808"/>
            <a:ext cx="8961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Fahry Rizky Samsudin (1237030018) | Proposal Tugas Akhir Fisika UIN SGD Bandung &amp; Bolabot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0" y="6464808"/>
            <a:ext cx="1584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1E3A8A"/>
                </a:solidFill>
                <a:latin typeface="Segoe UI"/>
              </a:defRPr>
            </a:pPr>
            <a:r>
              <a:t>22 / 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BAB III: METODE PENELITIAN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50" b="1">
                <a:solidFill>
                  <a:srgbClr val="0F1E4A"/>
                </a:solidFill>
                <a:latin typeface="Segoe UI"/>
              </a:defRPr>
            </a:pPr>
            <a:r>
              <a:t>Diagram Alir Penelitian Komprehensif (6 Tahapan Utama)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  <a:latin typeface="Segoe UI"/>
              </a:defRPr>
            </a:pPr>
            <a:r>
              <a:t>Alur Kerja Menyeluruh dari Perancangan Desain hingga Evaluasi Komparasi Model Cerdas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0020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1E3A8A"/>
                </a:solidFill>
                <a:latin typeface="Segoe UI"/>
              </a:defRPr>
            </a:pPr>
            <a:r>
              <a:t>ALUR KERJA SISTEMATIS</a:t>
            </a:r>
          </a:p>
          <a:p>
            <a:pPr>
              <a:spcAft>
                <a:spcPts val="400"/>
              </a:spcAft>
              <a:defRPr sz="1150" b="1">
                <a:solidFill>
                  <a:srgbClr val="0F1E4A"/>
                </a:solidFill>
                <a:latin typeface="Segoe UI"/>
              </a:defRPr>
            </a:pPr>
            <a:r>
              <a:t>6 Tahapan Eksekusi Riset</a:t>
            </a:r>
          </a:p>
          <a:p>
            <a:pPr>
              <a:lnSpc>
                <a:spcPct val="115000"/>
              </a:lnSpc>
              <a:spcAft>
                <a:spcPts val="350"/>
              </a:spcAft>
            </a:pPr>
            <a:r>
              <a:rPr b="1" sz="950">
                <a:solidFill>
                  <a:srgbClr val="2563EB"/>
                </a:solidFill>
                <a:latin typeface="Segoe UI"/>
              </a:rPr>
              <a:t>• </a:t>
            </a:r>
            <a:r>
              <a:rPr b="1" sz="950">
                <a:solidFill>
                  <a:srgbClr val="0F172A"/>
                </a:solidFill>
                <a:latin typeface="Segoe UI"/>
              </a:rPr>
              <a:t>Tahap 1: Desain &amp; Fabrikasi Hardware </a:t>
            </a:r>
            <a:r>
              <a:rPr sz="950">
                <a:solidFill>
                  <a:srgbClr val="334155"/>
                </a:solidFill>
                <a:latin typeface="Segoe UI"/>
              </a:rPr>
              <a:t>Perancangan skematik terisolasi grounding, perakitan AD623-ADS1115, dan cetak 3D casing.</a:t>
            </a:r>
          </a:p>
          <a:p>
            <a:pPr>
              <a:lnSpc>
                <a:spcPct val="115000"/>
              </a:lnSpc>
              <a:spcAft>
                <a:spcPts val="350"/>
              </a:spcAft>
            </a:pPr>
            <a:r>
              <a:rPr b="1" sz="950">
                <a:solidFill>
                  <a:srgbClr val="2563EB"/>
                </a:solidFill>
                <a:latin typeface="Segoe UI"/>
              </a:rPr>
              <a:t>• </a:t>
            </a:r>
            <a:r>
              <a:rPr b="1" sz="950">
                <a:solidFill>
                  <a:srgbClr val="0F172A"/>
                </a:solidFill>
                <a:latin typeface="Segoe UI"/>
              </a:rPr>
              <a:t>Tahap 2: Sintesis Nanomaterial </a:t>
            </a:r>
            <a:r>
              <a:rPr sz="950">
                <a:solidFill>
                  <a:srgbClr val="334155"/>
                </a:solidFill>
                <a:latin typeface="Segoe UI"/>
              </a:rPr>
              <a:t>Ekstraksi kelor, kopresipitasi Fe3O4, elektrospinning sol PVA-sitrat-ADH, curing 130 C.</a:t>
            </a:r>
          </a:p>
          <a:p>
            <a:pPr>
              <a:lnSpc>
                <a:spcPct val="115000"/>
              </a:lnSpc>
              <a:spcAft>
                <a:spcPts val="350"/>
              </a:spcAft>
            </a:pPr>
            <a:r>
              <a:rPr b="1" sz="950">
                <a:solidFill>
                  <a:srgbClr val="2563EB"/>
                </a:solidFill>
                <a:latin typeface="Segoe UI"/>
              </a:rPr>
              <a:t>• </a:t>
            </a:r>
            <a:r>
              <a:rPr b="1" sz="950">
                <a:solidFill>
                  <a:srgbClr val="0F172A"/>
                </a:solidFill>
                <a:latin typeface="Segoe UI"/>
              </a:rPr>
              <a:t>Tahap 3: Karakterisasi &amp; Kalibrasi </a:t>
            </a:r>
            <a:r>
              <a:rPr sz="950">
                <a:solidFill>
                  <a:srgbClr val="334155"/>
                </a:solidFill>
                <a:latin typeface="Segoe UI"/>
              </a:rPr>
              <a:t>Kalibrasi medan Helmholtz dengan teslameter, uji kurva dV/dB sensor TMR.</a:t>
            </a:r>
          </a:p>
          <a:p>
            <a:pPr>
              <a:lnSpc>
                <a:spcPct val="115000"/>
              </a:lnSpc>
              <a:spcAft>
                <a:spcPts val="350"/>
              </a:spcAft>
            </a:pPr>
            <a:r>
              <a:rPr b="1" sz="950">
                <a:solidFill>
                  <a:srgbClr val="2563EB"/>
                </a:solidFill>
                <a:latin typeface="Segoe UI"/>
              </a:rPr>
              <a:t>• </a:t>
            </a:r>
            <a:r>
              <a:rPr b="1" sz="950">
                <a:solidFill>
                  <a:srgbClr val="0F172A"/>
                </a:solidFill>
                <a:latin typeface="Segoe UI"/>
              </a:rPr>
              <a:t>Tahap 4: Pengujian Sampel Bakso </a:t>
            </a:r>
            <a:r>
              <a:rPr sz="950">
                <a:solidFill>
                  <a:srgbClr val="334155"/>
                </a:solidFill>
                <a:latin typeface="Segoe UI"/>
              </a:rPr>
              <a:t>Maserasi bakso, sentrifugasi 4000 rpm 10 min, perekaman sinyal dinamis 5 detik.</a:t>
            </a:r>
          </a:p>
          <a:p>
            <a:pPr>
              <a:lnSpc>
                <a:spcPct val="115000"/>
              </a:lnSpc>
              <a:spcAft>
                <a:spcPts val="350"/>
              </a:spcAft>
            </a:pPr>
            <a:r>
              <a:rPr b="1" sz="950">
                <a:solidFill>
                  <a:srgbClr val="2563EB"/>
                </a:solidFill>
                <a:latin typeface="Segoe UI"/>
              </a:rPr>
              <a:t>• </a:t>
            </a:r>
            <a:r>
              <a:rPr b="1" sz="950">
                <a:solidFill>
                  <a:srgbClr val="0F172A"/>
                </a:solidFill>
                <a:latin typeface="Segoe UI"/>
              </a:rPr>
              <a:t>Tahap 5: Ekstraksi Fitur &amp; Pelatihan ML </a:t>
            </a:r>
            <a:r>
              <a:rPr sz="950">
                <a:solidFill>
                  <a:srgbClr val="334155"/>
                </a:solidFill>
                <a:latin typeface="Segoe UI"/>
              </a:rPr>
              <a:t>Ekstraksi 5 fitur dinamis, 5-Fold Cross Validation komparasi SVM dan QSVC.</a:t>
            </a:r>
          </a:p>
          <a:p>
            <a:pPr>
              <a:lnSpc>
                <a:spcPct val="115000"/>
              </a:lnSpc>
              <a:spcAft>
                <a:spcPts val="350"/>
              </a:spcAft>
            </a:pPr>
            <a:r>
              <a:rPr b="1" sz="950">
                <a:solidFill>
                  <a:srgbClr val="2563EB"/>
                </a:solidFill>
                <a:latin typeface="Segoe UI"/>
              </a:rPr>
              <a:t>• </a:t>
            </a:r>
            <a:r>
              <a:rPr b="1" sz="950">
                <a:solidFill>
                  <a:srgbClr val="0F172A"/>
                </a:solidFill>
                <a:latin typeface="Segoe UI"/>
              </a:rPr>
              <a:t>Tahap 6: Evaluasi &amp; Deployment </a:t>
            </a:r>
            <a:r>
              <a:rPr sz="950">
                <a:solidFill>
                  <a:srgbClr val="334155"/>
                </a:solidFill>
                <a:latin typeface="Segoe UI"/>
              </a:rPr>
              <a:t>Analisis akurasi, uji ketahanan derau, ekspor model .pkl ke Raspberry Pi 5.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84617" y="1380744"/>
            <a:ext cx="2678685" cy="4828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BABIII_DiagramAlirPenelitian.draw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1193" y="1417320"/>
            <a:ext cx="2605533" cy="4754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38313" y="6208776"/>
            <a:ext cx="2971293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00" i="1">
                <a:solidFill>
                  <a:srgbClr val="64748B"/>
                </a:solidFill>
                <a:latin typeface="Segoe UI"/>
              </a:defRPr>
            </a:pPr>
            <a:r>
              <a:t>Gambar III.1 Diagram Alir Metodologi Penelitian Tugas Akhir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6419088"/>
            <a:ext cx="1072865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464808"/>
            <a:ext cx="8961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Fahry Rizky Samsudin (1237030018) | Proposal Tugas Akhir Fisika UIN SGD Bandung &amp; Bolabot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0" y="6464808"/>
            <a:ext cx="1584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1E3A8A"/>
                </a:solidFill>
                <a:latin typeface="Segoe UI"/>
              </a:defRPr>
            </a:pPr>
            <a:r>
              <a:t>23 / 30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BAB III: METODE PENELITIAN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50" b="1">
                <a:solidFill>
                  <a:srgbClr val="0F1E4A"/>
                </a:solidFill>
                <a:latin typeface="Segoe UI"/>
              </a:defRPr>
            </a:pPr>
            <a:r>
              <a:t>Desain Hardware, Casing 3D &amp; Skematik Sirkuit Presisi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  <a:latin typeface="Segoe UI"/>
              </a:defRPr>
            </a:pPr>
            <a:r>
              <a:t>Pengondisi Sinyal AD623, Isolasi Grounding Bintang, dan Housing Statif Non-Magnetik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94944" y="2400164"/>
            <a:ext cx="5559552" cy="278919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abIII_skematik_TMR_grounding_f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436740"/>
            <a:ext cx="5486400" cy="271603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189355"/>
            <a:ext cx="58521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00" i="1">
                <a:solidFill>
                  <a:srgbClr val="64748B"/>
                </a:solidFill>
                <a:latin typeface="Segoe UI"/>
              </a:defRPr>
            </a:pPr>
            <a:r>
              <a:t>Gambar III.2 Skematik Sirkuit Terintegrasi TMR, AD623, Filter RC, dan ADS1115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84364" y="1380744"/>
            <a:ext cx="2953512" cy="2542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babIII_Desainnn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0940" y="1417320"/>
            <a:ext cx="2880360" cy="2468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38060" y="3922776"/>
            <a:ext cx="32461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00" i="1">
                <a:solidFill>
                  <a:srgbClr val="64748B"/>
                </a:solidFill>
                <a:latin typeface="Segoe UI"/>
              </a:defRPr>
            </a:pPr>
            <a:r>
              <a:t>Gambar III.3 Desain 3D Housing Sensor dan Dudukan Kaca Preparat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4069080"/>
            <a:ext cx="4937760" cy="2103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4160520"/>
            <a:ext cx="4572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2563EB"/>
                </a:solidFill>
                <a:latin typeface="Segoe UI"/>
              </a:defRPr>
            </a:pPr>
            <a:r>
              <a:t>INTEGRITAS SINYAL</a:t>
            </a:r>
          </a:p>
          <a:p>
            <a:pPr>
              <a:spcAft>
                <a:spcPts val="400"/>
              </a:spcAft>
              <a:defRPr sz="1150" b="1">
                <a:solidFill>
                  <a:srgbClr val="0F1E4A"/>
                </a:solidFill>
                <a:latin typeface="Segoe UI"/>
              </a:defRPr>
            </a:pPr>
            <a:r>
              <a:t>Fitur Desain Fisik &amp; Proteksi Derau</a:t>
            </a:r>
          </a:p>
          <a:p>
            <a:pPr>
              <a:lnSpc>
                <a:spcPct val="115000"/>
              </a:lnSpc>
              <a:spcAft>
                <a:spcPts val="350"/>
              </a:spcAft>
            </a:pPr>
            <a:r>
              <a:rPr b="1" sz="900">
                <a:solidFill>
                  <a:srgbClr val="2563EB"/>
                </a:solidFill>
                <a:latin typeface="Segoe UI"/>
              </a:rPr>
              <a:t>• </a:t>
            </a:r>
            <a:r>
              <a:rPr b="1" sz="900">
                <a:solidFill>
                  <a:srgbClr val="0F172A"/>
                </a:solidFill>
                <a:latin typeface="Segoe UI"/>
              </a:rPr>
              <a:t>Bintang Grounding (Star Topology): </a:t>
            </a:r>
            <a:r>
              <a:rPr sz="900">
                <a:solidFill>
                  <a:srgbClr val="334155"/>
                </a:solidFill>
                <a:latin typeface="Segoe UI"/>
              </a:rPr>
              <a:t>Pemisahan jalur ground analog dan digital untuk meniadakan ground loop.</a:t>
            </a:r>
          </a:p>
          <a:p>
            <a:pPr>
              <a:lnSpc>
                <a:spcPct val="115000"/>
              </a:lnSpc>
              <a:spcAft>
                <a:spcPts val="350"/>
              </a:spcAft>
            </a:pPr>
            <a:r>
              <a:rPr b="1" sz="900">
                <a:solidFill>
                  <a:srgbClr val="2563EB"/>
                </a:solidFill>
                <a:latin typeface="Segoe UI"/>
              </a:rPr>
              <a:t>• </a:t>
            </a:r>
            <a:r>
              <a:rPr b="1" sz="900">
                <a:solidFill>
                  <a:srgbClr val="0F172A"/>
                </a:solidFill>
                <a:latin typeface="Segoe UI"/>
              </a:rPr>
              <a:t>Material Non-Magnetik: </a:t>
            </a:r>
            <a:r>
              <a:rPr sz="900">
                <a:solidFill>
                  <a:srgbClr val="334155"/>
                </a:solidFill>
                <a:latin typeface="Segoe UI"/>
              </a:rPr>
              <a:t>Housing sensor dan statif menggunakan filament PLA dan akrilik murni.</a:t>
            </a:r>
          </a:p>
          <a:p>
            <a:pPr>
              <a:lnSpc>
                <a:spcPct val="115000"/>
              </a:lnSpc>
              <a:spcAft>
                <a:spcPts val="350"/>
              </a:spcAft>
            </a:pPr>
            <a:r>
              <a:rPr b="1" sz="900">
                <a:solidFill>
                  <a:srgbClr val="2563EB"/>
                </a:solidFill>
                <a:latin typeface="Segoe UI"/>
              </a:rPr>
              <a:t>• </a:t>
            </a:r>
            <a:r>
              <a:rPr b="1" sz="900">
                <a:solidFill>
                  <a:srgbClr val="0F172A"/>
                </a:solidFill>
                <a:latin typeface="Segoe UI"/>
              </a:rPr>
              <a:t>Presisi Posisi: </a:t>
            </a:r>
            <a:r>
              <a:rPr sz="900">
                <a:solidFill>
                  <a:srgbClr val="334155"/>
                </a:solidFill>
                <a:latin typeface="Segoe UI"/>
              </a:rPr>
              <a:t>Memastikan sensor TMR berada tepat di pusat medan homogen Helmholtz.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419088"/>
            <a:ext cx="1072865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6464808"/>
            <a:ext cx="8961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Fahry Rizky Samsudin (1237030018) | Proposal Tugas Akhir Fisika UIN SGD Bandung &amp; Bolabot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6464808"/>
            <a:ext cx="1584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1E3A8A"/>
                </a:solidFill>
                <a:latin typeface="Segoe UI"/>
              </a:defRPr>
            </a:pPr>
            <a:r>
              <a:t>24 / 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BAB III: METODE PENELITIAN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50" b="1">
                <a:solidFill>
                  <a:srgbClr val="0F1E4A"/>
                </a:solidFill>
                <a:latin typeface="Segoe UI"/>
              </a:defRPr>
            </a:pPr>
            <a:r>
              <a:t>Arsitektur Perangkat Lunak: Arduino Uno &amp; GUI Python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  <a:latin typeface="Segoe UI"/>
              </a:defRPr>
            </a:pPr>
            <a:r>
              <a:t>Firmware Streaming Serial dan Antarmuka CustomTkinter Berbasis Durasi Waktu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698293" y="1380744"/>
            <a:ext cx="1187093" cy="4828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abIII_AlurSoftwareArduino.draw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4869" y="1417320"/>
            <a:ext cx="1113941" cy="4754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551989" y="6208776"/>
            <a:ext cx="1479701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00" i="1">
                <a:solidFill>
                  <a:srgbClr val="64748B"/>
                </a:solidFill>
                <a:latin typeface="Segoe UI"/>
              </a:defRPr>
            </a:pPr>
            <a:r>
              <a:t>Gambar III.4 Diagram Alir Firmware Mikrokontroler Arduino Uno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61538" y="1380744"/>
            <a:ext cx="3524842" cy="4828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babIII_DiagramAlirPython.draw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8114" y="1417320"/>
            <a:ext cx="3451690" cy="4754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915234" y="6208776"/>
            <a:ext cx="381745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00" i="1">
                <a:solidFill>
                  <a:srgbClr val="64748B"/>
                </a:solidFill>
                <a:latin typeface="Segoe UI"/>
              </a:defRPr>
            </a:pPr>
            <a:r>
              <a:t>Gambar III.5 Diagram Alir Aplikasi GUI Python TMRAcquisitionApp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419088"/>
            <a:ext cx="1072865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464808"/>
            <a:ext cx="8961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Fahry Rizky Samsudin (1237030018) | Proposal Tugas Akhir Fisika UIN SGD Bandung &amp; Bolabot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0" y="6464808"/>
            <a:ext cx="1584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1E3A8A"/>
                </a:solidFill>
                <a:latin typeface="Segoe UI"/>
              </a:defRPr>
            </a:pPr>
            <a:r>
              <a:t>25 / 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BAB III: METODE PENELITIAN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50" b="1">
                <a:solidFill>
                  <a:srgbClr val="0F1E4A"/>
                </a:solidFill>
                <a:latin typeface="Segoe UI"/>
              </a:defRPr>
            </a:pPr>
            <a:r>
              <a:t>Sintesis Hijau Fe3O4 &amp; Fabrikasi Nanofiber Elektrospinning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  <a:latin typeface="Segoe UI"/>
              </a:defRPr>
            </a:pPr>
            <a:r>
              <a:t>Prosedur Ekstraksi Kelor, Sol Polimer, Parameter Pemintalan Elektrik, dan Curing 130 C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61743" y="1380744"/>
            <a:ext cx="3243072" cy="4828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abIII_DiagramAlirSintesis.draw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320" y="1417320"/>
            <a:ext cx="3169920" cy="4754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615440" y="6208776"/>
            <a:ext cx="35356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00" i="1">
                <a:solidFill>
                  <a:srgbClr val="64748B"/>
                </a:solidFill>
                <a:latin typeface="Segoe UI"/>
              </a:defRPr>
            </a:pPr>
            <a:r>
              <a:t>Gambar III.6 Diagram Alir Prosedur Kimia Sintesis Nanofiber Fe3O4/PVA-Sitrat-ADH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417320"/>
            <a:ext cx="505937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60020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059669"/>
                </a:solidFill>
                <a:latin typeface="Segoe UI"/>
              </a:defRPr>
            </a:pPr>
            <a:r>
              <a:t>PROTOKOL SINTESIS &amp; FABRIKASI</a:t>
            </a:r>
          </a:p>
          <a:p>
            <a:pPr>
              <a:spcAft>
                <a:spcPts val="400"/>
              </a:spcAft>
              <a:defRPr sz="1150" b="1">
                <a:solidFill>
                  <a:srgbClr val="0F1E4A"/>
                </a:solidFill>
                <a:latin typeface="Segoe UI"/>
              </a:defRPr>
            </a:pPr>
            <a:r>
              <a:t>Parameter Optimal Laboratorium</a:t>
            </a:r>
          </a:p>
          <a:p>
            <a:pPr>
              <a:lnSpc>
                <a:spcPct val="115000"/>
              </a:lnSpc>
              <a:spcAft>
                <a:spcPts val="350"/>
              </a:spcAft>
            </a:pPr>
            <a:r>
              <a:rPr b="1" sz="950">
                <a:solidFill>
                  <a:srgbClr val="2563EB"/>
                </a:solidFill>
                <a:latin typeface="Segoe UI"/>
              </a:rPr>
              <a:t>• </a:t>
            </a:r>
            <a:r>
              <a:rPr b="1" sz="950">
                <a:solidFill>
                  <a:srgbClr val="0F172A"/>
                </a:solidFill>
                <a:latin typeface="Segoe UI"/>
              </a:rPr>
              <a:t>Ekstraksi Daun Kelor: </a:t>
            </a:r>
            <a:r>
              <a:rPr sz="950">
                <a:solidFill>
                  <a:srgbClr val="334155"/>
                </a:solidFill>
                <a:latin typeface="Segoe UI"/>
              </a:rPr>
              <a:t>50 g daun segar dalam 250 mL akuades, ekstraksi maserasi panas pada suhu 80 C selama 30 menit, disaring kertas Whatman.</a:t>
            </a:r>
          </a:p>
          <a:p>
            <a:pPr>
              <a:lnSpc>
                <a:spcPct val="115000"/>
              </a:lnSpc>
              <a:spcAft>
                <a:spcPts val="350"/>
              </a:spcAft>
            </a:pPr>
            <a:r>
              <a:rPr b="1" sz="950">
                <a:solidFill>
                  <a:srgbClr val="2563EB"/>
                </a:solidFill>
                <a:latin typeface="Segoe UI"/>
              </a:rPr>
              <a:t>• </a:t>
            </a:r>
            <a:r>
              <a:rPr b="1" sz="950">
                <a:solidFill>
                  <a:srgbClr val="0F172A"/>
                </a:solidFill>
                <a:latin typeface="Segoe UI"/>
              </a:rPr>
              <a:t>Kopresipitasi Fe3O4: </a:t>
            </a:r>
            <a:r>
              <a:rPr sz="950">
                <a:solidFill>
                  <a:srgbClr val="334155"/>
                </a:solidFill>
                <a:latin typeface="Segoe UI"/>
              </a:rPr>
              <a:t>FeCl3 dan FeCl2 (rasio molar 2:1) + 20 mL ekstrak kelor, titrasi NaOH 2 M hingga pH 11 pada 70 C, dicuci hingga pH netral.</a:t>
            </a:r>
          </a:p>
          <a:p>
            <a:pPr>
              <a:lnSpc>
                <a:spcPct val="115000"/>
              </a:lnSpc>
              <a:spcAft>
                <a:spcPts val="350"/>
              </a:spcAft>
            </a:pPr>
            <a:r>
              <a:rPr b="1" sz="950">
                <a:solidFill>
                  <a:srgbClr val="2563EB"/>
                </a:solidFill>
                <a:latin typeface="Segoe UI"/>
              </a:rPr>
              <a:t>• </a:t>
            </a:r>
            <a:r>
              <a:rPr b="1" sz="950">
                <a:solidFill>
                  <a:srgbClr val="0F172A"/>
                </a:solidFill>
                <a:latin typeface="Segoe UI"/>
              </a:rPr>
              <a:t>Formulasi Sol Gel: </a:t>
            </a:r>
            <a:r>
              <a:rPr sz="950">
                <a:solidFill>
                  <a:srgbClr val="334155"/>
                </a:solidFill>
                <a:latin typeface="Segoe UI"/>
              </a:rPr>
              <a:t>PVA 10% wt + Fe3O4 2% wt + Asam Sitrat 5% wt + ADH 3% wt diaduk konstan pada 60 C hingga homogen.</a:t>
            </a:r>
          </a:p>
          <a:p>
            <a:pPr>
              <a:lnSpc>
                <a:spcPct val="115000"/>
              </a:lnSpc>
              <a:spcAft>
                <a:spcPts val="350"/>
              </a:spcAft>
            </a:pPr>
            <a:r>
              <a:rPr b="1" sz="950">
                <a:solidFill>
                  <a:srgbClr val="2563EB"/>
                </a:solidFill>
                <a:latin typeface="Segoe UI"/>
              </a:rPr>
              <a:t>• </a:t>
            </a:r>
            <a:r>
              <a:rPr b="1" sz="950">
                <a:solidFill>
                  <a:srgbClr val="0F172A"/>
                </a:solidFill>
                <a:latin typeface="Segoe UI"/>
              </a:rPr>
              <a:t>Parameter Elektrospinning: </a:t>
            </a:r>
            <a:r>
              <a:rPr sz="950">
                <a:solidFill>
                  <a:srgbClr val="334155"/>
                </a:solidFill>
                <a:latin typeface="Segoe UI"/>
              </a:rPr>
              <a:t>Tegangan tinggi 15 kV, laju alir syringe pump 0.5 mL/jam, jarak ujung jarum ke drum kolektor 15 cm, drum 300 rpm.</a:t>
            </a:r>
          </a:p>
          <a:p>
            <a:pPr>
              <a:lnSpc>
                <a:spcPct val="115000"/>
              </a:lnSpc>
              <a:spcAft>
                <a:spcPts val="350"/>
              </a:spcAft>
            </a:pPr>
            <a:r>
              <a:rPr b="1" sz="950">
                <a:solidFill>
                  <a:srgbClr val="2563EB"/>
                </a:solidFill>
                <a:latin typeface="Segoe UI"/>
              </a:rPr>
              <a:t>• </a:t>
            </a:r>
            <a:r>
              <a:rPr b="1" sz="950">
                <a:solidFill>
                  <a:srgbClr val="0F172A"/>
                </a:solidFill>
                <a:latin typeface="Segoe UI"/>
              </a:rPr>
              <a:t>Curing Termal Final: </a:t>
            </a:r>
            <a:r>
              <a:rPr sz="950">
                <a:solidFill>
                  <a:srgbClr val="334155"/>
                </a:solidFill>
                <a:latin typeface="Segoe UI"/>
              </a:rPr>
              <a:t>Oven pemanas pada suhu 130 C selama 1.5 jam untuk pembentukan ikatan taut-silang ester permanen.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6419088"/>
            <a:ext cx="1072865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464808"/>
            <a:ext cx="8961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Fahry Rizky Samsudin (1237030018) | Proposal Tugas Akhir Fisika UIN SGD Bandung &amp; Bolabot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0" y="6464808"/>
            <a:ext cx="1584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1E3A8A"/>
                </a:solidFill>
                <a:latin typeface="Segoe UI"/>
              </a:defRPr>
            </a:pPr>
            <a:r>
              <a:t>26 / 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BAB III: METODE PENELITIAN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50" b="1">
                <a:solidFill>
                  <a:srgbClr val="0F1E4A"/>
                </a:solidFill>
                <a:latin typeface="Segoe UI"/>
              </a:defRPr>
            </a:pPr>
            <a:r>
              <a:t>Prosedur Kalibrasi Kumparan Helmholtz &amp; Sensor TMR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  <a:latin typeface="Segoe UI"/>
              </a:defRPr>
            </a:pPr>
            <a:r>
              <a:t>Pemetaan Faktor Konversi Medan Magnetik dan Penentuan Kurva Sensitivitas Diferensial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0020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2563EB"/>
                </a:solidFill>
                <a:latin typeface="Segoe UI"/>
              </a:defRPr>
            </a:pPr>
            <a:r>
              <a:t>STANDARISASI MEDAN ACUAN</a:t>
            </a:r>
          </a:p>
          <a:p>
            <a:pPr>
              <a:spcAft>
                <a:spcPts val="400"/>
              </a:spcAft>
              <a:defRPr sz="1150" b="1">
                <a:solidFill>
                  <a:srgbClr val="0F1E4A"/>
                </a:solidFill>
                <a:latin typeface="Segoe UI"/>
              </a:defRPr>
            </a:pPr>
            <a:r>
              <a:t>Tahap 1: Kalibrasi Medan Helmholtz</a:t>
            </a:r>
          </a:p>
          <a:p>
            <a:pPr>
              <a:lnSpc>
                <a:spcPct val="115000"/>
              </a:lnSpc>
              <a:spcAft>
                <a:spcPts val="350"/>
              </a:spcAft>
            </a:pPr>
            <a:r>
              <a:rPr b="1" sz="1000">
                <a:solidFill>
                  <a:srgbClr val="2563EB"/>
                </a:solidFill>
                <a:latin typeface="Segoe UI"/>
              </a:rPr>
              <a:t>• </a:t>
            </a:r>
            <a:r>
              <a:rPr b="1" sz="1000">
                <a:solidFill>
                  <a:srgbClr val="0F172A"/>
                </a:solidFill>
                <a:latin typeface="Segoe UI"/>
              </a:rPr>
              <a:t>Sapuan Arus DC: </a:t>
            </a:r>
            <a:r>
              <a:rPr sz="1000">
                <a:solidFill>
                  <a:srgbClr val="334155"/>
                </a:solidFill>
                <a:latin typeface="Segoe UI"/>
              </a:rPr>
              <a:t>Mengatur power supply dari 0.0 A hingga 1.6 A (tegangan 0 - 16 V) dengan kenaikan bertahap 0.1 A.</a:t>
            </a:r>
          </a:p>
          <a:p>
            <a:pPr>
              <a:lnSpc>
                <a:spcPct val="115000"/>
              </a:lnSpc>
              <a:spcAft>
                <a:spcPts val="350"/>
              </a:spcAft>
            </a:pPr>
            <a:r>
              <a:rPr b="1" sz="1000">
                <a:solidFill>
                  <a:srgbClr val="2563EB"/>
                </a:solidFill>
                <a:latin typeface="Segoe UI"/>
              </a:rPr>
              <a:t>• </a:t>
            </a:r>
            <a:r>
              <a:rPr b="1" sz="1000">
                <a:solidFill>
                  <a:srgbClr val="0F172A"/>
                </a:solidFill>
                <a:latin typeface="Segoe UI"/>
              </a:rPr>
              <a:t>Perekaman Teslameter: </a:t>
            </a:r>
            <a:r>
              <a:rPr sz="1000">
                <a:solidFill>
                  <a:srgbClr val="334155"/>
                </a:solidFill>
                <a:latin typeface="Segoe UI"/>
              </a:rPr>
              <a:t>Mengukur medan magnet riil B (mT) di pusat kumparan secara simultan menggunakan teslameter digital.</a:t>
            </a:r>
          </a:p>
          <a:p>
            <a:pPr>
              <a:lnSpc>
                <a:spcPct val="115000"/>
              </a:lnSpc>
              <a:spcAft>
                <a:spcPts val="350"/>
              </a:spcAft>
            </a:pPr>
            <a:r>
              <a:rPr b="1" sz="1000">
                <a:solidFill>
                  <a:srgbClr val="2563EB"/>
                </a:solidFill>
                <a:latin typeface="Segoe UI"/>
              </a:rPr>
              <a:t>• </a:t>
            </a:r>
            <a:r>
              <a:rPr b="1" sz="1000">
                <a:solidFill>
                  <a:srgbClr val="0F172A"/>
                </a:solidFill>
                <a:latin typeface="Segoe UI"/>
              </a:rPr>
              <a:t>Regresi Linear Kalibrasi: </a:t>
            </a:r>
            <a:r>
              <a:rPr sz="1000">
                <a:solidFill>
                  <a:srgbClr val="334155"/>
                </a:solidFill>
                <a:latin typeface="Segoe UI"/>
              </a:rPr>
              <a:t>Memperoleh persamaan linear B = k * I dengan korelasi R^2 &gt; 0.999 sebagai faktor konversi arus ke medan magnet.</a:t>
            </a:r>
          </a:p>
          <a:p>
            <a:pPr>
              <a:lnSpc>
                <a:spcPct val="115000"/>
              </a:lnSpc>
              <a:spcAft>
                <a:spcPts val="350"/>
              </a:spcAft>
            </a:pPr>
            <a:r>
              <a:rPr b="1" sz="1000">
                <a:solidFill>
                  <a:srgbClr val="2563EB"/>
                </a:solidFill>
                <a:latin typeface="Segoe UI"/>
              </a:rPr>
              <a:t>• </a:t>
            </a:r>
            <a:r>
              <a:rPr b="1" sz="1000">
                <a:solidFill>
                  <a:srgbClr val="0F172A"/>
                </a:solidFill>
                <a:latin typeface="Segoe UI"/>
              </a:rPr>
              <a:t>Verifikasi Polaritas: </a:t>
            </a:r>
            <a:r>
              <a:rPr sz="1000">
                <a:solidFill>
                  <a:srgbClr val="334155"/>
                </a:solidFill>
                <a:latin typeface="Segoe UI"/>
              </a:rPr>
              <a:t>Menguji pembalikan polaritas kabel kumparan untuk sapuan medan negatif hingga -4.0 mT.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0020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1E3A8A"/>
                </a:solidFill>
                <a:latin typeface="Segoe UI"/>
              </a:defRPr>
            </a:pPr>
            <a:r>
              <a:t>EVALUASI TRANSDUSER ALT023</a:t>
            </a:r>
          </a:p>
          <a:p>
            <a:pPr>
              <a:spcAft>
                <a:spcPts val="400"/>
              </a:spcAft>
              <a:defRPr sz="1150" b="1">
                <a:solidFill>
                  <a:srgbClr val="0F1E4A"/>
                </a:solidFill>
                <a:latin typeface="Segoe UI"/>
              </a:defRPr>
            </a:pPr>
            <a:r>
              <a:t>Tahap 2: Karakterisasi Respon TMR</a:t>
            </a:r>
          </a:p>
          <a:p>
            <a:pPr>
              <a:lnSpc>
                <a:spcPct val="115000"/>
              </a:lnSpc>
              <a:spcAft>
                <a:spcPts val="350"/>
              </a:spcAft>
            </a:pPr>
            <a:r>
              <a:rPr b="1" sz="1000">
                <a:solidFill>
                  <a:srgbClr val="2563EB"/>
                </a:solidFill>
                <a:latin typeface="Segoe UI"/>
              </a:rPr>
              <a:t>• </a:t>
            </a:r>
            <a:r>
              <a:rPr b="1" sz="1000">
                <a:solidFill>
                  <a:srgbClr val="0F172A"/>
                </a:solidFill>
                <a:latin typeface="Segoe UI"/>
              </a:rPr>
              <a:t>Perekaman Tegangan Vout: </a:t>
            </a:r>
            <a:r>
              <a:rPr sz="1000">
                <a:solidFill>
                  <a:srgbClr val="334155"/>
                </a:solidFill>
                <a:latin typeface="Segoe UI"/>
              </a:rPr>
              <a:t>Mencatat respon tegangan AD623-ADS1115 pada setiap titik medan magnet B yang diterapkan.</a:t>
            </a:r>
          </a:p>
          <a:p>
            <a:pPr>
              <a:lnSpc>
                <a:spcPct val="115000"/>
              </a:lnSpc>
              <a:spcAft>
                <a:spcPts val="350"/>
              </a:spcAft>
            </a:pPr>
            <a:r>
              <a:rPr b="1" sz="1000">
                <a:solidFill>
                  <a:srgbClr val="2563EB"/>
                </a:solidFill>
                <a:latin typeface="Segoe UI"/>
              </a:rPr>
              <a:t>• </a:t>
            </a:r>
            <a:r>
              <a:rPr b="1" sz="1000">
                <a:solidFill>
                  <a:srgbClr val="0F172A"/>
                </a:solidFill>
                <a:latin typeface="Segoe UI"/>
              </a:rPr>
              <a:t>Penentuan Rentang Linear: </a:t>
            </a:r>
            <a:r>
              <a:rPr sz="1000">
                <a:solidFill>
                  <a:srgbClr val="334155"/>
                </a:solidFill>
                <a:latin typeface="Segoe UI"/>
              </a:rPr>
              <a:t>Menetapkan batas linearitas operasional sensor (+-1.0 mT) di mana respon tegangan berbanding lurus dengan medan.</a:t>
            </a:r>
          </a:p>
          <a:p>
            <a:pPr>
              <a:lnSpc>
                <a:spcPct val="115000"/>
              </a:lnSpc>
              <a:spcAft>
                <a:spcPts val="350"/>
              </a:spcAft>
            </a:pPr>
            <a:r>
              <a:rPr b="1" sz="1000">
                <a:solidFill>
                  <a:srgbClr val="2563EB"/>
                </a:solidFill>
                <a:latin typeface="Segoe UI"/>
              </a:rPr>
              <a:t>• </a:t>
            </a:r>
            <a:r>
              <a:rPr b="1" sz="1000">
                <a:solidFill>
                  <a:srgbClr val="0F172A"/>
                </a:solidFill>
                <a:latin typeface="Segoe UI"/>
              </a:rPr>
              <a:t>Sensitivitas Diferensial (dV/dB): </a:t>
            </a:r>
            <a:r>
              <a:rPr sz="1000">
                <a:solidFill>
                  <a:srgbClr val="334155"/>
                </a:solidFill>
                <a:latin typeface="Segoe UI"/>
              </a:rPr>
              <a:t>Menggunakan fitting spline numerik pada modul analysis.py untuk mengekstrak sensitivitas lokal dV/dB (mV/mT).</a:t>
            </a:r>
          </a:p>
          <a:p>
            <a:pPr>
              <a:lnSpc>
                <a:spcPct val="115000"/>
              </a:lnSpc>
              <a:spcAft>
                <a:spcPts val="350"/>
              </a:spcAft>
            </a:pPr>
            <a:r>
              <a:rPr b="1" sz="1000">
                <a:solidFill>
                  <a:srgbClr val="2563EB"/>
                </a:solidFill>
                <a:latin typeface="Segoe UI"/>
              </a:rPr>
              <a:t>• </a:t>
            </a:r>
            <a:r>
              <a:rPr b="1" sz="1000">
                <a:solidFill>
                  <a:srgbClr val="0F172A"/>
                </a:solidFill>
                <a:latin typeface="Segoe UI"/>
              </a:rPr>
              <a:t>Penyimpanan Konstanta Kalibrasi: </a:t>
            </a:r>
            <a:r>
              <a:rPr sz="1000">
                <a:solidFill>
                  <a:srgbClr val="334155"/>
                </a:solidFill>
                <a:latin typeface="Segoe UI"/>
              </a:rPr>
              <a:t>Menyimpan nilai intercept dan slope secara otomatis ke format JSON untuk koreksi realtime GUI.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6419088"/>
            <a:ext cx="1072865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464808"/>
            <a:ext cx="8961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Fahry Rizky Samsudin (1237030018) | Proposal Tugas Akhir Fisika UIN SGD Bandung &amp; Bolabot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0" y="6464808"/>
            <a:ext cx="1584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1E3A8A"/>
                </a:solidFill>
                <a:latin typeface="Segoe UI"/>
              </a:defRPr>
            </a:pPr>
            <a:r>
              <a:t>27 / 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BAB III: METODE PENELITIAN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50" b="1">
                <a:solidFill>
                  <a:srgbClr val="0F1E4A"/>
                </a:solidFill>
                <a:latin typeface="Segoe UI"/>
              </a:defRPr>
            </a:pPr>
            <a:r>
              <a:t>Preparasi Sampel Bakso &amp; Ekstraksi 5 Fitur Sinyal Dinamis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  <a:latin typeface="Segoe UI"/>
              </a:defRPr>
            </a:pPr>
            <a:r>
              <a:t>Protokol Ekstraksi Supernatan (Sentrifugasi 4000 rpm) dan Parameter Kuantitatif Sensor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457200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00200"/>
            <a:ext cx="4114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E11D48"/>
                </a:solidFill>
                <a:latin typeface="Segoe UI"/>
              </a:defRPr>
            </a:pPr>
            <a:r>
              <a:t>PREPARASI MATRIKS PANGAN</a:t>
            </a:r>
          </a:p>
          <a:p>
            <a:pPr>
              <a:spcAft>
                <a:spcPts val="400"/>
              </a:spcAft>
              <a:defRPr sz="1150" b="1">
                <a:solidFill>
                  <a:srgbClr val="0F1E4A"/>
                </a:solidFill>
                <a:latin typeface="Segoe UI"/>
              </a:defRPr>
            </a:pPr>
            <a:r>
              <a:t>Protokol Ekstraksi Sampel Bakso</a:t>
            </a:r>
          </a:p>
          <a:p>
            <a:pPr>
              <a:lnSpc>
                <a:spcPct val="115000"/>
              </a:lnSpc>
              <a:spcAft>
                <a:spcPts val="350"/>
              </a:spcAft>
            </a:pPr>
            <a:r>
              <a:rPr b="1" sz="950">
                <a:solidFill>
                  <a:srgbClr val="2563EB"/>
                </a:solidFill>
                <a:latin typeface="Segoe UI"/>
              </a:rPr>
              <a:t>• </a:t>
            </a:r>
            <a:r>
              <a:rPr b="1" sz="950">
                <a:solidFill>
                  <a:srgbClr val="0F172A"/>
                </a:solidFill>
                <a:latin typeface="Segoe UI"/>
              </a:rPr>
              <a:t>Penghalusan Sampel (Maserasi): </a:t>
            </a:r>
            <a:r>
              <a:rPr sz="950">
                <a:solidFill>
                  <a:srgbClr val="334155"/>
                </a:solidFill>
                <a:latin typeface="Segoe UI"/>
              </a:rPr>
              <a:t>10 gram sampel bakso dihaluskan dan ditambahkan 50 mL akuades deionisasi (rasio 1:5 w/v).</a:t>
            </a:r>
          </a:p>
          <a:p>
            <a:pPr>
              <a:lnSpc>
                <a:spcPct val="115000"/>
              </a:lnSpc>
              <a:spcAft>
                <a:spcPts val="350"/>
              </a:spcAft>
            </a:pPr>
            <a:r>
              <a:rPr b="1" sz="950">
                <a:solidFill>
                  <a:srgbClr val="2563EB"/>
                </a:solidFill>
                <a:latin typeface="Segoe UI"/>
              </a:rPr>
              <a:t>• </a:t>
            </a:r>
            <a:r>
              <a:rPr b="1" sz="950">
                <a:solidFill>
                  <a:srgbClr val="0F172A"/>
                </a:solidFill>
                <a:latin typeface="Segoe UI"/>
              </a:rPr>
              <a:t>Sentrifugasi Pemisahan Fasa: </a:t>
            </a:r>
            <a:r>
              <a:rPr sz="950">
                <a:solidFill>
                  <a:srgbClr val="334155"/>
                </a:solidFill>
                <a:latin typeface="Segoe UI"/>
              </a:rPr>
              <a:t>Disentrifugasi pada kecepatan 4000 rpm selama 10 menit untuk mengendapkan serat daging dan lipid.</a:t>
            </a:r>
          </a:p>
          <a:p>
            <a:pPr>
              <a:lnSpc>
                <a:spcPct val="115000"/>
              </a:lnSpc>
              <a:spcAft>
                <a:spcPts val="350"/>
              </a:spcAft>
            </a:pPr>
            <a:r>
              <a:rPr b="1" sz="950">
                <a:solidFill>
                  <a:srgbClr val="2563EB"/>
                </a:solidFill>
                <a:latin typeface="Segoe UI"/>
              </a:rPr>
              <a:t>• </a:t>
            </a:r>
            <a:r>
              <a:rPr b="1" sz="950">
                <a:solidFill>
                  <a:srgbClr val="0F172A"/>
                </a:solidFill>
                <a:latin typeface="Segoe UI"/>
              </a:rPr>
              <a:t>Pengambilan Supernatan: </a:t>
            </a:r>
            <a:r>
              <a:rPr sz="950">
                <a:solidFill>
                  <a:srgbClr val="334155"/>
                </a:solidFill>
                <a:latin typeface="Segoe UI"/>
              </a:rPr>
              <a:t>Cairan jernih supernatan diambil sebagai analit bebas partikel pengganggu.</a:t>
            </a:r>
          </a:p>
          <a:p>
            <a:pPr>
              <a:lnSpc>
                <a:spcPct val="115000"/>
              </a:lnSpc>
              <a:spcAft>
                <a:spcPts val="350"/>
              </a:spcAft>
            </a:pPr>
            <a:r>
              <a:rPr b="1" sz="950">
                <a:solidFill>
                  <a:srgbClr val="2563EB"/>
                </a:solidFill>
                <a:latin typeface="Segoe UI"/>
              </a:rPr>
              <a:t>• </a:t>
            </a:r>
            <a:r>
              <a:rPr b="1" sz="950">
                <a:solidFill>
                  <a:srgbClr val="0F172A"/>
                </a:solidFill>
                <a:latin typeface="Segoe UI"/>
              </a:rPr>
              <a:t>Penetesan Mikropipet: </a:t>
            </a:r>
            <a:r>
              <a:rPr sz="950">
                <a:solidFill>
                  <a:srgbClr val="334155"/>
                </a:solidFill>
                <a:latin typeface="Segoe UI"/>
              </a:rPr>
              <a:t>Sebanyak 20 mikroliter analit diteteskan presisi di atas permukaan nanofiber sensor TMR.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577840" y="1417320"/>
          <a:ext cx="588233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1554480"/>
                <a:gridCol w="1584655"/>
              </a:tblGrid>
              <a:tr h="792480"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Simbol Fitur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Nama Fitur Dinamis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Formulasi Matematika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Relevansi Fisik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dV_max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Amplitudo Puncak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|V_peak - V_baseline|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Kekuatan respon konsentrasi formalin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t_response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Waktu Respon (90%)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t(0.9 * dV_max) - t_0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Kinetika reaksi adisi nukleofilik ADH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(dV/dt)_0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Slope Transien Awal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Delta V / Delta t (awal)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Laju difusi awal molekul ke pori serat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V_steady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Tegangan Tunak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Mean(V(t)) pada t jenuh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Keseimbangan ikatan kimia hidrazon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AUC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Area Under Curve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Integral [V(t) - V_0] dt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Akumulasi total energi respon interaksi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31520" y="6419088"/>
            <a:ext cx="1072865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464808"/>
            <a:ext cx="8961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Fahry Rizky Samsudin (1237030018) | Proposal Tugas Akhir Fisika UIN SGD Bandung &amp; Bolabot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0" y="6464808"/>
            <a:ext cx="1584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1E3A8A"/>
                </a:solidFill>
                <a:latin typeface="Segoe UI"/>
              </a:defRPr>
            </a:pPr>
            <a:r>
              <a:t>28 / 30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BAB III: METODE PENELITIAN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50" b="1">
                <a:solidFill>
                  <a:srgbClr val="0F1E4A"/>
                </a:solidFill>
                <a:latin typeface="Segoe UI"/>
              </a:defRPr>
            </a:pPr>
            <a:r>
              <a:t>Pelatihan Model SVM vs QSVC &amp; Pipeline Deployment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  <a:latin typeface="Segoe UI"/>
              </a:defRPr>
            </a:pPr>
            <a:r>
              <a:t>Validasi Silang Kuantum-Klasik dan Penerapan Sistem Tertanam di Raspberry Pi 5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04543" y="1380744"/>
            <a:ext cx="3974592" cy="4828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abIII_ModelBuilding.draw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120" y="1417320"/>
            <a:ext cx="3901440" cy="4754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58240" y="6208776"/>
            <a:ext cx="42672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00" i="1">
                <a:solidFill>
                  <a:srgbClr val="64748B"/>
                </a:solidFill>
                <a:latin typeface="Segoe UI"/>
              </a:defRPr>
            </a:pPr>
            <a:r>
              <a:t>Gambar III.7 Diagram Alir Pelatihan dan Validasi Komparasi Model SVM vs QSVC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35606" y="1380744"/>
            <a:ext cx="1776707" cy="2542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babIII_ModelDeploy.draw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2182" y="1417320"/>
            <a:ext cx="1703555" cy="2468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89302" y="3922776"/>
            <a:ext cx="206931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00" i="1">
                <a:solidFill>
                  <a:srgbClr val="64748B"/>
                </a:solidFill>
                <a:latin typeface="Segoe UI"/>
              </a:defRPr>
            </a:pPr>
            <a:r>
              <a:t>Gambar III.8 Diagram Alir Deployment Model ke Embedded System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069080"/>
            <a:ext cx="5212080" cy="21031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416052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059669"/>
                </a:solidFill>
                <a:latin typeface="Segoe UI"/>
              </a:defRPr>
            </a:pPr>
            <a:r>
              <a:t>EDGE INTELLIGENCE</a:t>
            </a:r>
          </a:p>
          <a:p>
            <a:pPr>
              <a:spcAft>
                <a:spcPts val="400"/>
              </a:spcAft>
              <a:defRPr sz="1150" b="1">
                <a:solidFill>
                  <a:srgbClr val="0F1E4A"/>
                </a:solidFill>
                <a:latin typeface="Segoe UI"/>
              </a:defRPr>
            </a:pPr>
            <a:r>
              <a:t>Spesifikasi Deployment Raspberry Pi 5</a:t>
            </a:r>
          </a:p>
          <a:p>
            <a:pPr>
              <a:lnSpc>
                <a:spcPct val="115000"/>
              </a:lnSpc>
              <a:spcAft>
                <a:spcPts val="350"/>
              </a:spcAft>
            </a:pPr>
            <a:r>
              <a:rPr b="1" sz="900">
                <a:solidFill>
                  <a:srgbClr val="2563EB"/>
                </a:solidFill>
                <a:latin typeface="Segoe UI"/>
              </a:rPr>
              <a:t>• </a:t>
            </a:r>
            <a:r>
              <a:rPr b="1" sz="900">
                <a:solidFill>
                  <a:srgbClr val="0F172A"/>
                </a:solidFill>
                <a:latin typeface="Segoe UI"/>
              </a:rPr>
              <a:t>Format Model: </a:t>
            </a:r>
            <a:r>
              <a:rPr sz="900">
                <a:solidFill>
                  <a:srgbClr val="334155"/>
                </a:solidFill>
                <a:latin typeface="Segoe UI"/>
              </a:rPr>
              <a:t>Serialisasi model klasifikasi terbaik ke file biner .pkl via Joblib / Pickle.</a:t>
            </a:r>
          </a:p>
          <a:p>
            <a:pPr>
              <a:lnSpc>
                <a:spcPct val="115000"/>
              </a:lnSpc>
              <a:spcAft>
                <a:spcPts val="350"/>
              </a:spcAft>
            </a:pPr>
            <a:r>
              <a:rPr b="1" sz="900">
                <a:solidFill>
                  <a:srgbClr val="2563EB"/>
                </a:solidFill>
                <a:latin typeface="Segoe UI"/>
              </a:rPr>
              <a:t>• </a:t>
            </a:r>
            <a:r>
              <a:rPr b="1" sz="900">
                <a:solidFill>
                  <a:srgbClr val="0F172A"/>
                </a:solidFill>
                <a:latin typeface="Segoe UI"/>
              </a:rPr>
              <a:t>Perangkat Keras Edge: </a:t>
            </a:r>
            <a:r>
              <a:rPr sz="900">
                <a:solidFill>
                  <a:srgbClr val="334155"/>
                </a:solidFill>
                <a:latin typeface="Segoe UI"/>
              </a:rPr>
              <a:t>Raspberry Pi 5 (8GB RAM, Broadcom BCM2712 Quad-core ARM Cortex-A76 2.4GHz).</a:t>
            </a:r>
          </a:p>
          <a:p>
            <a:pPr>
              <a:lnSpc>
                <a:spcPct val="115000"/>
              </a:lnSpc>
              <a:spcAft>
                <a:spcPts val="350"/>
              </a:spcAft>
            </a:pPr>
            <a:r>
              <a:rPr b="1" sz="900">
                <a:solidFill>
                  <a:srgbClr val="2563EB"/>
                </a:solidFill>
                <a:latin typeface="Segoe UI"/>
              </a:rPr>
              <a:t>• </a:t>
            </a:r>
            <a:r>
              <a:rPr b="1" sz="900">
                <a:solidFill>
                  <a:srgbClr val="0F172A"/>
                </a:solidFill>
                <a:latin typeface="Segoe UI"/>
              </a:rPr>
              <a:t>Tampilan Hasil: </a:t>
            </a:r>
            <a:r>
              <a:rPr sz="900">
                <a:solidFill>
                  <a:srgbClr val="334155"/>
                </a:solidFill>
                <a:latin typeface="Segoe UI"/>
              </a:rPr>
              <a:t>Layar sentuh kapasitif terintegrasi menampilkan status keamanan bakso secara instan.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419088"/>
            <a:ext cx="1072865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6464808"/>
            <a:ext cx="8961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Fahry Rizky Samsudin (1237030018) | Proposal Tugas Akhir Fisika UIN SGD Bandung &amp; Bolabot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6464808"/>
            <a:ext cx="1584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1E3A8A"/>
                </a:solidFill>
                <a:latin typeface="Segoe UI"/>
              </a:defRPr>
            </a:pPr>
            <a:r>
              <a:t>29 / 30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PENUTUP &amp; RENCANA KERJA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50" b="1">
                <a:solidFill>
                  <a:srgbClr val="0F1E4A"/>
                </a:solidFill>
                <a:latin typeface="Segoe UI"/>
              </a:defRPr>
            </a:pPr>
            <a:r>
              <a:t>Jadwal Pelaksanaan Riset 4 Bulan &amp; Target Luaran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  <a:latin typeface="Segoe UI"/>
              </a:defRPr>
            </a:pPr>
            <a:r>
              <a:t>Roadmap Efektif di Bolabot (September - Desember 2026) dan Sesi Diskusi Tanya Jawab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17320"/>
          <a:ext cx="62179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731520"/>
                <a:gridCol w="731520"/>
                <a:gridCol w="731520"/>
                <a:gridCol w="7315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Tahapan Kegiatan Riset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B1 (Sep)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B2 (Okt)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B3 (Nov)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B4 (Des)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Desain Rangkaian Hardware, Casing 3D &amp; Skematik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[ X 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[   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[   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[   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Kalibrasi Kumparan Helmholtz &amp; Sensor TMR ALT023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[ X ]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[   ]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[   ]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[   ]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Green Synthesis Fe3O4 Kelor &amp; Elektrospinning PVA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[   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[ X 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[   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[   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Curing Termal 130 C &amp; Karakterisasi Nanofiber ADH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[   ]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[ X ]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[   ]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[   ]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Uji Larutan Formalin Bertingkat &amp; Sampel Bakso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[   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[   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[ X 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[   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Ekstraksi 5 Fitur Sinyal &amp; Pembentukan Dataset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[   ]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[   ]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[ X ]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[   ]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Pelatihan &amp; Komparasi Model SVM vs QSVC (Qiskit)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[   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[   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[   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[ X 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Deployment Model ke Raspberry Pi 5 &amp; Draf Skripsi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[   ]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[   ]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[   ]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[ X ]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223760" y="1417320"/>
            <a:ext cx="4236415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52360" y="1600200"/>
            <a:ext cx="3749039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2563EB"/>
                </a:solidFill>
                <a:latin typeface="Segoe UI"/>
              </a:defRPr>
            </a:pPr>
            <a:r>
              <a:t>OUTPUT ILMIAH</a:t>
            </a:r>
          </a:p>
          <a:p>
            <a:pPr>
              <a:spcAft>
                <a:spcPts val="400"/>
              </a:spcAft>
              <a:defRPr sz="1150" b="1">
                <a:solidFill>
                  <a:srgbClr val="0F1E4A"/>
                </a:solidFill>
                <a:latin typeface="Segoe UI"/>
              </a:defRPr>
            </a:pPr>
            <a:r>
              <a:t>Target Luaran Wajib &amp; Tambahan</a:t>
            </a:r>
          </a:p>
          <a:p>
            <a:pPr>
              <a:lnSpc>
                <a:spcPct val="115000"/>
              </a:lnSpc>
              <a:spcAft>
                <a:spcPts val="350"/>
              </a:spcAft>
            </a:pPr>
            <a:r>
              <a:rPr b="1" sz="950">
                <a:solidFill>
                  <a:srgbClr val="2563EB"/>
                </a:solidFill>
                <a:latin typeface="Segoe UI"/>
              </a:rPr>
              <a:t>• </a:t>
            </a:r>
            <a:r>
              <a:rPr b="1" sz="950">
                <a:solidFill>
                  <a:srgbClr val="0F172A"/>
                </a:solidFill>
                <a:latin typeface="Segoe UI"/>
              </a:rPr>
              <a:t>Publikasi Ilmiah: </a:t>
            </a:r>
            <a:r>
              <a:rPr sz="950">
                <a:solidFill>
                  <a:srgbClr val="334155"/>
                </a:solidFill>
                <a:latin typeface="Segoe UI"/>
              </a:rPr>
              <a:t>1 Artikel pada Prosiding Internasional terindeks Scopus (IEEE / AIP) atau Jurnal Nasional Terakreditasi SINTA 2.</a:t>
            </a:r>
          </a:p>
          <a:p>
            <a:pPr>
              <a:lnSpc>
                <a:spcPct val="115000"/>
              </a:lnSpc>
              <a:spcAft>
                <a:spcPts val="350"/>
              </a:spcAft>
            </a:pPr>
            <a:r>
              <a:rPr b="1" sz="950">
                <a:solidFill>
                  <a:srgbClr val="2563EB"/>
                </a:solidFill>
                <a:latin typeface="Segoe UI"/>
              </a:rPr>
              <a:t>• </a:t>
            </a:r>
            <a:r>
              <a:rPr b="1" sz="950">
                <a:solidFill>
                  <a:srgbClr val="0F172A"/>
                </a:solidFill>
                <a:latin typeface="Segoe UI"/>
              </a:rPr>
              <a:t>Prototipe Instrumen Fisik: </a:t>
            </a:r>
            <a:r>
              <a:rPr sz="950">
                <a:solidFill>
                  <a:srgbClr val="334155"/>
                </a:solidFill>
                <a:latin typeface="Segoe UI"/>
              </a:rPr>
              <a:t>Unit instrumen biosensor TMR portabel terintegrasi casing 3D siap uji.</a:t>
            </a:r>
          </a:p>
          <a:p>
            <a:pPr>
              <a:lnSpc>
                <a:spcPct val="115000"/>
              </a:lnSpc>
              <a:spcAft>
                <a:spcPts val="350"/>
              </a:spcAft>
            </a:pPr>
            <a:r>
              <a:rPr b="1" sz="950">
                <a:solidFill>
                  <a:srgbClr val="2563EB"/>
                </a:solidFill>
                <a:latin typeface="Segoe UI"/>
              </a:rPr>
              <a:t>• </a:t>
            </a:r>
            <a:r>
              <a:rPr b="1" sz="950">
                <a:solidFill>
                  <a:srgbClr val="0F172A"/>
                </a:solidFill>
                <a:latin typeface="Segoe UI"/>
              </a:rPr>
              <a:t>Karya Ilmiah Akhir: </a:t>
            </a:r>
            <a:r>
              <a:rPr sz="950">
                <a:solidFill>
                  <a:srgbClr val="334155"/>
                </a:solidFill>
                <a:latin typeface="Segoe UI"/>
              </a:rPr>
              <a:t>Dokumen Skripsi lengkap Sarjana Fisika UIN Sunan Gunung Djati Bandung.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892040"/>
            <a:ext cx="10728655" cy="1280160"/>
          </a:xfrm>
          <a:prstGeom prst="roundRect">
            <a:avLst/>
          </a:prstGeom>
          <a:solidFill>
            <a:srgbClr val="0F1E4A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983480"/>
            <a:ext cx="10241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b="1" sz="1300">
                <a:solidFill>
                  <a:srgbClr val="FFFFFF"/>
                </a:solidFill>
                <a:latin typeface="Segoe UI"/>
              </a:defRPr>
            </a:pPr>
            <a:r>
              <a:t>TERIMA KASIH ATAS PERHATIAN BAPAK/IBU DOSEN PENGUJI DAN PEMBIMBING</a:t>
            </a:r>
          </a:p>
          <a:p>
            <a:pPr algn="ctr">
              <a:defRPr sz="1000">
                <a:solidFill>
                  <a:srgbClr val="EFF6FF"/>
                </a:solidFill>
                <a:latin typeface="Segoe UI"/>
              </a:defRPr>
            </a:pPr>
            <a:r>
              <a:t>Mohon Arahan, Masukan, dan Saran demi Kesempurnaan Pelaksanaan Tugas Akhir Ini | Sesi Tanya Jawab Dibuka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6419088"/>
            <a:ext cx="1072865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464808"/>
            <a:ext cx="8961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Fahry Rizky Samsudin (1237030018) | Proposal Tugas Akhir Fisika UIN SGD Bandung &amp; Bolabot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0" y="6464808"/>
            <a:ext cx="1584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1E3A8A"/>
                </a:solidFill>
                <a:latin typeface="Segoe UI"/>
              </a:defRPr>
            </a:pPr>
            <a:r>
              <a:t>30 / 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