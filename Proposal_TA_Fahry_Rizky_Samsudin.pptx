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0"/>
            <a:ext cx="10728655" cy="10972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 U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909" y="1280160"/>
            <a:ext cx="95722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834640" y="1188720"/>
            <a:ext cx="822960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SEMINAR PROPOSAL TUGAS AKHIR</a:t>
            </a:r>
          </a:p>
          <a:p>
            <a:pPr>
              <a:spcAft>
                <a:spcPts val="800"/>
              </a:spcAft>
              <a:defRPr sz="2000" b="1">
                <a:solidFill>
                  <a:srgbClr val="0F1E4A"/>
                </a:solidFill>
                <a:latin typeface="Segoe UI"/>
              </a:defRPr>
            </a:pPr>
            <a:r>
              <a:t>Rancang Bangun Instrumentasi Sensor Tunneling Magnetoresistance Berbasis Nanofiber Fe3O4/PVA-Sitrat-ADH untuk Deteksi Formalin pada Bakso Menggunakan Komparasi Model SVM dan QSVC</a:t>
            </a:r>
          </a:p>
          <a:p>
            <a:pPr>
              <a:defRPr sz="1150">
                <a:solidFill>
                  <a:srgbClr val="64748B"/>
                </a:solidFill>
                <a:latin typeface="Segoe UI"/>
              </a:defRPr>
            </a:pPr>
            <a:r>
              <a:t>Kajian Eksperimental Sensor TMR ALT023-10E, Fungsionalisasi Nanomaterial Magnetik, dan Pembelajaran Mesin Kuantum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4297680"/>
            <a:ext cx="98142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48056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PENELITI / MAHASISWA</a:t>
            </a:r>
          </a:p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Fahry Rizky Samsudin</a:t>
            </a:r>
          </a:p>
          <a:p>
            <a:pPr>
              <a:defRPr sz="1050">
                <a:solidFill>
                  <a:srgbClr val="334155"/>
                </a:solidFill>
                <a:latin typeface="Segoe UI"/>
              </a:defRPr>
            </a:pPr>
            <a:r>
              <a:t>NIM: 1237030018 | Jurusan Fisika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480560"/>
            <a:ext cx="43891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INSTITUSI &amp; TAHUN</a:t>
            </a:r>
          </a:p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Fakultas Sains dan Teknologi</a:t>
            </a:r>
          </a:p>
          <a:p>
            <a:pPr>
              <a:defRPr sz="1050">
                <a:solidFill>
                  <a:srgbClr val="334155"/>
                </a:solidFill>
                <a:latin typeface="Segoe UI"/>
              </a:defRPr>
            </a:pPr>
            <a:r>
              <a:t>UIN Sunan Gunung Djati Bandung —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Seminar Proposal Skripsi Program Studi Fisika UIN Sunan Gunung Djati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SISTEMATIKA PRESENTASI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Agenda Paparan Proposal Penelitian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Struktur paparan proposal mencakup empat pilar bahasan ilmiah terpadu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478505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01. PENDAHULUAN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Latar Belakang &amp; Perumusan Masalah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Urgensi Pangan: </a:t>
            </a:r>
            <a:r>
              <a:rPr sz="1050">
                <a:solidFill>
                  <a:srgbClr val="334155"/>
                </a:solidFill>
                <a:latin typeface="Segoe UI"/>
              </a:rPr>
              <a:t>Bahaya formalin pada bakso &amp; keterbatasan uji konvensional.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Teknologi TMR: </a:t>
            </a:r>
            <a:r>
              <a:rPr sz="1050">
                <a:solidFill>
                  <a:srgbClr val="334155"/>
                </a:solidFill>
                <a:latin typeface="Segoe UI"/>
              </a:rPr>
              <a:t>Peluang sensor magnetoresistansi ultra-sensitif.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Rumusan &amp; Batasan: </a:t>
            </a:r>
            <a:r>
              <a:rPr sz="1050">
                <a:solidFill>
                  <a:srgbClr val="334155"/>
                </a:solidFill>
                <a:latin typeface="Segoe UI"/>
              </a:rPr>
              <a:t>Fokus masalah terukur &amp; ruang lingkup kerja.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Tujuan &amp; Manfaat: </a:t>
            </a:r>
            <a:r>
              <a:rPr sz="1050">
                <a:solidFill>
                  <a:srgbClr val="334155"/>
                </a:solidFill>
                <a:latin typeface="Segoe UI"/>
              </a:rPr>
              <a:t>Target luaran ilmiah dan kontribusi aplikatif.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78505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02. LANDASAN TEORI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Fisika Instrumentasi, Material &amp; Model ML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Sensor TMR ALT023: </a:t>
            </a:r>
            <a:r>
              <a:rPr sz="1050">
                <a:solidFill>
                  <a:srgbClr val="334155"/>
                </a:solidFill>
                <a:latin typeface="Segoe UI"/>
              </a:rPr>
              <a:t>Mekanisme MTJ dan formula model Julliere.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Rantai Sinyal: </a:t>
            </a:r>
            <a:r>
              <a:rPr sz="1050">
                <a:solidFill>
                  <a:srgbClr val="334155"/>
                </a:solidFill>
                <a:latin typeface="Segoe UI"/>
              </a:rPr>
              <a:t>Pengondisi sinyal AD623 (Vref=2.50V) &amp; ADC ADS1115.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Nanofiber Fungsional: </a:t>
            </a:r>
            <a:r>
              <a:rPr sz="1050">
                <a:solidFill>
                  <a:srgbClr val="334155"/>
                </a:solidFill>
                <a:latin typeface="Segoe UI"/>
              </a:rPr>
              <a:t>Fe3O4/PVA-Sitrat dan reseptor spesifik ADH.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Komparasi Model: </a:t>
            </a:r>
            <a:r>
              <a:rPr sz="1050">
                <a:solidFill>
                  <a:srgbClr val="334155"/>
                </a:solidFill>
                <a:latin typeface="Segoe UI"/>
              </a:rPr>
              <a:t>Kernel SVM klasik vs ruang Hilbert kuantum (QSVC).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478505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03. METODE PENELITIAN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Desain Hardware, Software &amp; Sintesis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Waktu &amp; Tempat: </a:t>
            </a:r>
            <a:r>
              <a:rPr sz="1050">
                <a:solidFill>
                  <a:srgbClr val="334155"/>
                </a:solidFill>
                <a:latin typeface="Segoe UI"/>
              </a:rPr>
              <a:t>Lab Fisika Instrumentasi &amp; Lab Sains Terpadu UIN SGD.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Desain Perangkat: </a:t>
            </a:r>
            <a:r>
              <a:rPr sz="1050">
                <a:solidFill>
                  <a:srgbClr val="334155"/>
                </a:solidFill>
                <a:latin typeface="Segoe UI"/>
              </a:rPr>
              <a:t>Skematik PCB, casing 3D &amp; Helmholtz 0-16V.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Perangkat Lunak: </a:t>
            </a:r>
            <a:r>
              <a:rPr sz="1050">
                <a:solidFill>
                  <a:srgbClr val="334155"/>
                </a:solidFill>
                <a:latin typeface="Segoe UI"/>
              </a:rPr>
              <a:t>Firmware Arduino &amp; GUI Python OriginLab 3D.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Sintesis &amp; Karakterisasi: </a:t>
            </a:r>
            <a:r>
              <a:rPr sz="1050">
                <a:solidFill>
                  <a:srgbClr val="334155"/>
                </a:solidFill>
                <a:latin typeface="Segoe UI"/>
              </a:rPr>
              <a:t>Electrospinning 15 kV &amp; kalibrasi respons sensor.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14800"/>
            <a:ext cx="478505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04. RENCANA &amp; LUARAN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Pengujian Analit &amp; Roadmap Penelitian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Protokol Sampel: </a:t>
            </a:r>
            <a:r>
              <a:rPr sz="1050">
                <a:solidFill>
                  <a:srgbClr val="334155"/>
                </a:solidFill>
                <a:latin typeface="Segoe UI"/>
              </a:rPr>
              <a:t>Spiking formalin bakso (0-1000 ppm) &amp; ekstraksi 5 fitur.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Pipeline Evaluasi: </a:t>
            </a:r>
            <a:r>
              <a:rPr sz="1050">
                <a:solidFill>
                  <a:srgbClr val="334155"/>
                </a:solidFill>
                <a:latin typeface="Segoe UI"/>
              </a:rPr>
              <a:t>5-Fold CV, metrik ROC-AUC, dan waktu inferensi.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Deploy Instrumentasi: </a:t>
            </a:r>
            <a:r>
              <a:rPr sz="1050">
                <a:solidFill>
                  <a:srgbClr val="334155"/>
                </a:solidFill>
                <a:latin typeface="Segoe UI"/>
              </a:rPr>
              <a:t>Integrasi model klasifikasi ke GUI desktop.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050">
                <a:solidFill>
                  <a:srgbClr val="2563EB"/>
                </a:solidFill>
                <a:latin typeface="Segoe UI"/>
              </a:rPr>
              <a:t>• </a:t>
            </a:r>
            <a:r>
              <a:rPr b="1" sz="1050">
                <a:solidFill>
                  <a:srgbClr val="0F172A"/>
                </a:solidFill>
                <a:latin typeface="Segoe UI"/>
              </a:rPr>
              <a:t>Roadmap 6 Bulan: </a:t>
            </a:r>
            <a:r>
              <a:rPr sz="1050">
                <a:solidFill>
                  <a:srgbClr val="334155"/>
                </a:solidFill>
                <a:latin typeface="Segoe UI"/>
              </a:rPr>
              <a:t>Jadwal kerja sistematis Semester Genap 2026.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I: PENDAHULUAN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Latar Belakang I: Bahaya Formalin &amp; Limitasi Pengujian Eksisting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Krisis keamanan pangan dan urgensi pengembangan metode deteksi portabel kuantitatif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D97706"/>
                </a:solidFill>
                <a:latin typeface="Segoe UI"/>
              </a:defRPr>
            </a:pPr>
            <a:r>
              <a:t>URGENSI KESEHATAN MASYARAKAT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Penyalahgunaan Formalin pada Produk Bakso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Karsinogen Golongan 1: </a:t>
            </a:r>
            <a:r>
              <a:rPr sz="1100">
                <a:solidFill>
                  <a:srgbClr val="334155"/>
                </a:solidFill>
                <a:latin typeface="Segoe UI"/>
              </a:rPr>
              <a:t>IARC mengklasifikasikan formaldehida sebagai senyawa karsinogenik terbukti pada manusia.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Motif Penyalahgunaan: </a:t>
            </a:r>
            <a:r>
              <a:rPr sz="1100">
                <a:solidFill>
                  <a:srgbClr val="334155"/>
                </a:solidFill>
                <a:latin typeface="Segoe UI"/>
              </a:rPr>
              <a:t>Sering disalahgunakan secara ilegal sebagai pengawet bakso untuk menghambat pembusukan mikroba dan memanipulasi kekenyalan tekstur daging.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Dampak Kesehatan Akut &amp; Kronis: </a:t>
            </a:r>
            <a:r>
              <a:rPr sz="1100">
                <a:solidFill>
                  <a:srgbClr val="334155"/>
                </a:solidFill>
                <a:latin typeface="Segoe UI"/>
              </a:rPr>
              <a:t>Paparan jangka panjang memicu iritasi mukosa, kerusakan fungsi hepar dan ginjal, hingga karsinoma nasofaring.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Realitas di Pasar Tradisional: </a:t>
            </a:r>
            <a:r>
              <a:rPr sz="1100">
                <a:solidFill>
                  <a:srgbClr val="334155"/>
                </a:solidFill>
                <a:latin typeface="Segoe UI"/>
              </a:rPr>
              <a:t>Survei BPOM RI masih kerap mendeteksi residu formalin pada sampel pangan olahan daging basah.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93615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LIMITASI ANALITIK KONVENSIONAL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Keterbatasan Metode Pengujian Eksisting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Uji Laboratorium (HPLC / GC-MS): </a:t>
            </a:r>
            <a:r>
              <a:rPr sz="1100">
                <a:solidFill>
                  <a:srgbClr val="334155"/>
                </a:solidFill>
                <a:latin typeface="Segoe UI"/>
              </a:rPr>
              <a:t>Sangat akurat, namun destruktif, biaya operasional tinggi, membutuhkan tenaga ahli, dan tidak dapat digunakan untuk inspeksi lapangan.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Test Kit Kolorimetri Kimiawi: </a:t>
            </a:r>
            <a:r>
              <a:rPr sz="1100">
                <a:solidFill>
                  <a:srgbClr val="334155"/>
                </a:solidFill>
                <a:latin typeface="Segoe UI"/>
              </a:rPr>
              <a:t>Cepat dan portabel, tetapi bersifat semi-kuantitatif, sensitivitas rendah, dan rawan salah interpretasi akibat degradasi warna reagen.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Kebutuhan Nyata: </a:t>
            </a:r>
            <a:r>
              <a:rPr sz="1100">
                <a:solidFill>
                  <a:srgbClr val="334155"/>
                </a:solidFill>
                <a:latin typeface="Segoe UI"/>
              </a:rPr>
              <a:t>Dibutuhkan sistem instrumentasi baru yang cepat, portabel, non-destruktif, memiliki sensitivitas tinggi, serta mampu mengukur konsentrasi secara kuantitatif.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10728655" cy="1051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239512"/>
            <a:ext cx="10180015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Segoe UI"/>
              </a:defRPr>
            </a:pPr>
            <a:r>
              <a:t>SOLUSI YANG DIAJUKAN:</a:t>
            </a:r>
          </a:p>
          <a:p>
            <a:pPr>
              <a:defRPr sz="1100" b="1">
                <a:solidFill>
                  <a:srgbClr val="0F1E4A"/>
                </a:solidFill>
                <a:latin typeface="Segoe UI"/>
              </a:defRPr>
            </a:pPr>
            <a:r>
              <a:t>Pengembangan biosensor magnetik berbasis Tunneling Magnetoresistance (TMR) dengan membran nanofiber Fe3O4/PVA-Sitrat-ADH sebagai transduser spesifik yang terintegrasi pengondisi sinyal presisi dan pembelajaran mesin.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Referensi: IARC Formaldehyde Monograph (2012); BPOM RI Laporan Tahunan (2024); Widyasari et al. (2022).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I: PENDAHULUAN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Latar Belakang II: Prinsip Sensor TMR &amp; Nanofiber Magnetik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Sinergi efek spintronika magnetoresistif dengan nanomaterial fungsional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TEKNOLOGI SENSOR TRANSDUSER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Keunggulan Sensor TMR ALT023-10E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Efek Tunneling Magnetoresistance: </a:t>
            </a:r>
            <a:r>
              <a:rPr sz="1100">
                <a:solidFill>
                  <a:srgbClr val="334155"/>
                </a:solidFill>
                <a:latin typeface="Segoe UI"/>
              </a:rPr>
              <a:t>Transpor elektron terpolarisasi spin menembus penghalang isolator tipis pada Magnetic Tunnel Junction (MTJ).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Rasio MR &amp; Sensitivitas Tinggi: </a:t>
            </a:r>
            <a:r>
              <a:rPr sz="1100">
                <a:solidFill>
                  <a:srgbClr val="334155"/>
                </a:solidFill>
                <a:latin typeface="Segoe UI"/>
              </a:rPr>
              <a:t>TMR mencapai &gt; 100%, menghasilkan sensitivitas medan hingga 11–18 mV/V/mT, melampaui sensor Hall dan GMR konvensional.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Rentang Linier Medan Rendah: </a:t>
            </a:r>
            <a:r>
              <a:rPr sz="1100">
                <a:solidFill>
                  <a:srgbClr val="334155"/>
                </a:solidFill>
                <a:latin typeface="Segoe UI"/>
              </a:rPr>
              <a:t>Sensor ALT023-10E memiliki rentang linier saturasi ±1.0 mT, sangat ideal untuk mendeteksi perubahan medan magnet mikro dari analit.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Stabilitas &amp; Konsumsi Daya Rendah: </a:t>
            </a:r>
            <a:r>
              <a:rPr sz="1100">
                <a:solidFill>
                  <a:srgbClr val="334155"/>
                </a:solidFill>
                <a:latin typeface="Segoe UI"/>
              </a:rPr>
              <a:t>Menggunakan konfigurasi jembatan Wheatstone penuh (~20 kΩ) dengan kompensasi termal otomatis.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MEMBRAN PENANGKAP ANALIT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Fungsionalisasi Nanofiber Komposit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Matriks Nanofiber Elektrospinning: </a:t>
            </a:r>
            <a:r>
              <a:rPr sz="1100">
                <a:solidFill>
                  <a:srgbClr val="334155"/>
                </a:solidFill>
                <a:latin typeface="Segoe UI"/>
              </a:rPr>
              <a:t>PVA dan asam sitrat membentuk jaringan serat berpori dengan luas permukaan spesifik tinggi (&gt; 50 m²/g).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Nanopartikel Superparamagnetik Fe3O4: </a:t>
            </a:r>
            <a:r>
              <a:rPr sz="1100">
                <a:solidFill>
                  <a:srgbClr val="334155"/>
                </a:solidFill>
                <a:latin typeface="Segoe UI"/>
              </a:rPr>
              <a:t>Terdistribusi seragam di dalam serat; memiliki momen magnetik tinggi tanpa histeresis permanen pada B=0.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Reseptor Adipic Dihydrazide (ADH): </a:t>
            </a:r>
            <a:r>
              <a:rPr sz="1100">
                <a:solidFill>
                  <a:srgbClr val="334155"/>
                </a:solidFill>
                <a:latin typeface="Segoe UI"/>
              </a:rPr>
              <a:t>Gugus hidrazida (-NH-NH2) pada ADH berikatan kovalen spesifik dengan gugus aldehida (-CHO) formalin membentuk ikatan hidrazon.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Mekanisme Transduksi: </a:t>
            </a:r>
            <a:r>
              <a:rPr sz="1100">
                <a:solidFill>
                  <a:srgbClr val="334155"/>
                </a:solidFill>
                <a:latin typeface="Segoe UI"/>
              </a:rPr>
              <a:t>Pengikatan formalin memicu perubahan permeabilitas lokal dan momen dipol magnetik Fe3O4 yang terbaca langsung sebagai pergeseran tegangan TMR.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I: PENDAHULUAN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Latar Belakang III: Peluang Machine Learning (SVM vs QSVC)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Pengenalan pola sinyal sensorik dari pembelajaran mesin klasik hingga komputasi kuantum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BENCHMARK PEMBELAJARAN MESIN KLASIK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Support Vector Machine (SVM)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Prinsip Dasar: </a:t>
            </a:r>
            <a:r>
              <a:rPr sz="1100">
                <a:solidFill>
                  <a:srgbClr val="334155"/>
                </a:solidFill>
                <a:latin typeface="Segoe UI"/>
              </a:rPr>
              <a:t>Menemukan bidang pemisah (hyperplane) optimal yang memaksimalkan jarak margin antar-kelas data.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Kernel Radial Basis Function (RBF): </a:t>
            </a:r>
            <a:r>
              <a:rPr sz="1100">
                <a:solidFill>
                  <a:srgbClr val="334155"/>
                </a:solidFill>
                <a:latin typeface="Segoe UI"/>
              </a:rPr>
              <a:t>Mampu memetakan relasi non-linear fitur sinyal sensor ke ruang dimensi lebih tinggi secara matematis terbukti.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Keunggulan: </a:t>
            </a:r>
            <a:r>
              <a:rPr sz="1100">
                <a:solidFill>
                  <a:srgbClr val="334155"/>
                </a:solidFill>
                <a:latin typeface="Segoe UI"/>
              </a:rPr>
              <a:t>Cepat dalam proses pelatihan, stabil pada dataset ukuran terbatas, dan memiliki beban komputasi rendah.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Limitasi Tantangan: </a:t>
            </a:r>
            <a:r>
              <a:rPr sz="1100">
                <a:solidFill>
                  <a:srgbClr val="334155"/>
                </a:solidFill>
                <a:latin typeface="Segoe UI"/>
              </a:rPr>
              <a:t>Dapat mengalami degradasi separabilitas ketika fitur sinyal pada konsentrasi mikro saling bertumpuk (overlapping noise).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PARADIGMA PEMBELAJARAN MESIN KUANTUM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Quantum Support Vector Classifier (QSVC)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Pemetaan Ruang Hilbert: </a:t>
            </a:r>
            <a:r>
              <a:rPr sz="1100">
                <a:solidFill>
                  <a:srgbClr val="334155"/>
                </a:solidFill>
                <a:latin typeface="Segoe UI"/>
              </a:rPr>
              <a:t>Memetakan data masukan ke keadaan kuantum |Phi(x)&gt; berdimensi eksponensial (2^n) menggunakan sirkuit ZZFeatureMap.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Entanglement &amp; Kuantum Kernel: </a:t>
            </a:r>
            <a:r>
              <a:rPr sz="1100">
                <a:solidFill>
                  <a:srgbClr val="334155"/>
                </a:solidFill>
                <a:latin typeface="Segoe UI"/>
              </a:rPr>
              <a:t>Kernel kuantum K(xi, xj) = |&lt;Phi(xi)|Phi(xj)&gt;|^2 mengeksploitasi korelasi fitur yang tidak terjangkau fungsi kernel klasik.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Potensi Keunggulan Kuantum: </a:t>
            </a:r>
            <a:r>
              <a:rPr sz="1100">
                <a:solidFill>
                  <a:srgbClr val="334155"/>
                </a:solidFill>
                <a:latin typeface="Segoe UI"/>
              </a:rPr>
              <a:t>Mampu memisahkan klaster konsentrasi analit rendah dengan margin keputusan yang lebih tegas dan tahan terhadap dispersi data.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Urgensi Komparasi: </a:t>
            </a:r>
            <a:r>
              <a:rPr sz="1100">
                <a:solidFill>
                  <a:srgbClr val="334155"/>
                </a:solidFill>
                <a:latin typeface="Segoe UI"/>
              </a:rPr>
              <a:t>Memberikan tolok ukur komparatif empiris antara algoritma klasik dan kuantum pada data sensor fisik riil.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I: PENDAHULUAN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Rumusan Masalah Penelitian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Empat fokus pertanyaan ilmiah terukur yang menjadi landasan pelaksanaan tugas akhir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69361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RUMUSAN MASALAH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01. RANCANG BANGUN INSTRUMENTASI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50">
                <a:solidFill>
                  <a:srgbClr val="2563EB"/>
                </a:solidFill>
                <a:latin typeface="Segoe UI"/>
              </a:rPr>
              <a:t>• </a:t>
            </a:r>
            <a:r>
              <a:rPr b="1" sz="1150">
                <a:solidFill>
                  <a:srgbClr val="0F172A"/>
                </a:solidFill>
                <a:latin typeface="Segoe UI"/>
              </a:rPr>
              <a:t>Pertanyaan Fokus: </a:t>
            </a:r>
            <a:r>
              <a:rPr sz="1150">
                <a:solidFill>
                  <a:srgbClr val="334155"/>
                </a:solidFill>
                <a:latin typeface="Segoe UI"/>
              </a:rPr>
              <a:t>Bagaimana merancang dan merealisasikan rantai instrumentasi sensor TMR ALT023-10E dengan in-amp AD623 (Vref=2.50V) dan ADC ADS1115 16-bit yang stabil dan minim noise?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69361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RUMUSAN MASALAH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02. SINTESIS &amp; FUNGSIONALISASI NANOFIBER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50">
                <a:solidFill>
                  <a:srgbClr val="2563EB"/>
                </a:solidFill>
                <a:latin typeface="Segoe UI"/>
              </a:rPr>
              <a:t>• </a:t>
            </a:r>
            <a:r>
              <a:rPr b="1" sz="1150">
                <a:solidFill>
                  <a:srgbClr val="0F172A"/>
                </a:solidFill>
                <a:latin typeface="Segoe UI"/>
              </a:rPr>
              <a:t>Pertanyaan Fokus: </a:t>
            </a:r>
            <a:r>
              <a:rPr sz="1150">
                <a:solidFill>
                  <a:srgbClr val="334155"/>
                </a:solidFill>
                <a:latin typeface="Segoe UI"/>
              </a:rPr>
              <a:t>Bagaimana pengaruh fungsionalisasi nanofiber Fe3O4/PVA-Sitrat-ADH terhadap respons modulasi medan magnetik yang terdeteksi oleh sensor TMR?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469361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RUMUSAN MASALAH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03. KARAKTERISASI RESPON FORMALIN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50">
                <a:solidFill>
                  <a:srgbClr val="2563EB"/>
                </a:solidFill>
                <a:latin typeface="Segoe UI"/>
              </a:rPr>
              <a:t>• </a:t>
            </a:r>
            <a:r>
              <a:rPr b="1" sz="1150">
                <a:solidFill>
                  <a:srgbClr val="0F172A"/>
                </a:solidFill>
                <a:latin typeface="Segoe UI"/>
              </a:rPr>
              <a:t>Pertanyaan Fokus: </a:t>
            </a:r>
            <a:r>
              <a:rPr sz="1150">
                <a:solidFill>
                  <a:srgbClr val="334155"/>
                </a:solidFill>
                <a:latin typeface="Segoe UI"/>
              </a:rPr>
              <a:t>Bagaimana sensitivitas, batas deteksi (LOD), waktu respons, dan kurva tegangan sensor TMR terhadap variasi konsentrasi formalin pada bakso (0–1000 ppm)?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69361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RUMUSAN MASALAH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04. KOMPARASI MODEL SVM VS QSVC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50">
                <a:solidFill>
                  <a:srgbClr val="2563EB"/>
                </a:solidFill>
                <a:latin typeface="Segoe UI"/>
              </a:rPr>
              <a:t>• </a:t>
            </a:r>
            <a:r>
              <a:rPr b="1" sz="1150">
                <a:solidFill>
                  <a:srgbClr val="0F172A"/>
                </a:solidFill>
                <a:latin typeface="Segoe UI"/>
              </a:rPr>
              <a:t>Pertanyaan Fokus: </a:t>
            </a:r>
            <a:r>
              <a:rPr sz="1150">
                <a:solidFill>
                  <a:srgbClr val="334155"/>
                </a:solidFill>
                <a:latin typeface="Segoe UI"/>
              </a:rPr>
              <a:t>Bagaimana komparasi performa akurasi, presisi, recall, F1-score, dan efisiensi waktu komputasi antara model SVM klasik dan QSVC kuantum dalam klasifikasi konsentrasi formalin?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I: PENDAHULUAN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Batasan Masalah &amp; Asumsi Kerja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Ruang lingkup operasional, parameter perangkat keras, dan batasan komputasi sistem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SPESIFIKASI ELEKTRIK &amp; MEKANIK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Batasan Perangkat Keras &amp; Rantai Sinyal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Sensor Magnetik: </a:t>
            </a:r>
            <a:r>
              <a:rPr sz="1100">
                <a:solidFill>
                  <a:srgbClr val="334155"/>
                </a:solidFill>
                <a:latin typeface="Segoe UI"/>
              </a:rPr>
              <a:t>Menggunakan TMR ALT023-10E pada rentang linier saturasi ±1.0 mT.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Pengkondisi Sinyal AD623: </a:t>
            </a:r>
            <a:r>
              <a:rPr sz="1100">
                <a:solidFill>
                  <a:srgbClr val="334155"/>
                </a:solidFill>
                <a:latin typeface="Segoe UI"/>
              </a:rPr>
              <a:t>Catu daya tunggal +5.0 V dengan pin REF terkunci pada VREF = 2.50 V menggunakan pembagi tegangan resistor presisi R3=R4=1.0 kΩ.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ADC ADS1115 16-Bit: </a:t>
            </a:r>
            <a:r>
              <a:rPr sz="1100">
                <a:solidFill>
                  <a:srgbClr val="334155"/>
                </a:solidFill>
                <a:latin typeface="Segoe UI"/>
              </a:rPr>
              <a:t>Beroperasi pada penguatan internal GAIN_TWOTHIRDS (FSR ±6.144 V) dengan resolusi 0.1875 mV/count.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Kumparan Helmholtz: </a:t>
            </a:r>
            <a:r>
              <a:rPr sz="1100">
                <a:solidFill>
                  <a:srgbClr val="334155"/>
                </a:solidFill>
                <a:latin typeface="Segoe UI"/>
              </a:rPr>
              <a:t>Catu daya DC 0.0–16.0 V (arus maks ~1.6 A, medan 0–11.5 mT, sapuan karakterisasi ±4.0 mT) diatur secara eksternal manual.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ANALIT PANGAN &amp; SIMULATOR ML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Batasan Sampel Kimia &amp; Komputasi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Komposisi Nanofiber: </a:t>
            </a:r>
            <a:r>
              <a:rPr sz="1100">
                <a:solidFill>
                  <a:srgbClr val="334155"/>
                </a:solidFill>
                <a:latin typeface="Segoe UI"/>
              </a:rPr>
              <a:t>PVA 10% wt, asam sitrat 5% wt, nanopartikel Fe3O4 3% wt, difungsionalisasi dengan Adipic Dihydrazide (ADH).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Sampel Analit Bakso: </a:t>
            </a:r>
            <a:r>
              <a:rPr sz="1100">
                <a:solidFill>
                  <a:srgbClr val="334155"/>
                </a:solidFill>
                <a:latin typeface="Segoe UI"/>
              </a:rPr>
              <a:t>Bakso daging sapi segar pasar tradisional yang di-spiking larutan formalin pada 6 tingkat konsentrasi: 0, 10, 50, 100, 500, dan 1000 ppm.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Metode Akuisisi: </a:t>
            </a:r>
            <a:r>
              <a:rPr sz="1100">
                <a:solidFill>
                  <a:srgbClr val="334155"/>
                </a:solidFill>
                <a:latin typeface="Segoe UI"/>
              </a:rPr>
              <a:t>Berbasis Durasi Waktu ('Lama Detik', default 5.0 s) dengan pembuangan waktu stabilisasi awal 1.0 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Komputasi Kuantum: </a:t>
            </a:r>
            <a:r>
              <a:rPr sz="1100">
                <a:solidFill>
                  <a:srgbClr val="334155"/>
                </a:solidFill>
                <a:latin typeface="Segoe UI"/>
              </a:rPr>
              <a:t>Model QSVC disimulasikan menggunakan sirkuit kuantum statevector pada framework IBM Qiskit (4-qubit feature map).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I: PENDAHULUAN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Tujuan Penelitian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Target capaian terukur yang berkorespondensi 1:1 dengan rumusan masalah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69361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KORESPONDENSI 1:1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TUJUAN 1 (HARDWARE &amp; INSTRUMENTASI)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50">
                <a:solidFill>
                  <a:srgbClr val="2563EB"/>
                </a:solidFill>
                <a:latin typeface="Segoe UI"/>
              </a:rPr>
              <a:t>• </a:t>
            </a:r>
            <a:r>
              <a:rPr b="1" sz="1150">
                <a:solidFill>
                  <a:srgbClr val="0F172A"/>
                </a:solidFill>
                <a:latin typeface="Segoe UI"/>
              </a:rPr>
              <a:t>Target Capaian: </a:t>
            </a:r>
            <a:r>
              <a:rPr sz="1150">
                <a:solidFill>
                  <a:srgbClr val="334155"/>
                </a:solidFill>
                <a:latin typeface="Segoe UI"/>
              </a:rPr>
              <a:t>Merancang, memfabrikasi, dan menguji rantai instrumentasi sensor TMR ALT023-10E dengan penguat in-amp AD623 (Vref=2.50V) dan ADC ADS1115 16-bit berbasis mikrokontroler.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91640"/>
            <a:ext cx="469361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KORESPONDENSI 1:1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TUJUAN 2 (SINTESIS &amp; FUNGSIONALISASI)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50">
                <a:solidFill>
                  <a:srgbClr val="2563EB"/>
                </a:solidFill>
                <a:latin typeface="Segoe UI"/>
              </a:rPr>
              <a:t>• </a:t>
            </a:r>
            <a:r>
              <a:rPr b="1" sz="1150">
                <a:solidFill>
                  <a:srgbClr val="0F172A"/>
                </a:solidFill>
                <a:latin typeface="Segoe UI"/>
              </a:rPr>
              <a:t>Target Capaian: </a:t>
            </a:r>
            <a:r>
              <a:rPr sz="1150">
                <a:solidFill>
                  <a:srgbClr val="334155"/>
                </a:solidFill>
                <a:latin typeface="Segoe UI"/>
              </a:rPr>
              <a:t>Mensintesis membran nanofiber komposit Fe3O4/PVA-Sitrat-ADH melalui teknik electrospinning dan menganalisis pengaruh fungsionalisasinya terhadap respons medan magnetik.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469361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KORESPONDENSI 1:1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TUJUAN 3 (PENGUJIAN &amp; KARAKTERISASI)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50">
                <a:solidFill>
                  <a:srgbClr val="2563EB"/>
                </a:solidFill>
                <a:latin typeface="Segoe UI"/>
              </a:rPr>
              <a:t>• </a:t>
            </a:r>
            <a:r>
              <a:rPr b="1" sz="1150">
                <a:solidFill>
                  <a:srgbClr val="0F172A"/>
                </a:solidFill>
                <a:latin typeface="Segoe UI"/>
              </a:rPr>
              <a:t>Target Capaian: </a:t>
            </a:r>
            <a:r>
              <a:rPr sz="1150">
                <a:solidFill>
                  <a:srgbClr val="334155"/>
                </a:solidFill>
                <a:latin typeface="Segoe UI"/>
              </a:rPr>
              <a:t>Mengkarakterisasi sensitivitas (S = dV/dB), limit deteksi, kurva respons transien, dan stabilitas elektrik sensor TMR terhadap sampel bakso berformalin (0–1000 ppm).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4225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693615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KORESPONDENSI 1:1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TUJUAN 4 (PEMODELAN ML &amp; KOMPARASI)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b="1" sz="1150">
                <a:solidFill>
                  <a:srgbClr val="2563EB"/>
                </a:solidFill>
                <a:latin typeface="Segoe UI"/>
              </a:rPr>
              <a:t>• </a:t>
            </a:r>
            <a:r>
              <a:rPr b="1" sz="1150">
                <a:solidFill>
                  <a:srgbClr val="0F172A"/>
                </a:solidFill>
                <a:latin typeface="Segoe UI"/>
              </a:rPr>
              <a:t>Target Capaian: </a:t>
            </a:r>
            <a:r>
              <a:rPr sz="1150">
                <a:solidFill>
                  <a:srgbClr val="334155"/>
                </a:solidFill>
                <a:latin typeface="Segoe UI"/>
              </a:rPr>
              <a:t>Mengembangkan dan membandingkan performa akurasi, presisi, recall, F1-score, serta efisiensi waktu komputasi antara model SVM klasik dan QSVC kuantum.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I: PENDAHULUAN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Manfaat Penelitian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Kontribusi terhadap perkembangan ilmu fisika instrumentasi dan aplikasi perlindungan pangan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KONTRIBUSI ILMIAH FISIKA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Manfaat Teoretis &amp; Akademis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Pengembangan Fisika Instrumentasi: </a:t>
            </a:r>
            <a:r>
              <a:rPr sz="1100">
                <a:solidFill>
                  <a:srgbClr val="334155"/>
                </a:solidFill>
                <a:latin typeface="Segoe UI"/>
              </a:rPr>
              <a:t>Memperkaya kajian integrasi transduser spintronika magnetoresistif dengan nanomaterial fungsional cerdas.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Penerapan Quantum Machine Learning: </a:t>
            </a:r>
            <a:r>
              <a:rPr sz="1100">
                <a:solidFill>
                  <a:srgbClr val="334155"/>
                </a:solidFill>
                <a:latin typeface="Segoe UI"/>
              </a:rPr>
              <a:t>Menyajikan data empiris performa model kuantum (QSVC) dalam mengklasifikasikan sinyal sensor fisik riil.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Penguatan Literatur Nanomaterial: </a:t>
            </a:r>
            <a:r>
              <a:rPr sz="1100">
                <a:solidFill>
                  <a:srgbClr val="334155"/>
                </a:solidFill>
                <a:latin typeface="Segoe UI"/>
              </a:rPr>
              <a:t>Menjadi rujukan ilmiah mengenai rekayasa electrospinning membran PVA-Sitrat-ADH sebagai matriks biosensor.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Target Publikasi Ilmiah: </a:t>
            </a:r>
            <a:r>
              <a:rPr sz="1100">
                <a:solidFill>
                  <a:srgbClr val="334155"/>
                </a:solidFill>
                <a:latin typeface="Segoe UI"/>
              </a:rPr>
              <a:t>Menghasilkan publikasi artikel ilmiah pada jurnal nasional terakreditasi SINTA atau prosiding internasional bereputasi.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DAMPAK SOSIAL &amp; INDUSTRI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Manfaat Praktis &amp; Aplikatif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Inspeksi Cepat di Lapangan: </a:t>
            </a:r>
            <a:r>
              <a:rPr sz="1100">
                <a:solidFill>
                  <a:srgbClr val="334155"/>
                </a:solidFill>
                <a:latin typeface="Segoe UI"/>
              </a:rPr>
              <a:t>Menghadirkan alternatif instrumen portabel berbiaya terjangkau untuk deteksi formalin pada pasar tradisional.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Dukungan bagi Instansi Pengawas: </a:t>
            </a:r>
            <a:r>
              <a:rPr sz="1100">
                <a:solidFill>
                  <a:srgbClr val="334155"/>
                </a:solidFill>
                <a:latin typeface="Segoe UI"/>
              </a:rPr>
              <a:t>Membantu instansi terkait (BPOM &amp; Dinas Kesehatan) dalam pengawasan mutu pangan secara cepat sebelum uji lab mahal.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Keamanan Konsumen: </a:t>
            </a:r>
            <a:r>
              <a:rPr sz="1100">
                <a:solidFill>
                  <a:srgbClr val="334155"/>
                </a:solidFill>
                <a:latin typeface="Segoe UI"/>
              </a:rPr>
              <a:t>Memberikan kontribusi nyata dalam menekan peredaran makanan berbahaya dan melindungi kesehatan masyarakat.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Potensi Hilirisasi Teknologi: </a:t>
            </a:r>
            <a:r>
              <a:rPr sz="1100">
                <a:solidFill>
                  <a:srgbClr val="334155"/>
                </a:solidFill>
                <a:latin typeface="Segoe UI"/>
              </a:rPr>
              <a:t>Membuka peluang pengembangan prototipe biosensor pangan komersial karya mahasiswa fisika Indonesia.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II: TINJAUAN PUSTAKA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Landasan Teori I: Sensor TMR ALT023-10E &amp; Tunneling Magnetoresistance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Mekanisme fisika Magnetic Tunnel Junction (MTJ) dan model matematis Julliere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6692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512064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SPINTRONIKA KUANTUM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Prinsip Fisika Magnetic Tunnel Junction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Fenomena TMR: </a:t>
            </a:r>
            <a:r>
              <a:rPr sz="1100">
                <a:solidFill>
                  <a:srgbClr val="334155"/>
                </a:solidFill>
                <a:latin typeface="Segoe UI"/>
              </a:rPr>
              <a:t>Dua lapisan feromagnetik dipisahkan lapisan isolator nanometer (MgO/Al2O3). Peluang tunneling elektron bergantung pada kesejajaran spin.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Model Julliere (1975): </a:t>
            </a:r>
            <a:r>
              <a:rPr sz="1100">
                <a:solidFill>
                  <a:srgbClr val="334155"/>
                </a:solidFill>
                <a:latin typeface="Segoe UI"/>
              </a:rPr>
              <a:t>TMR = (RAP - RP) / RP = 2·P1·P2 / (1 - P1·P2), dengan P1 dan P2 adalah polarisasi spin kedua elektroda feromagnetik.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Konfigurasi Bipolar ALT023-10E: </a:t>
            </a:r>
            <a:r>
              <a:rPr sz="1100">
                <a:solidFill>
                  <a:srgbClr val="334155"/>
                </a:solidFill>
                <a:latin typeface="Segoe UI"/>
              </a:rPr>
              <a:t>Mengintegrasikan jembatan Wheatstone 4 elemen MTJ dengan sensitivitas ~11-18 mV/V/mT pada rentang ±1.0 mT.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Resistansi Jembatan: </a:t>
            </a:r>
            <a:r>
              <a:rPr sz="1100">
                <a:solidFill>
                  <a:srgbClr val="334155"/>
                </a:solidFill>
                <a:latin typeface="Segoe UI"/>
              </a:rPr>
              <a:t>Resistansi jembatan nominal ~20 kΩ, menghasilkan konsumsi daya rendah dan disipasi panas minimal.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15908" y="1472184"/>
            <a:ext cx="3673302" cy="2221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_TMR_La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2484" y="1508760"/>
            <a:ext cx="3600150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69604" y="3703320"/>
            <a:ext cx="396591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2.1: Struktur Lapisan MTJ dan Orientasi Spin Feromagnetik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87284" y="3941063"/>
            <a:ext cx="2130552" cy="2130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bII_ALT0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860" y="3977639"/>
            <a:ext cx="2057400" cy="2057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40980" y="6080759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2.2: Sensor TMR ALT023-10E (Kemasan SOIC-8 NVE Corp.)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Referensi: Julliere (1975); NVE Corporation ALT023-10E Datasheet (2022).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II: TINJAUAN PUSTAKA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Landasan Teori II: Rantai Pengkondisi Sinyal AD623 &amp; ADS1115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Arsitektur penguat instrumentasi single-supply presisi dan ADC 16-bit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6692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512064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PENGUAT &amp; KONVERTER ANALOG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Spesifikasi Rantai Sinyal Elektrik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In-Amp AD623: </a:t>
            </a:r>
            <a:r>
              <a:rPr sz="1100">
                <a:solidFill>
                  <a:srgbClr val="334155"/>
                </a:solidFill>
                <a:latin typeface="Segoe UI"/>
              </a:rPr>
              <a:t>Penguat instrumentasi rail-to-rail beroperasi pada single supply +5.0 V dengan CMRR tinggi (&gt; 90 dB).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Penguatan (Gain): </a:t>
            </a:r>
            <a:r>
              <a:rPr sz="1100">
                <a:solidFill>
                  <a:srgbClr val="334155"/>
                </a:solidFill>
                <a:latin typeface="Segoe UI"/>
              </a:rPr>
              <a:t>G = 1 + (100 kΩ / RG). Nilai RG disesuaikan untuk menghasilkan penguatan optimal 50x–100x.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Tegangan Referensi VREF = 2.50 V: </a:t>
            </a:r>
            <a:r>
              <a:rPr sz="1100">
                <a:solidFill>
                  <a:srgbClr val="334155"/>
                </a:solidFill>
                <a:latin typeface="Segoe UI"/>
              </a:rPr>
              <a:t>Pin 5 (REF) dihubungkan ke pembagi tegangan resistor presisi R3=R4=1.0 kΩ sehingga Vout(B=0) ≈ 2.50 V.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ADC ADS1115 16-Bit: </a:t>
            </a:r>
            <a:r>
              <a:rPr sz="1100">
                <a:solidFill>
                  <a:srgbClr val="334155"/>
                </a:solidFill>
                <a:latin typeface="Segoe UI"/>
              </a:rPr>
              <a:t>Komunikasi I2C 100 kHz, GAIN_TWOTHIRDS (FSR ±6.144 V), resolusi 0.1875 mV/count pada mode diferensial A0-A1.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6974" y="1472184"/>
            <a:ext cx="3551171" cy="2221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_AD623_Pin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550" y="1508760"/>
            <a:ext cx="3478019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0670" y="3703320"/>
            <a:ext cx="384377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2.3: Diagram Pinout IC Penguat Instrumentasi AD623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83936" y="3941063"/>
            <a:ext cx="2537247" cy="2130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bII_ADS-1115-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0512" y="3977639"/>
            <a:ext cx="2464095" cy="2057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37632" y="6080759"/>
            <a:ext cx="28298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2.4: Modul Konverter Analog-ke-Digital ADS1115 16-Bit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Referensi: Analog Devices AD623 Datasheet; Texas Instruments ADS1115 Datasheet.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II: TINJAUAN PUSTAKA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Landasan Teori III: Nanofiber Fe3O4/PVA-Sitrat-ADH &amp; Interaksi Formalin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Rekayasa fungsionalisasi gugus hidrazon untuk pengikatan spesifik formaldehida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MEKANISME PENGIKATAN ANALIT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Interaksi Kimia Pembentukan Hidrazon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PVA &amp; Asam Sitrat: </a:t>
            </a:r>
            <a:r>
              <a:rPr sz="1100">
                <a:solidFill>
                  <a:srgbClr val="334155"/>
                </a:solidFill>
                <a:latin typeface="Segoe UI"/>
              </a:rPr>
              <a:t>Asam sitrat berperan ganda sebagai agen crosslinking esterifikasi gugus -OH PVA (ketahanan air) dan penambat molekul ADH.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Adipic Dihydrazide (ADH): </a:t>
            </a:r>
            <a:r>
              <a:rPr sz="1100">
                <a:solidFill>
                  <a:srgbClr val="334155"/>
                </a:solidFill>
                <a:latin typeface="Segoe UI"/>
              </a:rPr>
              <a:t>Mengandung gugus terminal hidrazida (-NH-NH2) yang sangat reaktif dan selektif terhadap gugus karbonil aldehida.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Persamaan Reaksi Hidrazon: </a:t>
            </a:r>
            <a:r>
              <a:rPr sz="1100">
                <a:solidFill>
                  <a:srgbClr val="334155"/>
                </a:solidFill>
                <a:latin typeface="Segoe UI"/>
              </a:rPr>
              <a:t>R-CHO + H2N-NH-R' ---&gt; R-CH=N-NH-R' + H2O. Terbentuk ikatan kovalen hidrazon stabil yang menempel pada permukaan nanofiber.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Perturbasi Medan Magnetik: </a:t>
            </a:r>
            <a:r>
              <a:rPr sz="1100">
                <a:solidFill>
                  <a:srgbClr val="334155"/>
                </a:solidFill>
                <a:latin typeface="Segoe UI"/>
              </a:rPr>
              <a:t>Pengikatan formalin mengubah momen dipol dielektrik lokal dan memodulasi fluks magnetik Fe3O4 yang ditangkap sensor TMR.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KOMPOSISI MATERIAL BIOSENSOR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Peran Fungsional Masing-Masing Komponen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PVA 10% wt: </a:t>
            </a:r>
            <a:r>
              <a:rPr sz="1100">
                <a:solidFill>
                  <a:srgbClr val="334155"/>
                </a:solidFill>
                <a:latin typeface="Segoe UI"/>
              </a:rPr>
              <a:t>Matriks polimer utama pembentuk jalinan nanofiber electrospinning yang fleksibel dan seragam.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Asam Sitrat 5% wt: </a:t>
            </a:r>
            <a:r>
              <a:rPr sz="1100">
                <a:solidFill>
                  <a:srgbClr val="334155"/>
                </a:solidFill>
                <a:latin typeface="Segoe UI"/>
              </a:rPr>
              <a:t>Crosslinker ramah lingkungan (non-glutaraldehida) untuk ketahanan mekanis membran dalam medium cair analit.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Nanopartikel Fe3O4 3% wt: </a:t>
            </a:r>
            <a:r>
              <a:rPr sz="1100">
                <a:solidFill>
                  <a:srgbClr val="334155"/>
                </a:solidFill>
                <a:latin typeface="Segoe UI"/>
              </a:rPr>
              <a:t>Elemen transduser magnetik superparamagnetik berukuran ~12 nm pembawa fluks respons medan.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ADH (Adipic Dihydrazide): </a:t>
            </a:r>
            <a:r>
              <a:rPr sz="1100">
                <a:solidFill>
                  <a:srgbClr val="334155"/>
                </a:solidFill>
                <a:latin typeface="Segoe UI"/>
              </a:rPr>
              <a:t>Reseptor biokimia spesifik untuk memastikan selektivitas tinggi terhadap formalin dibanding zat pengganggu lain.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II: TINJAUAN PUSTAKA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Landasan Teori IV: Komparasi Model SVM Klasik vs QSVC Kuantum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Perbedaan matematis pemetaan ruang fitur kernel klasik dan quantum feature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MODEL BENCHMARK KLASIK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Support Vector Machine (SVM)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Formulasi Margin Optimal: </a:t>
            </a:r>
            <a:r>
              <a:rPr sz="1100">
                <a:solidFill>
                  <a:srgbClr val="334155"/>
                </a:solidFill>
                <a:latin typeface="Segoe UI"/>
              </a:rPr>
              <a:t>Memaksimalkan batas pemisah: min (1/2)||w||^2 + C * sum(xi) terhadap kendala margin kelas.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Fungsi Kernel RBF: </a:t>
            </a:r>
            <a:r>
              <a:rPr sz="1100">
                <a:solidFill>
                  <a:srgbClr val="334155"/>
                </a:solidFill>
                <a:latin typeface="Segoe UI"/>
              </a:rPr>
              <a:t>K(x, x') = exp(-gamma * ||x - x'||^2). Memetakan fitur ke ruang dimensi kontinu tak berhingga.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Kelebihan Komputasi: </a:t>
            </a:r>
            <a:r>
              <a:rPr sz="1100">
                <a:solidFill>
                  <a:srgbClr val="334155"/>
                </a:solidFill>
                <a:latin typeface="Segoe UI"/>
              </a:rPr>
              <a:t>Proses optimasi kuadratik konveks yang matang, eksekusi cepat, dan bebas dari isu barrens plateau.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Evaluasi Kinerja: </a:t>
            </a:r>
            <a:r>
              <a:rPr sz="1100">
                <a:solidFill>
                  <a:srgbClr val="334155"/>
                </a:solidFill>
                <a:latin typeface="Segoe UI"/>
              </a:rPr>
              <a:t>Divalidasi menggunakan 5-Fold Stratified Cross Validation dengan metrik F1-score dan ROC-AUC.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MODEL BERBASIS SIRKUIT KUANTUM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Quantum Support Vector Classifier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Sirkuit ZZFeatureMap: </a:t>
            </a:r>
            <a:r>
              <a:rPr sz="1100">
                <a:solidFill>
                  <a:srgbClr val="334155"/>
                </a:solidFill>
                <a:latin typeface="Segoe UI"/>
              </a:rPr>
              <a:t>Keadaan kuantum |Phi(x)&gt; dikonstruksi melalui gerbang Hadamard H dan gerbang fasa terbelit exp(i * phi_ij * Zi * Zj).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Quantum Kernel Matrix: </a:t>
            </a:r>
            <a:r>
              <a:rPr sz="1100">
                <a:solidFill>
                  <a:srgbClr val="334155"/>
                </a:solidFill>
                <a:latin typeface="Segoe UI"/>
              </a:rPr>
              <a:t>Elemen matriks kernel dihitung melalui overlap kuantum: K(xi, xj) = |&lt;Phi(xi)|Phi(xj)&gt;|^2.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Kapasitas Representasi Kuantum: </a:t>
            </a:r>
            <a:r>
              <a:rPr sz="1100">
                <a:solidFill>
                  <a:srgbClr val="334155"/>
                </a:solidFill>
                <a:latin typeface="Segoe UI"/>
              </a:rPr>
              <a:t>Menyediakan ruang Hilbert berdimensi 2^4 = 16 untuk memisahkan fitur sensorik yang memiliki korelasi kompleks.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Simulasi Qiskit: </a:t>
            </a:r>
            <a:r>
              <a:rPr sz="1100">
                <a:solidFill>
                  <a:srgbClr val="334155"/>
                </a:solidFill>
                <a:latin typeface="Segoe UI"/>
              </a:rPr>
              <a:t>Dieksekusi menggunakan backend statevector/qasm simulator untuk membandingkan akurasi dan latensi inferensi.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Referensi: Cortes &amp; Vapnik (1995); Havlicek et al. (Nature, 2019).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III: METODE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Metodologi Penelitian: Waktu, Tempat, serta Alat &amp; Bahan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Jadwal dan rincian peralatan laboratorium instrumentasi dan sintesis kimia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JADWAL &amp; FASILITAS LAB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Waktu &amp; Lokasi Penelitian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Waktu Pelaksanaan: </a:t>
            </a:r>
            <a:r>
              <a:rPr sz="1100">
                <a:solidFill>
                  <a:srgbClr val="334155"/>
                </a:solidFill>
                <a:latin typeface="Segoe UI"/>
              </a:rPr>
              <a:t>Semester Genap Tahun Akademik 2025/2026 (Maret – Agustus 2026).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Lab Fisika Instrumentasi UIN SGD: </a:t>
            </a:r>
            <a:r>
              <a:rPr sz="1100">
                <a:solidFill>
                  <a:srgbClr val="334155"/>
                </a:solidFill>
                <a:latin typeface="Segoe UI"/>
              </a:rPr>
              <a:t>Fabrikasi sirkuit PCB, perakitan mekanik 3D kumparan Helmholtz, kalibrasi sensor TMR, dan pengujian akuisisi sinyal elektrik.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Lab Sains Terpadu UIN SGD: </a:t>
            </a:r>
            <a:r>
              <a:rPr sz="1100">
                <a:solidFill>
                  <a:srgbClr val="334155"/>
                </a:solidFill>
                <a:latin typeface="Segoe UI"/>
              </a:rPr>
              <a:t>Sintesis sol-gel, elektrospinning nanofiber, fungsionalisasi ikatan ADH, dan preparasi kimia larutan spiking bakso.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Pusat Komputasi Fisika: </a:t>
            </a:r>
            <a:r>
              <a:rPr sz="1100">
                <a:solidFill>
                  <a:srgbClr val="334155"/>
                </a:solidFill>
                <a:latin typeface="Segoe UI"/>
              </a:rPr>
              <a:t>Pelatihan model komparasi machine learning klasik (SVM) dan simulasi sirkuit kuantum (QSVC Qiskit).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INVENTARIS PENELITIAN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Spesifikasi Alat &amp; Bahan Utama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Perangkat Sensor &amp; Sinyal: </a:t>
            </a:r>
            <a:r>
              <a:rPr sz="1100">
                <a:solidFill>
                  <a:srgbClr val="334155"/>
                </a:solidFill>
                <a:latin typeface="Segoe UI"/>
              </a:rPr>
              <a:t>Sensor TMR ALT023-10E (NVE Corp.), IC In-Amp AD623, ADC ADS1115 16-Bit, mikrokontroler Arduino Uno R3.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Perangkat Sumber Medan: </a:t>
            </a:r>
            <a:r>
              <a:rPr sz="1100">
                <a:solidFill>
                  <a:srgbClr val="334155"/>
                </a:solidFill>
                <a:latin typeface="Segoe UI"/>
              </a:rPr>
              <a:t>Kumparan Helmholtz laboratorium (R ≈ 10 Ω), DC Power Supply variabel 0.0–16.0 V, Teslameter Digital presisi.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Bahan Kimia &amp; Sintesis: </a:t>
            </a:r>
            <a:r>
              <a:rPr sz="1100">
                <a:solidFill>
                  <a:srgbClr val="334155"/>
                </a:solidFill>
                <a:latin typeface="Segoe UI"/>
              </a:rPr>
              <a:t>Polyvinyl Alcohol (PVA MW 89-98 kDa), Asam Sitrat p.a., Nanopartikel Fe3O4 (~12 nm), Adipic Dihydrazide (ADH), Formalin 37% p.a.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Sampel Uji Pangan: </a:t>
            </a:r>
            <a:r>
              <a:rPr sz="1100">
                <a:solidFill>
                  <a:srgbClr val="334155"/>
                </a:solidFill>
                <a:latin typeface="Segoe UI"/>
              </a:rPr>
              <a:t>Bakso sapi segar dari pasar tradisional teruji bebas pengawet.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III: METODE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Diagram Alir Komprehensif Penelitian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Tahapan sistematis penelitian dari studi literatur, sintesis, fabrikasi, hingga pemodelan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6692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512064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STRUKTUR KERJA RISET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5 Tahapan Utama Penelitian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Tahap 1 (Persiapan &amp; Desain): </a:t>
            </a:r>
            <a:r>
              <a:rPr sz="1100">
                <a:solidFill>
                  <a:srgbClr val="334155"/>
                </a:solidFill>
                <a:latin typeface="Segoe UI"/>
              </a:rPr>
              <a:t>Studi literatur, perancangan skematik PCB AD623/ADS1115, dan pemodelan statif 3D kumparan Helmholtz.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Tahap 2 (Sintesis Nanofiber): </a:t>
            </a:r>
            <a:r>
              <a:rPr sz="1100">
                <a:solidFill>
                  <a:srgbClr val="334155"/>
                </a:solidFill>
                <a:latin typeface="Segoe UI"/>
              </a:rPr>
              <a:t>Sol-gel PVA/Fe3O4/Sitrat, electrospinning tegangan tinggi 15 kV, dan fungsionalisasi reseptor ADH.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Tahap 3 (Hardware &amp; Software): </a:t>
            </a:r>
            <a:r>
              <a:rPr sz="1100">
                <a:solidFill>
                  <a:srgbClr val="334155"/>
                </a:solidFill>
                <a:latin typeface="Segoe UI"/>
              </a:rPr>
              <a:t>Fabrikasi PCB rantai sinyal presisi, firmware Arduino, dan GUI Python visualisasi 3D.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Tahap 4 (Karakterisasi &amp; Sampel): </a:t>
            </a:r>
            <a:r>
              <a:rPr sz="1100">
                <a:solidFill>
                  <a:srgbClr val="334155"/>
                </a:solidFill>
                <a:latin typeface="Segoe UI"/>
              </a:rPr>
              <a:t>Kalibrasi Helmholtz, pengujian sensitivitas TMR, dan pengujian analit bakso spiking formalin 0–1000 ppm.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Tahap 5 (Machine Learning): </a:t>
            </a:r>
            <a:r>
              <a:rPr sz="1100">
                <a:solidFill>
                  <a:srgbClr val="334155"/>
                </a:solidFill>
                <a:latin typeface="Segoe UI"/>
              </a:rPr>
              <a:t>Ekstraksi 5 fitur sinyal, pelatihan SVM vs QSVC, evaluasi metrik validasi, dan integrasi GUI.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50796" y="1472184"/>
            <a:ext cx="2603526" cy="4690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I_DiagramAlirPenelitia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7372" y="1508760"/>
            <a:ext cx="2530374" cy="461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04492" y="6172199"/>
            <a:ext cx="289613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3.1: Diagram Alir Komprehensif Penelitian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III: METODE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Rancang Bangun Perangkat Keras (Hardware &amp; Casing 3D)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Skematik PCB pengkondisi sinyal presisi dan konstruksi mekanik statif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48640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93776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ARSITEKTUR PERANGKAT KERAS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Integrasi Rantai Sinyal Elektrik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Sensor TMR ALT023-10E: </a:t>
            </a:r>
            <a:r>
              <a:rPr sz="1100">
                <a:solidFill>
                  <a:srgbClr val="334155"/>
                </a:solidFill>
                <a:latin typeface="Segoe UI"/>
              </a:rPr>
              <a:t>Dicatu tegangan +5.0 V dengan kapasitor decoupling 100 nF untuk meredam noise switching catu daya.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In-Amp AD623 &amp; VREF = 2.50 V: </a:t>
            </a:r>
            <a:r>
              <a:rPr sz="1100">
                <a:solidFill>
                  <a:srgbClr val="334155"/>
                </a:solidFill>
                <a:latin typeface="Segoe UI"/>
              </a:rPr>
              <a:t>Tegangan diferensial TMR diperkuat dengan gain RG. Pin REF dihubungkan ke pembagi presisi 1.0 kΩ sehingga Vout berpusat di 2.50 V.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ADC ADS1115 &amp; Bus I2C: </a:t>
            </a:r>
            <a:r>
              <a:rPr sz="1100">
                <a:solidFill>
                  <a:srgbClr val="334155"/>
                </a:solidFill>
                <a:latin typeface="Segoe UI"/>
              </a:rPr>
              <a:t>Membaca sinyal penguat secara diferensial dan mentransmisikan data digital ke Arduino pada 100 kHz.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Statif Non-Magnetik 3D: </a:t>
            </a:r>
            <a:r>
              <a:rPr sz="1100">
                <a:solidFill>
                  <a:srgbClr val="334155"/>
                </a:solidFill>
                <a:latin typeface="Segoe UI"/>
              </a:rPr>
              <a:t>Dicetak menggunakan filament PLA non-magnetik untuk memposisikan sensor tepat di sumbu tengah medan seragam kumparan Helmholtz.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54215" y="1472184"/>
            <a:ext cx="4413808" cy="2221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I_skematik_TMR_grounding_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791" y="1508760"/>
            <a:ext cx="4340656" cy="2148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07911" y="3703320"/>
            <a:ext cx="47064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3.2: Skematik PCB Rantai Sinyal TMR, AD623 &amp; ADS1115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4394" y="3941063"/>
            <a:ext cx="2473452" cy="2130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bIII_Desainnn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0970" y="3977639"/>
            <a:ext cx="2400300" cy="2057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78090" y="6080759"/>
            <a:ext cx="27660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3.3: Desain 3D Casing &amp; Statif Posisi Sensor TMR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III: METODE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Rancang Bangun Perangkat Lunak (Arduino &amp; Python GUI)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Firmware akuisisi digital dan antarmuka analitik real-time berbasis CustomTkinter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48640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93776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FIRMWARE &amp; GUI ANALISIS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Spesifikasi Perangkat Lunak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Firmware Arduino: </a:t>
            </a:r>
            <a:r>
              <a:rPr sz="1100">
                <a:solidFill>
                  <a:srgbClr val="334155"/>
                </a:solidFill>
                <a:latin typeface="Segoe UI"/>
              </a:rPr>
              <a:t>Mengonfigurasi ADS1115 mode diferensial, menerapkan filter moving average N=10, dan mentransmisikan data serial 115200 baud.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Engine Akuisisi Berbasis Durasi: </a:t>
            </a:r>
            <a:r>
              <a:rPr sz="1100">
                <a:solidFill>
                  <a:srgbClr val="334155"/>
                </a:solidFill>
                <a:latin typeface="Segoe UI"/>
              </a:rPr>
              <a:t>Menggunakan durasi waktu terukur ('Lama Detik', default 5.0 s) dengan eliminasi waktu transien awal (settling time 1.0 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Visualisasi OriginLab 3D Scatter: </a:t>
            </a:r>
            <a:r>
              <a:rPr sz="1100">
                <a:solidFill>
                  <a:srgbClr val="334155"/>
                </a:solidFill>
                <a:latin typeface="Segoe UI"/>
              </a:rPr>
              <a:t>Rendering grafik kurva respons kalibrasi dan pengujian analit bergaya bola 3D OriginLab beresolusi 300 DPI.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Auto-Save Laporan Komprehensif: </a:t>
            </a:r>
            <a:r>
              <a:rPr sz="1100">
                <a:solidFill>
                  <a:srgbClr val="334155"/>
                </a:solidFill>
                <a:latin typeface="Segoe UI"/>
              </a:rPr>
              <a:t>Otomasi ekspor data ke format spreadsheet multi-sheet Excel (.xlsx) dan metadata konstanta regresi JSON.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80619" y="1472184"/>
            <a:ext cx="1154960" cy="4690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I_AlurSoftwareArduino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7195" y="1508760"/>
            <a:ext cx="1081808" cy="461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34315" y="6172199"/>
            <a:ext cx="144756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3.4: Flowchart Arduino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0264" y="2112030"/>
            <a:ext cx="2496312" cy="341117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bIII_DiagramAlirPython.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2148606"/>
            <a:ext cx="2423160" cy="33380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5532353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3.5: Flowchart GUI 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III: METODE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Tahap Sintesis Nanofiber Fe3O4/PVA-Sitrat-ADH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Proses sol-gel, electrospinning tegangan tinggi 15 kV, dan fungsionalisasi reseptor ADH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6692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512064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SINTESIS &amp; FUNGSIONALISASI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Prosedur Fabrikasi Nanomaterial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Preparasi Larutan Sol-Gel: </a:t>
            </a:r>
            <a:r>
              <a:rPr sz="1100">
                <a:solidFill>
                  <a:srgbClr val="334155"/>
                </a:solidFill>
                <a:latin typeface="Segoe UI"/>
              </a:rPr>
              <a:t>PVA 10% wt dilarutkan dalam akuades pada 80°C selama 2 jam. Nanopartikel Fe3O4 3% wt dan asam sitrat 5% wt didispersikan via sonikasi 30 menit.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Parameter Operasi Electrospinning: </a:t>
            </a:r>
            <a:r>
              <a:rPr sz="1100">
                <a:solidFill>
                  <a:srgbClr val="334155"/>
                </a:solidFill>
                <a:latin typeface="Segoe UI"/>
              </a:rPr>
              <a:t>Tegangan tinggi: +15 kV DC; Jarak jarum ke kolektor: 12 cm; Laju alir pompa syringe: 0.5 mL/jam.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Pematangan Crosslinking: </a:t>
            </a:r>
            <a:r>
              <a:rPr sz="1100">
                <a:solidFill>
                  <a:srgbClr val="334155"/>
                </a:solidFill>
                <a:latin typeface="Segoe UI"/>
              </a:rPr>
              <a:t>Membran nanofiber dipanaskan pada 120°C selama 1 jam untuk menyempurnakan esterifikasi asam sitrat.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Imobilisasi Reseptor ADH: </a:t>
            </a:r>
            <a:r>
              <a:rPr sz="1100">
                <a:solidFill>
                  <a:srgbClr val="334155"/>
                </a:solidFill>
                <a:latin typeface="Segoe UI"/>
              </a:rPr>
              <a:t>Membran direndam dalam larutan Adipic Dihydrazide dengan aktivator EDC/NHS agar gugus hidrazida tertambat kokoh pada serat.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76744" y="1472184"/>
            <a:ext cx="3151631" cy="4690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I_DiagramAlirSintesis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3320" y="1508760"/>
            <a:ext cx="3078479" cy="461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0440" y="6172199"/>
            <a:ext cx="34442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3.6: Diagram Alir Sintesis &amp; Fungsionalisasi Nanofiber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III: METODE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Karakterisasi Kumparan Helmholtz &amp; Kalibrasi Sensor TMR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Pemetaan homogenitas medan magnetik dan kurva kalibrasi sensitivitas tegangan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SUMBER MEDAN MAGNETIK TERKONTROL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Karakterisasi Kumparan Helmholtz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Persamaan Medan Magnetik Pusat: </a:t>
            </a:r>
            <a:r>
              <a:rPr sz="1100">
                <a:solidFill>
                  <a:srgbClr val="334155"/>
                </a:solidFill>
                <a:latin typeface="Segoe UI"/>
              </a:rPr>
              <a:t>B = (4/5)^(3/2) * (mu0 * N * I / R). Memberikan medan magnet seragam pada rongga pusat kumparan.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Catu Daya Variabel 0–16 V: </a:t>
            </a:r>
            <a:r>
              <a:rPr sz="1100">
                <a:solidFill>
                  <a:srgbClr val="334155"/>
                </a:solidFill>
                <a:latin typeface="Segoe UI"/>
              </a:rPr>
              <a:t>Arus DC dialirkan dari 0 hingga ~1.6 A pada kumparan R ≈ 10 Ω, menghasilkan rentang medan hingga 11.5 mT.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Sapuan Medan Karakterisasi: </a:t>
            </a:r>
            <a:r>
              <a:rPr sz="1100">
                <a:solidFill>
                  <a:srgbClr val="334155"/>
                </a:solidFill>
                <a:latin typeface="Segoe UI"/>
              </a:rPr>
              <a:t>Rentang sapuan -4.0 mT hingga +4.0 mT dengan membalik polaritas terminal kumparan.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Validasi Ground Truth: </a:t>
            </a:r>
            <a:r>
              <a:rPr sz="1100">
                <a:solidFill>
                  <a:srgbClr val="334155"/>
                </a:solidFill>
                <a:latin typeface="Segoe UI"/>
              </a:rPr>
              <a:t>Medan diverifikasi langsung menggunakan teslameter digital presisi laboratorium.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KARAKTERISTIK SENSOR ALT023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Kalibrasi Sensitivitas Sensor TMR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Model Respon Linear: </a:t>
            </a:r>
            <a:r>
              <a:rPr sz="1100">
                <a:solidFill>
                  <a:srgbClr val="334155"/>
                </a:solidFill>
                <a:latin typeface="Segoe UI"/>
              </a:rPr>
              <a:t>Vout(B) = S * B + Voffset. Nilai kemiringan S merepresentasikan sensitivitas sensor (target S &gt;= 15.0 mV/mT).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Koefisien Determinasi: </a:t>
            </a:r>
            <a:r>
              <a:rPr sz="1100">
                <a:solidFill>
                  <a:srgbClr val="334155"/>
                </a:solidFill>
                <a:latin typeface="Segoe UI"/>
              </a:rPr>
              <a:t>Target linearitas R^2 &gt;= 0.995 pada rentang linear sensor.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Penetapan Voffset: </a:t>
            </a:r>
            <a:r>
              <a:rPr sz="1100">
                <a:solidFill>
                  <a:srgbClr val="334155"/>
                </a:solidFill>
                <a:latin typeface="Segoe UI"/>
              </a:rPr>
              <a:t>Pada B = 0, tegangan keluaran bertengger stabil di Voffset ≈ 2.50 V sesuai tegangan referensi AD623.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Penyimpanan Konstanta Kalibrasi: </a:t>
            </a:r>
            <a:r>
              <a:rPr sz="1100">
                <a:solidFill>
                  <a:srgbClr val="334155"/>
                </a:solidFill>
                <a:latin typeface="Segoe UI"/>
              </a:rPr>
              <a:t>Parameter S dan Voffset disimpan otomatis ke file JSON konfigurasi untuk konversi instan pada pengujian analit.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III: METODE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Protokol Preparasi Sampel Bakso &amp; Ekstraksi Fitur Sinyal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Standardisasi pengujian analit dan ekstraksi 5 parameter fitur dinamis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STANDARISASI PENGUJIAN ANALIT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Preparasi Sampel Bakso &amp; Spiking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Homogenisasi Sampel Bakso: </a:t>
            </a:r>
            <a:r>
              <a:rPr sz="1100">
                <a:solidFill>
                  <a:srgbClr val="334155"/>
                </a:solidFill>
                <a:latin typeface="Segoe UI"/>
              </a:rPr>
              <a:t>Bakso sapi bebas formalin dihaluskan dan diekstraksi filtratnya menggunakan akuades steril.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Variasi Konsentrasi Spiking: </a:t>
            </a:r>
            <a:r>
              <a:rPr sz="1100">
                <a:solidFill>
                  <a:srgbClr val="334155"/>
                </a:solidFill>
                <a:latin typeface="Segoe UI"/>
              </a:rPr>
              <a:t>Dibuat 6 tingkat konsentrasi formalin: 0 ppm (kontrol murni), 10 ppm, 50 ppm, 100 ppm, 500 ppm, dan 1000 ppm.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Volume Penetesan Mikro: </a:t>
            </a:r>
            <a:r>
              <a:rPr sz="1100">
                <a:solidFill>
                  <a:srgbClr val="334155"/>
                </a:solidFill>
                <a:latin typeface="Segoe UI"/>
              </a:rPr>
              <a:t>Sebanyak 20 mikroliter larutan analit diteteskan secara presisi menggunakan mikropipet di atas membran nanofiber sensor.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Replikasi Pengujian: </a:t>
            </a:r>
            <a:r>
              <a:rPr sz="1100">
                <a:solidFill>
                  <a:srgbClr val="334155"/>
                </a:solidFill>
                <a:latin typeface="Segoe UI"/>
              </a:rPr>
              <a:t>Setiap tingkat konsentrasi diuji sebanyak minimal 10 kali pengulangan untuk menjamin signifikansi statistik.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REPRESENTASI FITUR DINAMIS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Ekstraksi 5 Fitur Sinyal Respons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1. Delta_V_max: </a:t>
            </a:r>
            <a:r>
              <a:rPr sz="1100">
                <a:solidFill>
                  <a:srgbClr val="334155"/>
                </a:solidFill>
                <a:latin typeface="Segoe UI"/>
              </a:rPr>
              <a:t>Pergeseran tegangan maksimum antara baseline awal dan puncak respons: |Vpeak - Vbaseline|.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2. t_response: </a:t>
            </a:r>
            <a:r>
              <a:rPr sz="1100">
                <a:solidFill>
                  <a:srgbClr val="334155"/>
                </a:solidFill>
                <a:latin typeface="Segoe UI"/>
              </a:rPr>
              <a:t>Waktu yang dibutuhkan kurva respons untuk mencapai 90% dari nilai saturasi tegangan.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3. (dV/dt)_initial: </a:t>
            </a:r>
            <a:r>
              <a:rPr sz="1100">
                <a:solidFill>
                  <a:srgbClr val="334155"/>
                </a:solidFill>
                <a:latin typeface="Segoe UI"/>
              </a:rPr>
              <a:t>Kemiringan laju transien awal interaksi kinetika antara analit formalin dengan reseptor ADH.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4. V_steady: </a:t>
            </a:r>
            <a:r>
              <a:rPr sz="1100">
                <a:solidFill>
                  <a:srgbClr val="334155"/>
                </a:solidFill>
                <a:latin typeface="Segoe UI"/>
              </a:rPr>
              <a:t>Nilai tegangan kesetimbangan pada kondisi akhir pengukuran.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5. AUC (Area Under Curve): </a:t>
            </a:r>
            <a:r>
              <a:rPr sz="1100">
                <a:solidFill>
                  <a:srgbClr val="334155"/>
                </a:solidFill>
                <a:latin typeface="Segoe UI"/>
              </a:rPr>
              <a:t>Integral total luasan di bawah kurva respons tegangan terhadap waktu pengujian.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III: METODE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Alur Pemodelan Machine Learning (SVM vs QSVC) &amp; Validasi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Pipeline prapemrosesan data, pelatihan model klasik &amp; kuantum, serta metrik evaluasi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48640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93776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KLASIK VS KUANTUM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Pipeline Pelatihan &amp; Evaluasi Model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Prapemrosesan Data: </a:t>
            </a:r>
            <a:r>
              <a:rPr sz="1100">
                <a:solidFill>
                  <a:srgbClr val="334155"/>
                </a:solidFill>
                <a:latin typeface="Segoe UI"/>
              </a:rPr>
              <a:t>Standarisasi skala data menggunakan StandardScaler (mean=0, std=1) untuk menjaga netralitas kontribusi fitur.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Pembagian Dataset: </a:t>
            </a:r>
            <a:r>
              <a:rPr sz="1100">
                <a:solidFill>
                  <a:srgbClr val="334155"/>
                </a:solidFill>
                <a:latin typeface="Segoe UI"/>
              </a:rPr>
              <a:t>80% data latih (training set) dan 20% data uji (test set) dengan skema 5-Fold Stratified Cross Validation.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Pelatihan SVM Klasik: </a:t>
            </a:r>
            <a:r>
              <a:rPr sz="1100">
                <a:solidFill>
                  <a:srgbClr val="334155"/>
                </a:solidFill>
                <a:latin typeface="Segoe UI"/>
              </a:rPr>
              <a:t>Kernel RBF dioptimasi melalui GridSearchCV untuk menentukan parameter C dan gamma terbaik.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Pelatihan QSVC Kuantum: </a:t>
            </a:r>
            <a:r>
              <a:rPr sz="1100">
                <a:solidFill>
                  <a:srgbClr val="334155"/>
                </a:solidFill>
                <a:latin typeface="Segoe UI"/>
              </a:rPr>
              <a:t>Sirkuit ZZFeatureMap 4-qubit pada Qiskit Aer untuk komputasi matriks quantum kernel.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Metrik Evaluasi: </a:t>
            </a:r>
            <a:r>
              <a:rPr sz="1100">
                <a:solidFill>
                  <a:srgbClr val="334155"/>
                </a:solidFill>
                <a:latin typeface="Segoe UI"/>
              </a:rPr>
              <a:t>Komparasi menyeluruh mencakup Akurasi, Presisi, Recall, F1-Score, kurva ROC-AUC, dan waktu inferensi.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30094" y="1472184"/>
            <a:ext cx="3862050" cy="4690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I_ModelBuilding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670" y="1508760"/>
            <a:ext cx="3788898" cy="461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83790" y="6172199"/>
            <a:ext cx="415465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3.7: Diagram Alir Pelatihan &amp; Evaluasi Model SVM vs QSVC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III: METODE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Integrasi &amp; Deploy Sistem Instrumentasi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Implementasi model terlatih ke dalam GUI antarmuka untuk klasifikasi real-time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48640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937760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DEKSTOP GUI DEPLOYMENT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Arsitektur Integrasi Sistem Cerdas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Serialisasi Model Terlatih: </a:t>
            </a:r>
            <a:r>
              <a:rPr sz="1100">
                <a:solidFill>
                  <a:srgbClr val="334155"/>
                </a:solidFill>
                <a:latin typeface="Segoe UI"/>
              </a:rPr>
              <a:t>Model klasifikasi terbaik diekspor ke berkas biner (joblib / qpy) untuk diakses langsung oleh GUI Python.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Pipeline Inferensi Real-Time: </a:t>
            </a:r>
            <a:r>
              <a:rPr sz="1100">
                <a:solidFill>
                  <a:srgbClr val="334155"/>
                </a:solidFill>
                <a:latin typeface="Segoe UI"/>
              </a:rPr>
              <a:t>Saat pengujian sampel selesai (5.0 detik), GUI mengekstrak 5 fitur secara otomatis dan memasukkannya ke model.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Indikator Visual Cepat: </a:t>
            </a:r>
            <a:r>
              <a:rPr sz="1100">
                <a:solidFill>
                  <a:srgbClr val="334155"/>
                </a:solidFill>
                <a:latin typeface="Segoe UI"/>
              </a:rPr>
              <a:t>Tampilan status instan pada layar: 'SAMPEL AMAN (Bebas Formalin)' atau 'TERKONTAMINASI FORMALIN (Estimasi X ppm)'.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Penyimpanan Data Terpusat: </a:t>
            </a:r>
            <a:r>
              <a:rPr sz="1100">
                <a:solidFill>
                  <a:srgbClr val="334155"/>
                </a:solidFill>
                <a:latin typeface="Segoe UI"/>
              </a:rPr>
              <a:t>Semua riwayat pengujian, nilai fitur, dan grafik respons tersimpan otomatis ke berkas Excel dan database lokal.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55664" y="2058290"/>
            <a:ext cx="2450592" cy="35186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bIII_ModelDeploy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94866"/>
            <a:ext cx="2377440" cy="34455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59" y="5586093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3.8: Alur Deploy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15984" y="3112388"/>
            <a:ext cx="2450592" cy="141046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bIII_desainlua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3148964"/>
            <a:ext cx="2377440" cy="13373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69680" y="4531995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64748B"/>
                </a:solidFill>
                <a:latin typeface="Segoe UI"/>
              </a:defRPr>
            </a:pPr>
            <a:r>
              <a:t>Gambar 3.9: Fisik Prototipe Alat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BAB III: METODE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Jadwal &amp; Rencana Kerja Penelitian (Roadmap 6 Bulan)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Rencana kerja sistematis pelaksanaan tugas akhir Semester Genap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306324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1E3A8A"/>
                </a:solidFill>
                <a:latin typeface="Segoe UI"/>
              </a:defRPr>
            </a:pPr>
            <a:r>
              <a:t>BULAN 1 (MARET 2026)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Persiapan &amp; Pengadaan Komponen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Studi Pustaka: </a:t>
            </a:r>
            <a:r>
              <a:rPr sz="1000">
                <a:solidFill>
                  <a:srgbClr val="334155"/>
                </a:solidFill>
                <a:latin typeface="Segoe UI"/>
              </a:rPr>
              <a:t>Kajian mendalam TMR, AD623 &amp; Qiskit.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Pengadaan Komponen: </a:t>
            </a:r>
            <a:r>
              <a:rPr sz="1000">
                <a:solidFill>
                  <a:srgbClr val="334155"/>
                </a:solidFill>
                <a:latin typeface="Segoe UI"/>
              </a:rPr>
              <a:t>Sensor ALT023, ADS1115 &amp; reagen.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Desain Awal: </a:t>
            </a:r>
            <a:r>
              <a:rPr sz="1000">
                <a:solidFill>
                  <a:srgbClr val="334155"/>
                </a:solidFill>
                <a:latin typeface="Segoe UI"/>
              </a:rPr>
              <a:t>Skematik PCB &amp; statif kumparan.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3575" y="150876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6455" y="1673352"/>
            <a:ext cx="306324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1E3A8A"/>
                </a:solidFill>
                <a:latin typeface="Segoe UI"/>
              </a:defRPr>
            </a:pPr>
            <a:r>
              <a:t>BULAN 2 (APRIL 2026)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Fabrikasi Hardware &amp; Software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Fabrikasi Sirkuit: </a:t>
            </a:r>
            <a:r>
              <a:rPr sz="1000">
                <a:solidFill>
                  <a:srgbClr val="334155"/>
                </a:solidFill>
                <a:latin typeface="Segoe UI"/>
              </a:rPr>
              <a:t>Perakitan PCB pengondisi sinyal.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Pencetakan 3D: </a:t>
            </a:r>
            <a:r>
              <a:rPr sz="1000">
                <a:solidFill>
                  <a:srgbClr val="334155"/>
                </a:solidFill>
                <a:latin typeface="Segoe UI"/>
              </a:rPr>
              <a:t>Casing PLA dan statif sensor.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Firmware &amp; GUI: </a:t>
            </a:r>
            <a:r>
              <a:rPr sz="1000">
                <a:solidFill>
                  <a:srgbClr val="334155"/>
                </a:solidFill>
                <a:latin typeface="Segoe UI"/>
              </a:rPr>
              <a:t>Pemrograman Arduino &amp; antarmuka Python.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5630" y="150876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510" y="1673352"/>
            <a:ext cx="306324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1E3A8A"/>
                </a:solidFill>
                <a:latin typeface="Segoe UI"/>
              </a:defRPr>
            </a:pPr>
            <a:r>
              <a:t>BULAN 3 (MEI 2026)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Sintesis Nanofiber Fungsional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Sol-Gel: </a:t>
            </a:r>
            <a:r>
              <a:rPr sz="1000">
                <a:solidFill>
                  <a:srgbClr val="334155"/>
                </a:solidFill>
                <a:latin typeface="Segoe UI"/>
              </a:rPr>
              <a:t>Pencampuran PVA, Fe3O4 &amp; asam sitrat.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Electrospinning: </a:t>
            </a:r>
            <a:r>
              <a:rPr sz="1000">
                <a:solidFill>
                  <a:srgbClr val="334155"/>
                </a:solidFill>
                <a:latin typeface="Segoe UI"/>
              </a:rPr>
              <a:t>Penarikan serat tegangan tinggi 15 kV.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Fungsionalisasi: </a:t>
            </a:r>
            <a:r>
              <a:rPr sz="1000">
                <a:solidFill>
                  <a:srgbClr val="334155"/>
                </a:solidFill>
                <a:latin typeface="Segoe UI"/>
              </a:rPr>
              <a:t>Imobilisasi reseptor ADH pada serat.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96512"/>
            <a:ext cx="306324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BULAN 4 (JUNI 2026)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Kalibrasi Sensor &amp; Helmholtz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Karakterisasi Helmholtz: </a:t>
            </a:r>
            <a:r>
              <a:rPr sz="1000">
                <a:solidFill>
                  <a:srgbClr val="334155"/>
                </a:solidFill>
                <a:latin typeface="Segoe UI"/>
              </a:rPr>
              <a:t>Pemetaan medan magnet 0–11.5 mT.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Kalibrasi TMR: </a:t>
            </a:r>
            <a:r>
              <a:rPr sz="1000">
                <a:solidFill>
                  <a:srgbClr val="334155"/>
                </a:solidFill>
                <a:latin typeface="Segoe UI"/>
              </a:rPr>
              <a:t>Pengujian sensitivitas (target S &gt;= 15 mV/mT).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Validasi Sistem: </a:t>
            </a:r>
            <a:r>
              <a:rPr sz="1000">
                <a:solidFill>
                  <a:srgbClr val="334155"/>
                </a:solidFill>
                <a:latin typeface="Segoe UI"/>
              </a:rPr>
              <a:t>Uji stabilitas &amp; noise rantai sinyal.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575" y="393192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6455" y="4096512"/>
            <a:ext cx="306324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BULAN 5 (JULI 2026)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Pengujian Sampel Bakso Formalin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Preparasi Analit: </a:t>
            </a:r>
            <a:r>
              <a:rPr sz="1000">
                <a:solidFill>
                  <a:srgbClr val="334155"/>
                </a:solidFill>
                <a:latin typeface="Segoe UI"/>
              </a:rPr>
              <a:t>Spiking formalin bakso (0–1000 ppm).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Akuisisi Data: </a:t>
            </a:r>
            <a:r>
              <a:rPr sz="1000">
                <a:solidFill>
                  <a:srgbClr val="334155"/>
                </a:solidFill>
                <a:latin typeface="Segoe UI"/>
              </a:rPr>
              <a:t>Perekaman respons tegangan sensor TMR.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Ekstraksi Fitur: </a:t>
            </a:r>
            <a:r>
              <a:rPr sz="1000">
                <a:solidFill>
                  <a:srgbClr val="334155"/>
                </a:solidFill>
                <a:latin typeface="Segoe UI"/>
              </a:rPr>
              <a:t>Ekstraksi 5 parameter fitur sinyal.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5630" y="3931920"/>
            <a:ext cx="342900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8510" y="4096512"/>
            <a:ext cx="306324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059669"/>
                </a:solidFill>
                <a:latin typeface="Segoe UI"/>
              </a:defRPr>
            </a:pPr>
            <a:r>
              <a:t>BULAN 6 (AGUSTUS 2026)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Pemodelan ML, Evaluasi &amp; Laporan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Pelatihan Model: </a:t>
            </a:r>
            <a:r>
              <a:rPr sz="1000">
                <a:solidFill>
                  <a:srgbClr val="334155"/>
                </a:solidFill>
                <a:latin typeface="Segoe UI"/>
              </a:rPr>
              <a:t>Optimasi SVM vs simulasi QSVC Qiskit.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Komparasi Metrik: </a:t>
            </a:r>
            <a:r>
              <a:rPr sz="1000">
                <a:solidFill>
                  <a:srgbClr val="334155"/>
                </a:solidFill>
                <a:latin typeface="Segoe UI"/>
              </a:rPr>
              <a:t>Analisis akurasi, presisi &amp; waktu.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b="1" sz="1000">
                <a:solidFill>
                  <a:srgbClr val="2563EB"/>
                </a:solidFill>
                <a:latin typeface="Segoe UI"/>
              </a:rPr>
              <a:t>• </a:t>
            </a:r>
            <a:r>
              <a:rPr b="1" sz="1000">
                <a:solidFill>
                  <a:srgbClr val="0F172A"/>
                </a:solidFill>
                <a:latin typeface="Segoe UI"/>
              </a:rPr>
              <a:t>Penyusunan Skripsi: </a:t>
            </a:r>
            <a:r>
              <a:rPr sz="1000">
                <a:solidFill>
                  <a:srgbClr val="334155"/>
                </a:solidFill>
                <a:latin typeface="Segoe UI"/>
              </a:rPr>
              <a:t>Penulisan laporan akhir &amp; publikasi.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Fahry Rizky Samsudin (1237030018) | Proposal Tugas Akhir Fisika UIN Sunan Gunung Djati Bandung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PENUTUP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E4A"/>
                </a:solidFill>
                <a:latin typeface="Segoe UI"/>
              </a:defRPr>
            </a:pPr>
            <a:r>
              <a:t>Kesimpulan Sementara &amp; Sesi Tanya Jawab</a:t>
            </a:r>
          </a:p>
          <a:p>
            <a:pPr>
              <a:spcBef>
                <a:spcPts val="200"/>
              </a:spcBef>
              <a:defRPr sz="1050">
                <a:solidFill>
                  <a:srgbClr val="64748B"/>
                </a:solidFill>
                <a:latin typeface="Segoe UI"/>
              </a:defRPr>
            </a:pPr>
            <a:r>
              <a:t>Komitmen capaian kontribusi penelitian dan permohonan masukan dewan penguji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4225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93615" cy="4160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KOMITMEN TARGET KONTRIBUSI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Kesimpulan Sementara Proposal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Inovasi Biosensor Magnetik: </a:t>
            </a:r>
            <a:r>
              <a:rPr sz="1100">
                <a:solidFill>
                  <a:srgbClr val="334155"/>
                </a:solidFill>
                <a:latin typeface="Segoe UI"/>
              </a:rPr>
              <a:t>Sistem instrumentasi sensor TMR ALT023-10E dengan fungsionalisasi nanofiber Fe3O4/PVA-Sitrat-ADH memberikan pendekatan baru yang sensitif dan selektif untuk deteksi formalin pada pangan.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Rantai Sinyal Stabil &amp; Terkalibrasi: </a:t>
            </a:r>
            <a:r>
              <a:rPr sz="1100">
                <a:solidFill>
                  <a:srgbClr val="334155"/>
                </a:solidFill>
                <a:latin typeface="Segoe UI"/>
              </a:rPr>
              <a:t>Pengondisi in-amp AD623 (Vref=2.50V) dan ADC ADS1115 menjamin resolusi tinggi (0.1875 mV/count) dan stabilitas pengukuran.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Eksplorasi Komparasi Klasik vs Kuantum: </a:t>
            </a:r>
            <a:r>
              <a:rPr sz="1100">
                <a:solidFill>
                  <a:srgbClr val="334155"/>
                </a:solidFill>
                <a:latin typeface="Segoe UI"/>
              </a:rPr>
              <a:t>Perbandingan model SVM dan QSVC membuka wawasan empiris terkait penerapan Quantum Machine Learning pada pengolahan sinyal sensorik fisik.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b="1" sz="1100">
                <a:solidFill>
                  <a:srgbClr val="2563EB"/>
                </a:solidFill>
                <a:latin typeface="Segoe UI"/>
              </a:rPr>
              <a:t>• </a:t>
            </a:r>
            <a:r>
              <a:rPr b="1" sz="1100">
                <a:solidFill>
                  <a:srgbClr val="0F172A"/>
                </a:solidFill>
                <a:latin typeface="Segoe UI"/>
              </a:rPr>
              <a:t>Kesiapan Pelaksanaan: </a:t>
            </a:r>
            <a:r>
              <a:rPr sz="1100">
                <a:solidFill>
                  <a:srgbClr val="334155"/>
                </a:solidFill>
                <a:latin typeface="Segoe UI"/>
              </a:rPr>
              <a:t>Seluruh desain skematik, firmware, GUI analitik, dan prosedur sintesis telah siap direalisasikan secara penuh.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6177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510735" cy="3977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2563EB"/>
                </a:solidFill>
                <a:latin typeface="Segoe UI"/>
              </a:defRPr>
            </a:pPr>
            <a:r>
              <a:t>SEMINAR PROPOSAL SKRIPSI</a:t>
            </a:r>
          </a:p>
          <a:p>
            <a:pPr>
              <a:spcAft>
                <a:spcPts val="600"/>
              </a:spcAft>
              <a:defRPr sz="1300" b="1">
                <a:solidFill>
                  <a:srgbClr val="0F1E4A"/>
                </a:solidFill>
                <a:latin typeface="Segoe UI"/>
              </a:defRPr>
            </a:pPr>
            <a:r>
              <a:t>Sesi Diskusi &amp; Tanya Jawab</a:t>
            </a:r>
          </a:p>
          <a:p>
            <a:pPr>
              <a:spcBef>
                <a:spcPts val="800"/>
              </a:spcBef>
              <a:spcAft>
                <a:spcPts val="1200"/>
              </a:spcAft>
              <a:defRPr sz="1150">
                <a:solidFill>
                  <a:srgbClr val="0F172A"/>
                </a:solidFill>
                <a:latin typeface="Segoe UI"/>
              </a:defRPr>
            </a:pPr>
            <a:r>
              <a:t>Terima kasih yang sebesar-besarnya kepada Dewan Dosen Penguji dan Dosen Pembimbing atas arahan, bimbingan, dan evaluasi ilmiah yang diberikan.</a:t>
            </a:r>
          </a:p>
          <a:p>
            <a:pPr>
              <a:spcAft>
                <a:spcPts val="1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Kritik, masukan, dan saran yang konstruktif sangat kami harapkan guna penyempurnaan dan keberhasilan pelaksanaan penelitian ini.</a:t>
            </a:r>
          </a:p>
          <a:p>
            <a:pPr>
              <a:defRPr sz="1100" b="1">
                <a:solidFill>
                  <a:srgbClr val="0F1E4A"/>
                </a:solidFill>
                <a:latin typeface="Segoe UI"/>
              </a:defRPr>
            </a:pPr>
            <a:r>
              <a:t>Fahry Rizky Samsudin | NIM 1237030018</a:t>
            </a:r>
            <a:br/>
            <a:r>
              <a:t>Jurusan Fisika — UIN Sunan Gunung Djati Bandung (2026)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9611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Seminar Proposal Skripsi Program Studi Fisika UIN Sunan Gunung Djati Bandung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55664"/>
            <a:ext cx="1584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50" b="1">
                <a:solidFill>
                  <a:srgbClr val="1E3A8A"/>
                </a:solidFill>
                <a:latin typeface="Segoe UI"/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