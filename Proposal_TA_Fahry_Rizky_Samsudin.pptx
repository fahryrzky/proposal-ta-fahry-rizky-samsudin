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200">
                <a:solidFill>
                  <a:srgbClr val="2563EB"/>
                </a:solidFill>
                <a:latin typeface="Segoe UI"/>
              </a:defRPr>
            </a:pPr>
            <a:r>
              <a:t>SEMINAR PROPOSAL TUGAS AKHIR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750">
                <a:solidFill>
                  <a:srgbClr val="0F1E4A"/>
                </a:solidFill>
                <a:latin typeface="Segoe UI"/>
              </a:defRPr>
            </a:pPr>
            <a:r>
              <a:t>RANCANG BANGUN INSTRUMENTASI SENSOR TUNNELING MAGNETORESISTANCE BERBASIS NANOFIBER Fe3O4/PVA-SITRAT-ADH UNTUK DETEKSI FORMALIN PADA BAKSO MENGGUNAKAN KOMPARASI MODEL SVM DAN QSVC</a:t>
            </a:r>
          </a:p>
        </p:txBody>
      </p:sp>
      <p:pic>
        <p:nvPicPr>
          <p:cNvPr id="5" name="Picture 4" descr="Logo U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149" y="2240280"/>
            <a:ext cx="95722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28800" y="3703320"/>
            <a:ext cx="85340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100">
                <a:solidFill>
                  <a:srgbClr val="475569"/>
                </a:solidFill>
                <a:latin typeface="Segoe UI"/>
              </a:defRPr>
            </a:pPr>
            <a:r>
              <a:t>DISUSUN OLEH:</a:t>
            </a:r>
          </a:p>
          <a:p>
            <a:pPr algn="ctr">
              <a:defRPr b="1" sz="1500">
                <a:solidFill>
                  <a:srgbClr val="1E3A8A"/>
                </a:solidFill>
                <a:latin typeface="Segoe UI"/>
              </a:defRPr>
            </a:pPr>
            <a:r>
              <a:t>FAHRY RIZKY SAMSUDIN</a:t>
            </a:r>
          </a:p>
          <a:p>
            <a:pPr algn="ctr">
              <a:defRPr b="1" sz="1200">
                <a:solidFill>
                  <a:srgbClr val="1E293B"/>
                </a:solidFill>
                <a:latin typeface="Segoe UI"/>
              </a:defRPr>
            </a:pPr>
            <a:r>
              <a:t>(NIM 1237030018)</a:t>
            </a:r>
          </a:p>
          <a:p>
            <a:pPr algn="ctr">
              <a:spcBef>
                <a:spcPts val="400"/>
              </a:spcBef>
              <a:defRPr b="1" sz="1050">
                <a:solidFill>
                  <a:srgbClr val="475569"/>
                </a:solidFill>
                <a:latin typeface="Segoe UI"/>
              </a:defRPr>
            </a:pPr>
            <a:r>
              <a:t>JURUSAN FISIKA, FAKULTAS SAINS DAN TEKNOLOGI</a:t>
            </a:r>
            <a:br/>
            <a:r>
              <a:t>UNIVERSITAS ISLAM NEGERI SUNAN GUNUNG DJATI BANDUNG</a:t>
            </a:r>
            <a:br/>
            <a:r>
              <a:t>TAHUN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166360"/>
            <a:ext cx="51206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050">
                <a:solidFill>
                  <a:srgbClr val="2563EB"/>
                </a:solidFill>
                <a:latin typeface="Segoe UI"/>
              </a:defRPr>
            </a:pPr>
            <a:r>
              <a:t>DOSEN PEMBIMBING I:</a:t>
            </a:r>
          </a:p>
          <a:p>
            <a:pPr algn="ctr">
              <a:defRPr b="1" sz="1250">
                <a:solidFill>
                  <a:srgbClr val="0F1E4A"/>
                </a:solidFill>
                <a:latin typeface="Segoe UI"/>
              </a:defRPr>
            </a:pPr>
            <a:r>
              <a:t>MADA SANJAYA W.S., M.SI., PH.D.</a:t>
            </a:r>
          </a:p>
          <a:p>
            <a:pPr algn="ctr">
              <a:defRPr sz="950">
                <a:solidFill>
                  <a:srgbClr val="475569"/>
                </a:solidFill>
                <a:latin typeface="Segoe UI"/>
              </a:defRPr>
            </a:pPr>
            <a:r>
              <a:t>NIP. 19851101 200912 1005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5166360"/>
            <a:ext cx="51206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1050">
                <a:solidFill>
                  <a:srgbClr val="2563EB"/>
                </a:solidFill>
                <a:latin typeface="Segoe UI"/>
              </a:defRPr>
            </a:pPr>
            <a:r>
              <a:t>DOSEN PEMBIMBING II:</a:t>
            </a:r>
          </a:p>
          <a:p>
            <a:pPr algn="ctr">
              <a:defRPr b="1" sz="1250">
                <a:solidFill>
                  <a:srgbClr val="0F1E4A"/>
                </a:solidFill>
                <a:latin typeface="Segoe UI"/>
              </a:defRPr>
            </a:pPr>
            <a:r>
              <a:t>DR. YUDHA SATYA PERKASA, M.SI.</a:t>
            </a:r>
          </a:p>
          <a:p>
            <a:pPr algn="ctr">
              <a:defRPr sz="950">
                <a:solidFill>
                  <a:srgbClr val="475569"/>
                </a:solidFill>
                <a:latin typeface="Segoe UI"/>
              </a:defRPr>
            </a:pPr>
            <a:r>
              <a:t>NIP. 19820521 200801 1010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Latar Belakang Penelitian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Diagram Alir Konseptual: Dari Permasalahan Pangan hingga Solusi Biosensor Cerdas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tar_belakang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1" y="1371600"/>
            <a:ext cx="10271472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532120"/>
            <a:ext cx="10728655" cy="77724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96128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E4A"/>
                </a:solidFill>
                <a:latin typeface="Segoe UI"/>
              </a:defRPr>
            </a:pPr>
            <a:r>
              <a:t>Fokus Kebaruan Riset: Mengintegrasikan reseptor nanofiber hijau selektif ADH dengan sensor spintronika TMR ultra-sensitif dan mengevaluasi keunggulan Quantum Machine Learning (QSVC) dalam ketahanan derau klasifikasi pangan.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Rumusan Masalah &amp; Batasan Masalah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Pertanyaan Kunci Penelitian dan Ruang Lingkup Pengujian Laboratorium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PERTANYAAN ILMIAH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Rumusan Masalah (5 Butir)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RM-1 (Sensitivitas): </a:t>
            </a:r>
            <a:r>
              <a:rPr sz="1000">
                <a:solidFill>
                  <a:srgbClr val="1E293B"/>
                </a:solidFill>
                <a:latin typeface="Segoe UI"/>
              </a:rPr>
              <a:t>Bagaimana sensitivitas sensor TMR berbasis nanofiber Fe3O4/PVA-Sitrat-ADH dalam mendeteksi variasi konsentrasi formalin?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RM-2 (LOD): </a:t>
            </a:r>
            <a:r>
              <a:rPr sz="1000">
                <a:solidFill>
                  <a:srgbClr val="1E293B"/>
                </a:solidFill>
                <a:latin typeface="Segoe UI"/>
              </a:rPr>
              <a:t>Bagaimana batas deteksi (limit of detection) yang diperoleh dari sensor TMR berbasis nanofiber Fe3O4/PVA-Sitrat-ADH?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RM-3 (Gugus ADH): </a:t>
            </a:r>
            <a:r>
              <a:rPr sz="1000">
                <a:solidFill>
                  <a:srgbClr val="1E293B"/>
                </a:solidFill>
                <a:latin typeface="Segoe UI"/>
              </a:rPr>
              <a:t>Bagaimana gugus hidrazida pada nanofiber memengaruhi respons magnetoresistif sensor TMR terhadap keberadaan formalin?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RM-4 (Kalibrasi): </a:t>
            </a:r>
            <a:r>
              <a:rPr sz="1000">
                <a:solidFill>
                  <a:srgbClr val="1E293B"/>
                </a:solidFill>
                <a:latin typeface="Segoe UI"/>
              </a:rPr>
              <a:t>Bagaimana rancangan sistem AD623-ADS1115-Arduino-Raspberry Pi menghasilkan kurva kalibrasi Vout vs konsentrasi formalin yang valid?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RM-5 (SVM vs QSVC): </a:t>
            </a:r>
            <a:r>
              <a:rPr sz="1000">
                <a:solidFill>
                  <a:srgbClr val="1E293B"/>
                </a:solidFill>
                <a:latin typeface="Segoe UI"/>
              </a:rPr>
              <a:t>Bagaimana komparasi performa klasifikasi antara model SVM klasik dan QSVC kuantum dalam mengklasifikasikan kandungan formalin pada bakso?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524225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059669"/>
                </a:solidFill>
                <a:latin typeface="Segoe UI"/>
              </a:defRPr>
            </a:pPr>
            <a:r>
              <a:t>RUANG LINGKUP TEKNIS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Batasan Masalah (6 Batasan)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950">
                <a:solidFill>
                  <a:srgbClr val="2563EB"/>
                </a:solidFill>
                <a:latin typeface="Segoe UI"/>
              </a:rPr>
              <a:t>• </a:t>
            </a:r>
            <a:r>
              <a:rPr b="1" sz="950">
                <a:solidFill>
                  <a:srgbClr val="0F172A"/>
                </a:solidFill>
                <a:latin typeface="Segoe UI"/>
              </a:rPr>
              <a:t>1. Fokus Analit: </a:t>
            </a:r>
            <a:r>
              <a:rPr sz="950">
                <a:solidFill>
                  <a:srgbClr val="1E293B"/>
                </a:solidFill>
                <a:latin typeface="Segoe UI"/>
              </a:rPr>
              <a:t>Khusus deteksi formalin (formaldehida); boraks atau pewarna tekstil tidak dianalisis mendalam.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950">
                <a:solidFill>
                  <a:srgbClr val="2563EB"/>
                </a:solidFill>
                <a:latin typeface="Segoe UI"/>
              </a:rPr>
              <a:t>• </a:t>
            </a:r>
            <a:r>
              <a:rPr b="1" sz="950">
                <a:solidFill>
                  <a:srgbClr val="0F172A"/>
                </a:solidFill>
                <a:latin typeface="Segoe UI"/>
              </a:rPr>
              <a:t>2. Tahapan Pengujian: </a:t>
            </a:r>
            <a:r>
              <a:rPr sz="950">
                <a:solidFill>
                  <a:srgbClr val="1E293B"/>
                </a:solidFill>
                <a:latin typeface="Segoe UI"/>
              </a:rPr>
              <a:t>Diawali larutan standar formalin bertingkat (mg/L) sebelum diterapkan pada ekstrak sampel bakso riil.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950">
                <a:solidFill>
                  <a:srgbClr val="2563EB"/>
                </a:solidFill>
                <a:latin typeface="Segoe UI"/>
              </a:rPr>
              <a:t>• </a:t>
            </a:r>
            <a:r>
              <a:rPr b="1" sz="950">
                <a:solidFill>
                  <a:srgbClr val="0F172A"/>
                </a:solidFill>
                <a:latin typeface="Segoe UI"/>
              </a:rPr>
              <a:t>3. Material Sensor: </a:t>
            </a:r>
            <a:r>
              <a:rPr sz="950">
                <a:solidFill>
                  <a:srgbClr val="1E293B"/>
                </a:solidFill>
                <a:latin typeface="Segoe UI"/>
              </a:rPr>
              <a:t>Nanofiber Fe3O4/PVA-Sitrat-ADH hasil elektrospinning dengan taut-silang asam sitrat (curing 130 C).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950">
                <a:solidFill>
                  <a:srgbClr val="2563EB"/>
                </a:solidFill>
                <a:latin typeface="Segoe UI"/>
              </a:rPr>
              <a:t>• </a:t>
            </a:r>
            <a:r>
              <a:rPr b="1" sz="950">
                <a:solidFill>
                  <a:srgbClr val="0F172A"/>
                </a:solidFill>
                <a:latin typeface="Segoe UI"/>
              </a:rPr>
              <a:t>4. Status Hipotesis: </a:t>
            </a:r>
            <a:r>
              <a:rPr sz="950">
                <a:solidFill>
                  <a:srgbClr val="1E293B"/>
                </a:solidFill>
                <a:latin typeface="Segoe UI"/>
              </a:rPr>
              <a:t>Mekanisme pengenalan gugus hidrazida ADH diperlakukan sebagai hipotesis yang diuji empiris.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950">
                <a:solidFill>
                  <a:srgbClr val="2563EB"/>
                </a:solidFill>
                <a:latin typeface="Segoe UI"/>
              </a:rPr>
              <a:t>• </a:t>
            </a:r>
            <a:r>
              <a:rPr b="1" sz="950">
                <a:solidFill>
                  <a:srgbClr val="0F172A"/>
                </a:solidFill>
                <a:latin typeface="Segoe UI"/>
              </a:rPr>
              <a:t>5. Parameter Sensor: </a:t>
            </a:r>
            <a:r>
              <a:rPr sz="950">
                <a:solidFill>
                  <a:srgbClr val="1E293B"/>
                </a:solidFill>
                <a:latin typeface="Segoe UI"/>
              </a:rPr>
              <a:t>Dibatasi pada sensitivitas, batas deteksi (LOD), linearitas, dan stabilitas; ketahanan mekanik tidak diuji.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950">
                <a:solidFill>
                  <a:srgbClr val="2563EB"/>
                </a:solidFill>
                <a:latin typeface="Segoe UI"/>
              </a:rPr>
              <a:t>• </a:t>
            </a:r>
            <a:r>
              <a:rPr b="1" sz="950">
                <a:solidFill>
                  <a:srgbClr val="0F172A"/>
                </a:solidFill>
                <a:latin typeface="Segoe UI"/>
              </a:rPr>
              <a:t>6. Pemodelan Cerdas: </a:t>
            </a:r>
            <a:r>
              <a:rPr sz="950">
                <a:solidFill>
                  <a:srgbClr val="1E293B"/>
                </a:solidFill>
                <a:latin typeface="Segoe UI"/>
              </a:rPr>
              <a:t>Dibatasi pada komparasi SVM klasik (kernel RBF) dan simulasi QSVC berbasis quantum feature map Qiskit.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Tujuan &amp; Manfaat Penelitian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Target Capaian Ilmiah dan Dampak Kontribusi bagi Sains dan Masyarakat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TARGET ILMIAH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Tujuan Penelitian (5 Butir)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T-1 (Sensitivitas): </a:t>
            </a:r>
            <a:r>
              <a:rPr sz="1000">
                <a:solidFill>
                  <a:srgbClr val="1E293B"/>
                </a:solidFill>
                <a:latin typeface="Segoe UI"/>
              </a:rPr>
              <a:t>Mengevaluasi sensitivitas sensor TMR berbasis nanofiber Fe3O4/PVA-Sitrat-ADH dalam mendeteksi variasi konsentrasi formalin.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T-2 (Batas Deteksi): </a:t>
            </a:r>
            <a:r>
              <a:rPr sz="1000">
                <a:solidFill>
                  <a:srgbClr val="1E293B"/>
                </a:solidFill>
                <a:latin typeface="Segoe UI"/>
              </a:rPr>
              <a:t>Menentukan batas deteksi (LOD) formalin secara kuantitatif berdasarkan kurva kalibrasi dan deviasi standar sinyal.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T-3 (Gugus ADH): </a:t>
            </a:r>
            <a:r>
              <a:rPr sz="1000">
                <a:solidFill>
                  <a:srgbClr val="1E293B"/>
                </a:solidFill>
                <a:latin typeface="Segoe UI"/>
              </a:rPr>
              <a:t>Mengevaluasi peran gugus hidrazida ADH dalam memodulasi respons sinyal magnetoresistif sensor TMR.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T-4 (Instrumentasi): </a:t>
            </a:r>
            <a:r>
              <a:rPr sz="1000">
                <a:solidFill>
                  <a:srgbClr val="1E293B"/>
                </a:solidFill>
                <a:latin typeface="Segoe UI"/>
              </a:rPr>
              <a:t>Merancang dan memvalidasi sistem instrumentasi (AD623-ADS1115-Arduino-Raspberry Pi) yang menghasilkan kurva kalibrasi presisi.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T-5 (Komparasi Model): </a:t>
            </a:r>
            <a:r>
              <a:rPr sz="1000">
                <a:solidFill>
                  <a:srgbClr val="1E293B"/>
                </a:solidFill>
                <a:latin typeface="Segoe UI"/>
              </a:rPr>
              <a:t>Menganalisis dan membandingkan akurasi, presisi, recall, F1, dan ketahanan derau model SVM klasik versus QSVC kuantum.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524225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059669"/>
                </a:solidFill>
                <a:latin typeface="Segoe UI"/>
              </a:defRPr>
            </a:pPr>
            <a:r>
              <a:t>DAMPAK KONTRIBUSI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Manfaat Penelitian (4 Pilar)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1. Akademisi &amp; Sains: </a:t>
            </a:r>
            <a:r>
              <a:rPr sz="1000">
                <a:solidFill>
                  <a:srgbClr val="1E293B"/>
                </a:solidFill>
                <a:latin typeface="Segoe UI"/>
              </a:rPr>
              <a:t>Menghadirkan kajian dinamika sensor spintronika TMR dengan reseptor polimerik magnetik serta evaluasi Quantum Machine Learning pada sinyal biosensor.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2. Mitra Industri Bolabot: </a:t>
            </a:r>
            <a:r>
              <a:rPr sz="1000">
                <a:solidFill>
                  <a:srgbClr val="1E293B"/>
                </a:solidFill>
                <a:latin typeface="Segoe UI"/>
              </a:rPr>
              <a:t>Menyediakan prototipe instrumen biosensor cerdas portabel yang teruji secara eksperimental dan siap dihilirisasi ke tahap komersial.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3. Masyarakat &amp; Konsumen: </a:t>
            </a:r>
            <a:r>
              <a:rPr sz="1000">
                <a:solidFill>
                  <a:srgbClr val="1E293B"/>
                </a:solidFill>
                <a:latin typeface="Segoe UI"/>
              </a:rPr>
              <a:t>Menghadirkan alternatif skrining formalin bakso yang cepat, murah, dan akurat di lapangan tanpa merusak sampel makanan.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4. Kemandirian IPTEK: </a:t>
            </a:r>
            <a:r>
              <a:rPr sz="1000">
                <a:solidFill>
                  <a:srgbClr val="1E293B"/>
                </a:solidFill>
                <a:latin typeface="Segoe UI"/>
              </a:rPr>
              <a:t>Mendukung substitusi alat uji impor berbiaya tinggi dengan instrumentasi mandiri berbasis bahan alam lokal daun kelor.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Metode Pengumpulan Data Penelitian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Tahapan Terstruktur Memperoleh Data Literatur, Karakterisasi Fisik, dan Komputasi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18488"/>
            <a:ext cx="777240" cy="6400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E3A8A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55448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KAJIAN TEORETIS &amp; EKSPERIMENTAL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Studi Literatur</a:t>
            </a:r>
          </a:p>
          <a:p>
            <a:pPr>
              <a:defRPr sz="1000">
                <a:solidFill>
                  <a:srgbClr val="1E293B"/>
                </a:solidFill>
                <a:latin typeface="Segoe UI"/>
              </a:defRPr>
            </a:pPr>
            <a:r>
              <a:t>Mengumpulkan data primer dari jurnal internasional bereputasi (IEEE, Elsevier, Springer) mengenai teori TMR Julliere, sintesis Fe3O4 kelor, reaksi hidrazon, serta algoritma Qiskit QSVC.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06040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2807208"/>
            <a:ext cx="777240" cy="6400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E3A8A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4320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EVALUASI PROTOTIPE TERDAHULU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Observasi &amp; Studi Pendahuluan</a:t>
            </a:r>
          </a:p>
          <a:p>
            <a:pPr>
              <a:defRPr sz="1000">
                <a:solidFill>
                  <a:srgbClr val="1E293B"/>
                </a:solidFill>
                <a:latin typeface="Segoe UI"/>
              </a:defRPr>
            </a:pPr>
            <a:r>
              <a:t>Menganalisis keterbatasan prototipe instrumentasi GMR sebelumnya di laboratorium Bolabot untuk menyempurnakan sirkuit AD623, grounding bintang, dan kestabilan statif sensor.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94760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3995928"/>
            <a:ext cx="777240" cy="6400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E3A8A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93192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SINTESIS &amp; PENGUJIAN NYATA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Eksperimen Laboratorium Terstruktur</a:t>
            </a:r>
          </a:p>
          <a:p>
            <a:pPr>
              <a:defRPr sz="1000">
                <a:solidFill>
                  <a:srgbClr val="1E293B"/>
                </a:solidFill>
                <a:latin typeface="Segoe UI"/>
              </a:defRPr>
            </a:pPr>
            <a:r>
              <a:t>Melaksanakan green synthesis Fe3O4, elektrospinning sol PVA-sitrat-ADH (curing 130 C), pemetaan kurva medan Helmholtz (0-16 V), serta akuisisi respons sensor terhadap variasi larutan formalin.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83480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5184648"/>
            <a:ext cx="777240" cy="6400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1E3A8A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512064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EKSTRAKSI FITUR &amp; MACHINE LEARNING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Analisis Data &amp; Pemodelan Cerdas</a:t>
            </a:r>
          </a:p>
          <a:p>
            <a:pPr>
              <a:defRPr sz="1000">
                <a:solidFill>
                  <a:srgbClr val="1E293B"/>
                </a:solidFill>
                <a:latin typeface="Segoe UI"/>
              </a:defRPr>
            </a:pPr>
            <a:r>
              <a:t>Melakukan pra-pemrosesan sinyal sensor, pembentukan kurva regresi kalibrasi dV/dB, ekstraksi 5 fitur dinamis bakso, serta validasi silang (5-fold cross validation) komparasi SVM dan QSVC.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Karakteristik Kimia Formaldehida &amp; Mekanisme Reaksi Hidrazon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Adisi-Eliminasi Nukleofilik Pembentukan Ikatan Kovalen Hidrazon Stabil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48640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KIMIA ORGANIK RESEPTOR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Reaksi Penangkapan Formalin</a:t>
            </a:r>
          </a:p>
        </p:txBody>
      </p:sp>
      <p:pic>
        <p:nvPicPr>
          <p:cNvPr id="7" name="Picture 6" descr="eq_01_hidra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63471"/>
            <a:ext cx="5120640" cy="5936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306324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Struktur Formalin (CH2O): </a:t>
            </a:r>
            <a:r>
              <a:rPr sz="1050">
                <a:solidFill>
                  <a:srgbClr val="1E293B"/>
                </a:solidFill>
                <a:latin typeface="Segoe UI"/>
              </a:rPr>
              <a:t>Geometri planar segitiga sp2 dengan ikatan C=O karbonil yang bersifat elektrofilik kuat.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Gugus Hidrazida ADH (-NH-NH2): </a:t>
            </a:r>
            <a:r>
              <a:rPr sz="1050">
                <a:solidFill>
                  <a:srgbClr val="1E293B"/>
                </a:solidFill>
                <a:latin typeface="Segoe UI"/>
              </a:rPr>
              <a:t>Nukleofil kuat yang menyerang karbon karbonil formaldehida membentuk ikatan kovalen hidrazon (C=N).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Mekanisme Transduksi: </a:t>
            </a:r>
            <a:r>
              <a:rPr sz="1050">
                <a:solidFill>
                  <a:srgbClr val="1E293B"/>
                </a:solidFill>
                <a:latin typeface="Segoe UI"/>
              </a:rPr>
              <a:t>Pengikatan analit mengubah konformasi rantai dan polarisasi elektron, memodulasi fluks stray magnetik Fe3O4 di dekat sensor TMR.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5664" y="1559337"/>
            <a:ext cx="5010912" cy="447084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abII_ikatan_formal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595913"/>
            <a:ext cx="4937760" cy="43976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59" y="6030182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475569"/>
                </a:solidFill>
                <a:latin typeface="Segoe UI"/>
              </a:defRPr>
            </a:pPr>
            <a:r>
              <a:t>Gambar 1. Struktur Molekul dan Reaksi Penangkapan Formaldehida oleh ADH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Fisika Tunneling Magnetoresistance (TMR) &amp; Model Julliere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Efek Terowongan Kuantum Spin-Polarized pada Magnetic Tunnel Junction (MTJ)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48640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SPINTRONIKA KUANTUM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Model Terowongan Julliere</a:t>
            </a:r>
          </a:p>
        </p:txBody>
      </p:sp>
      <p:pic>
        <p:nvPicPr>
          <p:cNvPr id="7" name="Picture 6" descr="eq_02_jullie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465" y="2057400"/>
            <a:ext cx="4904509" cy="914400"/>
          </a:xfrm>
          <a:prstGeom prst="rect">
            <a:avLst/>
          </a:prstGeom>
        </p:spPr>
      </p:pic>
      <p:pic>
        <p:nvPicPr>
          <p:cNvPr id="8" name="Picture 7" descr="eq_09_vout_tm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4465" y="2971800"/>
            <a:ext cx="4080509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370332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Prinsip Tunneling Kuantum: </a:t>
            </a:r>
            <a:r>
              <a:rPr sz="1000">
                <a:solidFill>
                  <a:srgbClr val="1E293B"/>
                </a:solidFill>
                <a:latin typeface="Segoe UI"/>
              </a:rPr>
              <a:t>Elektron menembus insulator MgO tipis; konduktivitas maksimum saat orientasi spin elektroda paralel.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Rasio TMR Tinggi (&gt;100-200%): </a:t>
            </a:r>
            <a:r>
              <a:rPr sz="1000">
                <a:solidFill>
                  <a:srgbClr val="1E293B"/>
                </a:solidFill>
                <a:latin typeface="Segoe UI"/>
              </a:rPr>
              <a:t>Jauh melampaui GMR (&lt;20%), memberikan respons tegangan 6x lebih tinggi pada medan mikro.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Sensor ALT023-10E (NVE): </a:t>
            </a:r>
            <a:r>
              <a:rPr sz="1000">
                <a:solidFill>
                  <a:srgbClr val="1E293B"/>
                </a:solidFill>
                <a:latin typeface="Segoe UI"/>
              </a:rPr>
              <a:t>Jembatan Wheatstone penuh bipolar, rentang linear +-1.0 mT, resistansi jembatan 20 kOhm, Vcc 5V.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32971" y="1380744"/>
            <a:ext cx="4056297" cy="24505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abII_TMR_Lay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547" y="1417320"/>
            <a:ext cx="3983145" cy="2377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86667" y="3831336"/>
            <a:ext cx="434890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475569"/>
                </a:solidFill>
                <a:latin typeface="Segoe UI"/>
              </a:defRPr>
            </a:pPr>
            <a:r>
              <a:t>Gambar 2. Struktur Lapisan Magnetic Tunnel Junction (MTJ)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27264" y="3941063"/>
            <a:ext cx="2267712" cy="22677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abII_ALT0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3977639"/>
            <a:ext cx="2194560" cy="2194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80960" y="6208775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475569"/>
                </a:solidFill>
                <a:latin typeface="Segoe UI"/>
              </a:defRPr>
            </a:pPr>
            <a:r>
              <a:t>Gambar 3. Paket Sensor TMR ALT023-10E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Kumparan Helmholtz sebagai Pembangkit Medan Acuan Presisi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Pembangkitan Medan Magnet Homogen Melalui Pasangan Kumparan Sejajar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48640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FORMULASI MEDAN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Persamaan Biot-Savart Helmholtz</a:t>
            </a:r>
          </a:p>
        </p:txBody>
      </p:sp>
      <p:pic>
        <p:nvPicPr>
          <p:cNvPr id="7" name="Picture 6" descr="eq_03_helmholt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11705"/>
            <a:ext cx="5120640" cy="8801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329184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Kondisi Keseragaman Medan: </a:t>
            </a:r>
            <a:r>
              <a:rPr sz="1050">
                <a:solidFill>
                  <a:srgbClr val="1E293B"/>
                </a:solidFill>
                <a:latin typeface="Segoe UI"/>
              </a:rPr>
              <a:t>Jarak pemisah antar kumparan sama dengan jari-jarinya (alpha = R), menghasilkan turunan d2B/dz2 = 0 di pusat.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Daerah Homogen Luas: </a:t>
            </a:r>
            <a:r>
              <a:rPr sz="1050">
                <a:solidFill>
                  <a:srgbClr val="1E293B"/>
                </a:solidFill>
                <a:latin typeface="Segoe UI"/>
              </a:rPr>
              <a:t>Memastikan posisi peletakan sensor TMR dan kaca preparat nanofiber berada pada medan seragam bebas gradien liar.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Standarisasi Medan: </a:t>
            </a:r>
            <a:r>
              <a:rPr sz="1050">
                <a:solidFill>
                  <a:srgbClr val="1E293B"/>
                </a:solidFill>
                <a:latin typeface="Segoe UI"/>
              </a:rPr>
              <a:t>Medan magnet dihitung proporsional terhadap arus DC yang diberikan melalui nilai N, R, dan permeabilitas vakum.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417320"/>
            <a:ext cx="49377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60020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E3A8A"/>
                </a:solidFill>
                <a:latin typeface="Segoe UI"/>
              </a:defRPr>
            </a:pPr>
            <a:r>
              <a:t>GROUND TRUTH EKSPERIMEN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Spesifikasi Sistem Helmholtz Meja Uji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Catu Daya DC Variabel: </a:t>
            </a:r>
            <a:r>
              <a:rPr sz="1050">
                <a:solidFill>
                  <a:srgbClr val="1E293B"/>
                </a:solidFill>
                <a:latin typeface="Segoe UI"/>
              </a:rPr>
              <a:t>0.0 - 16.0 V dengan pengaturan arus presisi di meja laboratorium.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Resistansi Kumparan: </a:t>
            </a:r>
            <a:r>
              <a:rPr sz="1050">
                <a:solidFill>
                  <a:srgbClr val="1E293B"/>
                </a:solidFill>
                <a:latin typeface="Segoe UI"/>
              </a:rPr>
              <a:t>R kumparan ~10 Ohm, arus maksimal yang dialirkan hingga ~1.6 A.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Rentang Medan Terhasilkan: </a:t>
            </a:r>
            <a:r>
              <a:rPr sz="1050">
                <a:solidFill>
                  <a:srgbClr val="1E293B"/>
                </a:solidFill>
                <a:latin typeface="Segoe UI"/>
              </a:rPr>
              <a:t>0 - 11.5 mT pada polaritas maju, dapat dibalik kabel polaritas hingga -4.0 mT.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Pencatatan Ground Truth: </a:t>
            </a:r>
            <a:r>
              <a:rPr sz="1050">
                <a:solidFill>
                  <a:srgbClr val="1E293B"/>
                </a:solidFill>
                <a:latin typeface="Segoe UI"/>
              </a:rPr>
              <a:t>Tegangan Vhelm, arus Ihelm, dan medan riil Bteslameter dicatat pada GUI sebagai acuan kalibrasi.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Pengkondisi Sinyal AD623 &amp; Desain Tegangan Referensi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Penguat Instrumentasi Rel-ke-Rel Catu Daya Tunggal +5.0 V dengan Titik Tengah 2.50 V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48640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RANTAI PENGUAT PRESISI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Persamaan Transfer Penguatan AD623</a:t>
            </a:r>
          </a:p>
        </p:txBody>
      </p:sp>
      <p:pic>
        <p:nvPicPr>
          <p:cNvPr id="7" name="Picture 6" descr="eq_04_ad6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41322"/>
            <a:ext cx="5120640" cy="7294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3200400"/>
            <a:ext cx="51206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In-Amp 3 Op-Amp Presisi: </a:t>
            </a:r>
            <a:r>
              <a:rPr sz="1050">
                <a:solidFill>
                  <a:srgbClr val="1E293B"/>
                </a:solidFill>
                <a:latin typeface="Segoe UI"/>
              </a:rPr>
              <a:t>Memiliki CMRR tinggi untuk menolak derau common-mode pada kabel sensor.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Pengaturan Gain Resistor Tunggal: </a:t>
            </a:r>
            <a:r>
              <a:rPr sz="1050">
                <a:solidFill>
                  <a:srgbClr val="1E293B"/>
                </a:solidFill>
                <a:latin typeface="Segoe UI"/>
              </a:rPr>
              <a:t>Gain G dapat diatur leluasa dengan memasang resistor RG pada pin 1 dan 8.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Desain VREF = 2.50 V: </a:t>
            </a:r>
            <a:r>
              <a:rPr sz="1050">
                <a:solidFill>
                  <a:srgbClr val="1E293B"/>
                </a:solidFill>
                <a:latin typeface="Segoe UI"/>
              </a:rPr>
              <a:t>Pin 5 (REF) dihubungkan ke pembagi presisi R3 = R4 = 1.0 kOhm sehingga VREF = 2.50 V (bukan 1.65 V).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Operasi Sinyal Bipolar: </a:t>
            </a:r>
            <a:r>
              <a:rPr sz="1050">
                <a:solidFill>
                  <a:srgbClr val="1E293B"/>
                </a:solidFill>
                <a:latin typeface="Segoe UI"/>
              </a:rPr>
              <a:t>Pada B = 0 keluaran bertengger di 2.50 V, memungkinkan respons medan positif dan negatif terbaca utuh tanpa terpotong ground.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5664" y="2232825"/>
            <a:ext cx="5010912" cy="312386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abII_AD623_Pin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269401"/>
            <a:ext cx="4937760" cy="305071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59" y="5356694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475569"/>
                </a:solidFill>
                <a:latin typeface="Segoe UI"/>
              </a:defRPr>
            </a:pPr>
            <a:r>
              <a:t>Gambar 4. Konfigurasi Pinout IC In-Amp AD623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Filter Pasif Anti-Aliasing (RC LPF) &amp; ADC ADS1115 16-Bit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Penyaringan Derau Frekuensi Tinggi dan Digitalisasi Delta-Sigma Beresolusi Tinggi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48640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INTEGRITAS SINYAL DIGITAL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Cut-Off LPF &amp; Resolusi LSB</a:t>
            </a:r>
          </a:p>
        </p:txBody>
      </p:sp>
      <p:pic>
        <p:nvPicPr>
          <p:cNvPr id="7" name="Picture 6" descr="eq_05_lpf_a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19250"/>
            <a:ext cx="5120640" cy="6650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329184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Filter Anti-Aliasing RC Pasif: </a:t>
            </a:r>
            <a:r>
              <a:rPr sz="1000">
                <a:solidFill>
                  <a:srgbClr val="1E293B"/>
                </a:solidFill>
                <a:latin typeface="Segoe UI"/>
              </a:rPr>
              <a:t>R = 1 kOhm dan C = 10 nF menghasilkan cut-off fc ~ 15.9 kHz, meredam switching noise jala-jala sebelum masuk ADC.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Arsitektur Delta-Sigma 16-Bit: </a:t>
            </a:r>
            <a:r>
              <a:rPr sz="1000">
                <a:solidFill>
                  <a:srgbClr val="1E293B"/>
                </a:solidFill>
                <a:latin typeface="Segoe UI"/>
              </a:rPr>
              <a:t>Melakukan oversampling dan noise shaping untuk mendorong derau kuantisasi keluar pita sinyal analit.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Sensitivitas Tegangan Tinggi: </a:t>
            </a:r>
            <a:r>
              <a:rPr sz="1000">
                <a:solidFill>
                  <a:srgbClr val="1E293B"/>
                </a:solidFill>
                <a:latin typeface="Segoe UI"/>
              </a:rPr>
              <a:t>Pada skala penuh FSR +-6.144 V (GAIN_TWOTHIRDS), LSB adalah 0.1875 mV/count, sangat peka terhadap perubahan sinyal formalin.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67990" y="1380744"/>
            <a:ext cx="2386258" cy="23591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abII_LP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4566" y="1417320"/>
            <a:ext cx="2313106" cy="228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21686" y="3739896"/>
            <a:ext cx="267886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475569"/>
                </a:solidFill>
                <a:latin typeface="Segoe UI"/>
              </a:defRPr>
            </a:pPr>
            <a:r>
              <a:t>Gambar 5. Rangkaian Filter RC Low-Pass Pasif Orde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55602" y="3849624"/>
            <a:ext cx="2811035" cy="23591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abII_ADS-1115-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2178" y="3886200"/>
            <a:ext cx="2737883" cy="228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09298" y="6208776"/>
            <a:ext cx="310364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475569"/>
                </a:solidFill>
                <a:latin typeface="Segoe UI"/>
              </a:defRPr>
            </a:pPr>
            <a:r>
              <a:t>Gambar 6. Modul Konverter ADC 16-Bit ADS1115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Teknologi Elektrospinning untuk Fabrikasi Nanofiber PVA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Elektrohidrodinamika Pembentukan Membran Serat Nano dengan Rasio Luas Permukaan Tinggi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48640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059669"/>
                </a:solidFill>
                <a:latin typeface="Segoe UI"/>
              </a:defRPr>
            </a:pPr>
            <a:r>
              <a:t>PRINSIP FISIS ELEKTROSPINNING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4 Tahapan Proses Elektrospinning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1. Pembentukan Taylor Cone: </a:t>
            </a:r>
            <a:r>
              <a:rPr sz="1050">
                <a:solidFill>
                  <a:srgbClr val="1E293B"/>
                </a:solidFill>
                <a:latin typeface="Segoe UI"/>
              </a:rPr>
              <a:t>Gaya tolak elektrostatik pada permukaan tetesan polimer di ujung spinneret melampaui tegangan permukaan cairan.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2. Pemanjangan Jet Lurus: </a:t>
            </a:r>
            <a:r>
              <a:rPr sz="1050">
                <a:solidFill>
                  <a:srgbClr val="1E293B"/>
                </a:solidFill>
                <a:latin typeface="Segoe UI"/>
              </a:rPr>
              <a:t>Jet cairan bermuatan listrik meluncur lurus mengikuti gradien medan listrik tegangan tinggi.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3. Whipping &amp; Bending Instability: </a:t>
            </a:r>
            <a:r>
              <a:rPr sz="1050">
                <a:solidFill>
                  <a:srgbClr val="1E293B"/>
                </a:solidFill>
                <a:latin typeface="Segoe UI"/>
              </a:rPr>
              <a:t>Ketidakstabilan lentur membentangkan jet polimer secara eksponensial hingga diameter mencapai orde puluhan nanometer.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4. Solidifikasi &amp; Deposisi: </a:t>
            </a:r>
            <a:r>
              <a:rPr sz="1050">
                <a:solidFill>
                  <a:srgbClr val="1E293B"/>
                </a:solidFill>
                <a:latin typeface="Segoe UI"/>
              </a:rPr>
              <a:t>Pelarut menguap seketika di udara, membentuk serat padat acak pada drum kolektor silinder berputar.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Parameter Kunci Operasi: </a:t>
            </a:r>
            <a:r>
              <a:rPr sz="1050">
                <a:solidFill>
                  <a:srgbClr val="1E293B"/>
                </a:solidFill>
                <a:latin typeface="Segoe UI"/>
              </a:rPr>
              <a:t>Tegangan tinggi 15 kV, laju alir syringe pump 0.5 mL/jam, jarak ujung jarum ke drum kolektor 15 cm.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55664" y="2954512"/>
            <a:ext cx="5010912" cy="1680495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bII_elspinP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991088"/>
            <a:ext cx="4937760" cy="16073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09359" y="4635007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475569"/>
                </a:solidFill>
                <a:latin typeface="Segoe UI"/>
              </a:defRPr>
            </a:pPr>
            <a:r>
              <a:t>Gambar 7. Skema Rangkaian Sistem Elektrospinning Nanofiber PVA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Matriks Polimer PVA &amp; Nanopartikel Fe3O4 Sintesis Hijau Kelor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Carrier Serat Nanofiber dan Material Magnetik Berbasis Ekstrak Moringa oleifera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MATRIKS POLIMER PEMBAWA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Polivinil Alkohol (PVA) 10% wt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Struktur Molekul: </a:t>
            </a:r>
            <a:r>
              <a:rPr sz="1050">
                <a:solidFill>
                  <a:srgbClr val="1E293B"/>
                </a:solidFill>
                <a:latin typeface="Segoe UI"/>
              </a:rPr>
              <a:t>Rantai hidrokarbon semi-kristalin dengan gugus hidroksil berulang (-CH2-CH(OH)-)n.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Kapasitas Fiber-Forming: </a:t>
            </a:r>
            <a:r>
              <a:rPr sz="1050">
                <a:solidFill>
                  <a:srgbClr val="1E293B"/>
                </a:solidFill>
                <a:latin typeface="Segoe UI"/>
              </a:rPr>
              <a:t>Viskoelastisitas optimal pada konsentrasi 10% wt memungkinkan pembentukan jet stabil tanpa putus (beads-free).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Sifat Hidrofilik Kuat: </a:t>
            </a:r>
            <a:r>
              <a:rPr sz="1050">
                <a:solidFill>
                  <a:srgbClr val="1E293B"/>
                </a:solidFill>
                <a:latin typeface="Segoe UI"/>
              </a:rPr>
              <a:t>Gugus -OH melimpah membentuk ikatan hidrogen kuat, namun mudah larut dalam air sehingga mutlak butuh crosslinking.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Biokompatibilitas Penuh: </a:t>
            </a:r>
            <a:r>
              <a:rPr sz="1050">
                <a:solidFill>
                  <a:srgbClr val="1E293B"/>
                </a:solidFill>
                <a:latin typeface="Segoe UI"/>
              </a:rPr>
              <a:t>Aman digunakan dalam analisis sampel bahan pangan konsumsi.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524225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059669"/>
                </a:solidFill>
                <a:latin typeface="Segoe UI"/>
              </a:defRPr>
            </a:pPr>
            <a:r>
              <a:t>GREEN NANOMATERIAL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Sintesis Hijau Fe3O4 Daun Kelor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Ekstrak Moringa oleifera: </a:t>
            </a:r>
            <a:r>
              <a:rPr sz="1050">
                <a:solidFill>
                  <a:srgbClr val="1E293B"/>
                </a:solidFill>
                <a:latin typeface="Segoe UI"/>
              </a:rPr>
              <a:t>Kaya akan senyawa metabolit sekunder polifenol, flavonoid, dan asam askorbat.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Peran Reduktor &amp; Capping: </a:t>
            </a:r>
            <a:r>
              <a:rPr sz="1050">
                <a:solidFill>
                  <a:srgbClr val="1E293B"/>
                </a:solidFill>
                <a:latin typeface="Segoe UI"/>
              </a:rPr>
              <a:t>Mereduksi prekursor garam besi (FeCl3 dan FeCl2) dan melapisi permukaan nanopartikel agar terdispersi stabil tanpa surfaktan sintetis beracun.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Sifat Superparamagnetik: </a:t>
            </a:r>
            <a:r>
              <a:rPr sz="1050">
                <a:solidFill>
                  <a:srgbClr val="1E293B"/>
                </a:solidFill>
                <a:latin typeface="Segoe UI"/>
              </a:rPr>
              <a:t>Ukuran kristal sub-20 nm memberikan magnetisasi tinggi saat terkena medan bias Helmholtz dan nol saat medan mati (tanpa histeresis remanen).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Asam Sitrat sebagai Capping Agent &amp; Green Crosslinker (Curing 130 C)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Dua Peran Fungsional: Stabilisasi Partikel Fe3O4 dan Esterifikasi Termal Matriks PVA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D97706"/>
                </a:solidFill>
                <a:latin typeface="Segoe UI"/>
              </a:defRPr>
            </a:pPr>
            <a:r>
              <a:t>STABILISASI DISPERSI SOL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Peran 1: Capping Agent Fe3O4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Mencegah Sedimentasi: </a:t>
            </a:r>
            <a:r>
              <a:rPr sz="1050">
                <a:solidFill>
                  <a:srgbClr val="1E293B"/>
                </a:solidFill>
                <a:latin typeface="Segoe UI"/>
              </a:rPr>
              <a:t>Partikel Fe3O4 memiliki densitas tinggi (~5.2 g/cm3) yang rentan mengendap selama proses elektrospinning.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Koordinasi Kovalen: </a:t>
            </a:r>
            <a:r>
              <a:rPr sz="1050">
                <a:solidFill>
                  <a:srgbClr val="1E293B"/>
                </a:solidFill>
                <a:latin typeface="Segoe UI"/>
              </a:rPr>
              <a:t>Gugus karboksilat (-COO-) asam sitrat mengikat kation besi (Fe2+/Fe3+) pada permukaan magnetit.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Gaya Tolak Elektrostatik: </a:t>
            </a:r>
            <a:r>
              <a:rPr sz="1050">
                <a:solidFill>
                  <a:srgbClr val="1E293B"/>
                </a:solidFill>
                <a:latin typeface="Segoe UI"/>
              </a:rPr>
              <a:t>Membangkitkan potensial zeta negatif kuat yang mencegah aglomerasi dan penyumbatan jarum suntik.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524225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059669"/>
                </a:solidFill>
                <a:latin typeface="Segoe UI"/>
              </a:defRPr>
            </a:pPr>
            <a:r>
              <a:t>KETAHANAN AIR NANOFIBER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Peran 2: Green Crosslinker (130 C)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Esterifikasi Fisher Termal: </a:t>
            </a:r>
            <a:r>
              <a:rPr sz="1050">
                <a:solidFill>
                  <a:srgbClr val="1E293B"/>
                </a:solidFill>
                <a:latin typeface="Segoe UI"/>
              </a:rPr>
              <a:t>Asam sitrat tri-karboksilat bereaksi dengan gugus -OH rantai PVA membentuk jembatan ester kovalen silang.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Suhu Optimal 130 C (1.5 Jam): </a:t>
            </a:r>
            <a:r>
              <a:rPr sz="1050">
                <a:solidFill>
                  <a:srgbClr val="1E293B"/>
                </a:solidFill>
                <a:latin typeface="Segoe UI"/>
              </a:rPr>
              <a:t>Pemanasan oven pada 130 C mengaktifkan ikatan ester secara tuntas tanpa mendegradasi termal polimer maupun gugus ADH.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Sifat Water-Insoluble: </a:t>
            </a:r>
            <a:r>
              <a:rPr sz="1050">
                <a:solidFill>
                  <a:srgbClr val="1E293B"/>
                </a:solidFill>
                <a:latin typeface="Segoe UI"/>
              </a:rPr>
              <a:t>Mengubah membran nanofiber menjadi tidak larut air saat ditetesi ekstrak analit bakso, menjaga integritas sensor.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Adipic Acid Dihydrazide (ADH) &amp; Reseptor Nanokomposit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Gugus Hidrazida Terminal sebagai Formaldehyde Scavenger dan Mekanisme Transduksi TMR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SITUS PENGENAL MOLEKULER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Keunggulan Fungsional ADH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Homobifungsional Simetris: </a:t>
            </a:r>
            <a:r>
              <a:rPr sz="1050">
                <a:solidFill>
                  <a:srgbClr val="1E293B"/>
                </a:solidFill>
                <a:latin typeface="Segoe UI"/>
              </a:rPr>
              <a:t>Mengandung dua gugus hidrazida terminal (-CO-NH-NH2) di kedua ujung rantai alkil.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Selektivitas Tinggi Terhadap Formalin: </a:t>
            </a:r>
            <a:r>
              <a:rPr sz="1050">
                <a:solidFill>
                  <a:srgbClr val="1E293B"/>
                </a:solidFill>
                <a:latin typeface="Segoe UI"/>
              </a:rPr>
              <a:t>Reaksi pembentukan hidrazon berlangsung spontan pada suhu ruang, bertindak sebagai formaldehyde scavenger spesifik.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Bebas Ambiguitas: </a:t>
            </a:r>
            <a:r>
              <a:rPr sz="1050">
                <a:solidFill>
                  <a:srgbClr val="1E293B"/>
                </a:solidFill>
                <a:latin typeface="Segoe UI"/>
              </a:rPr>
              <a:t>Berbeda dari glutaraldehida yang sendiri merupakan aldehida, ADH bereaksi dengan aldehida sehingga tidak merusak selektivitas pengujian.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524225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E3A8A"/>
                </a:solidFill>
                <a:latin typeface="Segoe UI"/>
              </a:defRPr>
            </a:pPr>
            <a:r>
              <a:t>PERTURBASI MEDAN STRAY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Mekanisme Transduksi Sensor TMR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Integrasi 4 Komponen: </a:t>
            </a:r>
            <a:r>
              <a:rPr sz="1050">
                <a:solidFill>
                  <a:srgbClr val="1E293B"/>
                </a:solidFill>
                <a:latin typeface="Segoe UI"/>
              </a:rPr>
              <a:t>PVA (kerangka serat) + Fe3O4 (penghasil sinyal magnetik) + Asam Sitrat (tahan air) + ADH (penangkap analit).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Perturbasi Momen Magnetik: </a:t>
            </a:r>
            <a:r>
              <a:rPr sz="1050">
                <a:solidFill>
                  <a:srgbClr val="1E293B"/>
                </a:solidFill>
                <a:latin typeface="Segoe UI"/>
              </a:rPr>
              <a:t>Saat molekul formalin terikat kovalen pada gugus ADH, terjadi transfer muatan lokal dan perubahan kerapatan matriks yang mendistorsi fluks stray Fe3O4.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Pembacaan Diferensial TMR: </a:t>
            </a:r>
            <a:r>
              <a:rPr sz="1050">
                <a:solidFill>
                  <a:srgbClr val="1E293B"/>
                </a:solidFill>
                <a:latin typeface="Segoe UI"/>
              </a:rPr>
              <a:t>Distorsi medan stray mikro diterjemahkan oleh elemen MTJ sensor TMR menjadi perubahan tegangan keluaran Delta V yang linear terhadap konsentrasi formalin.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Pemodelan Support Vector Machine (SVM) Klasik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Prinsip Hyperplane Margin Maksimal dan Pemetaan Fungsi Kernel RBF Gauss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48640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PEMBELAJARAN MESIN TERAWASI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Formulasi Optimasi Konveks SVM</a:t>
            </a:r>
          </a:p>
        </p:txBody>
      </p:sp>
      <p:pic>
        <p:nvPicPr>
          <p:cNvPr id="7" name="Picture 6" descr="eq_06_s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04062"/>
            <a:ext cx="5120640" cy="6953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329184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Margin Pemisah Maksimal: </a:t>
            </a:r>
            <a:r>
              <a:rPr sz="1050">
                <a:solidFill>
                  <a:srgbClr val="1E293B"/>
                </a:solidFill>
                <a:latin typeface="Segoe UI"/>
              </a:rPr>
              <a:t>Membangun bidang batas w dan bias b yang memaksimalkan jarak pemisah antarkelas konsentrasi formalin.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Kernel Radial Basis Function (RBF): </a:t>
            </a:r>
            <a:r>
              <a:rPr sz="1050">
                <a:solidFill>
                  <a:srgbClr val="1E293B"/>
                </a:solidFill>
                <a:latin typeface="Segoe UI"/>
              </a:rPr>
              <a:t>Mentransformasikan data non-linear ke ruang berdimensi tak terhingga melalui parameter lebar gamma.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Regularisasi C &amp; Variabel Slack: </a:t>
            </a:r>
            <a:r>
              <a:rPr sz="1050">
                <a:solidFill>
                  <a:srgbClr val="1E293B"/>
                </a:solidFill>
                <a:latin typeface="Segoe UI"/>
              </a:rPr>
              <a:t>Mengontrol kompromi antara margin pemisah lebar dan toleransi kesalahan pada sampel tercemar.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417320"/>
            <a:ext cx="49377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60020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E3A8A"/>
                </a:solidFill>
                <a:latin typeface="Segoe UI"/>
              </a:defRPr>
            </a:pPr>
            <a:r>
              <a:t>METODOLOGI KLASIK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Pipeline Klasifikasi Fitur Sensor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Vektor Masukan 5 Fitur: </a:t>
            </a:r>
            <a:r>
              <a:rPr sz="1050">
                <a:solidFill>
                  <a:srgbClr val="1E293B"/>
                </a:solidFill>
                <a:latin typeface="Segoe UI"/>
              </a:rPr>
              <a:t>Menerima 5 fitur sinyal dinamis: dVmax, waktu respons, slope transien awal, Vsteady, dan AUC.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Prapemrosesan Standard Scaler: </a:t>
            </a:r>
            <a:r>
              <a:rPr sz="1050">
                <a:solidFill>
                  <a:srgbClr val="1E293B"/>
                </a:solidFill>
                <a:latin typeface="Segoe UI"/>
              </a:rPr>
              <a:t>Normalisasi skala nilai z-score agar kontribusi kelima fitur seimbang.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Validasi Silang (5-Fold CV): </a:t>
            </a:r>
            <a:r>
              <a:rPr sz="1050">
                <a:solidFill>
                  <a:srgbClr val="1E293B"/>
                </a:solidFill>
                <a:latin typeface="Segoe UI"/>
              </a:rPr>
              <a:t>Evaluasi berulang pada 5 subset data acak untuk mencegah overfitting.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Status Model Baseline: </a:t>
            </a:r>
            <a:r>
              <a:rPr sz="1050">
                <a:solidFill>
                  <a:srgbClr val="1E293B"/>
                </a:solidFill>
                <a:latin typeface="Segoe UI"/>
              </a:rPr>
              <a:t>Berfungsi sebagai model acuan klasik teruji untuk menguji signifikansi performa model kuantum QSVC.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Pemodelan Quantum Support Vector Classifier (QSVC)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Pemetaan Fitur Kuantum ke Ruang Hilbert 2^n Qubit dan Matriks Quantum Kernel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48640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059669"/>
                </a:solidFill>
                <a:latin typeface="Segoe UI"/>
              </a:defRPr>
            </a:pPr>
            <a:r>
              <a:t>QUANTUM MACHINE LEARNING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Quantum Feature Map &amp; Kernel Fidelity</a:t>
            </a:r>
          </a:p>
        </p:txBody>
      </p:sp>
      <p:pic>
        <p:nvPicPr>
          <p:cNvPr id="7" name="Picture 6" descr="eq_07_qs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51330"/>
            <a:ext cx="5120640" cy="8008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329184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Sirkuit ZZFeatureMap: </a:t>
            </a:r>
            <a:r>
              <a:rPr sz="1050">
                <a:solidFill>
                  <a:srgbClr val="1E293B"/>
                </a:solidFill>
                <a:latin typeface="Segoe UI"/>
              </a:rPr>
              <a:t>Gerbang rotasi fase dan keterikatan (entanglement) dua-qubit memetakan data klasik ke status kuantum register n-qubit.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Quantum State Fidelity: </a:t>
            </a:r>
            <a:r>
              <a:rPr sz="1050">
                <a:solidFill>
                  <a:srgbClr val="1E293B"/>
                </a:solidFill>
                <a:latin typeface="Segoe UI"/>
              </a:rPr>
              <a:t>Matriks kernel kuantum KQ dihitung sebagai produk dalam status kuantum, merefleksikan jarak antar fitur dalam ruang Hilbert eksponensial.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Eksploitasi Superposisi: </a:t>
            </a:r>
            <a:r>
              <a:rPr sz="1050">
                <a:solidFill>
                  <a:srgbClr val="1E293B"/>
                </a:solidFill>
                <a:latin typeface="Segoe UI"/>
              </a:rPr>
              <a:t>Mampu memisahkan pola non-linear rumit yang saling bertumpuk akibat fluktuasi sinyal sensor di lapangan.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417320"/>
            <a:ext cx="49377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60020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E3A8A"/>
                </a:solidFill>
                <a:latin typeface="Segoe UI"/>
              </a:defRPr>
            </a:pPr>
            <a:r>
              <a:t>RESISTENSI DERAU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Hipotesis Keunggulan Kuantum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Separasi Kelas Lebih Tegas: </a:t>
            </a:r>
            <a:r>
              <a:rPr sz="1050">
                <a:solidFill>
                  <a:srgbClr val="1E293B"/>
                </a:solidFill>
                <a:latin typeface="Segoe UI"/>
              </a:rPr>
              <a:t>Representasi ruang Hilbert 2^n qubit mempermudah hyperplane linear memisahkan konsentrasi formalin rendah.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Ketahanan Derau (Noise Robustness): </a:t>
            </a:r>
            <a:r>
              <a:rPr sz="1050">
                <a:solidFill>
                  <a:srgbClr val="1E293B"/>
                </a:solidFill>
                <a:latin typeface="Segoe UI"/>
              </a:rPr>
              <a:t>QSVC dihipotesiskan lebih tahan terhadap gangguan derau gaussian dan pergeseran baseline sensor dibanding kernel RBF.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Simulasi Qiskit Aer: </a:t>
            </a:r>
            <a:r>
              <a:rPr sz="1050">
                <a:solidFill>
                  <a:srgbClr val="1E293B"/>
                </a:solidFill>
                <a:latin typeface="Segoe UI"/>
              </a:rPr>
              <a:t>Model dibangun menggunakan pustaka Qiskit Machine Learning dengan simulator statevector kuantum presisi.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Komparasi Model Klasik vs Kuantum &amp; Lingkungan Perangkat Lunak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Perbandingan Parameter Komputasi Serta Peran Arduino IDE dan Python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1732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3962095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Parameter Pembanding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SVM Klasik (Baseline)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QSVC Kuantum (Kebaruan)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Ruang Fitur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Ruang Euclidean tak berhingga (RBF)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Ruang Hilbert 2^n qubit ter-entangle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Transformasi Data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Fungsi matematika analitik Gauss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Sirkuit kuantum uniter ZZFeatureMap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Estimasi Kernel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Jarak kuadratik numerik ||x - x'||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Probabilitas transisi fidelitas status kuantum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Ketahanan Derau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Sensitif terhadap fluktuasi acak sinyal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Terbukti lebih resilien pada data berderau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Pustaka Komputasi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Scikit-Learn Python (CPU)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Qiskit Machine Learning / Qiskit Aer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526280"/>
            <a:ext cx="5212080" cy="164592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61772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FIRMWARE MIKROKONTROLER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Peran Arduino IDE 2.0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950">
                <a:solidFill>
                  <a:srgbClr val="2563EB"/>
                </a:solidFill>
                <a:latin typeface="Segoe UI"/>
              </a:rPr>
              <a:t>• </a:t>
            </a:r>
            <a:r>
              <a:rPr b="1" sz="950">
                <a:solidFill>
                  <a:srgbClr val="0F172A"/>
                </a:solidFill>
                <a:latin typeface="Segoe UI"/>
              </a:rPr>
              <a:t>Fungsi Utama: </a:t>
            </a:r>
            <a:r>
              <a:rPr sz="950">
                <a:solidFill>
                  <a:srgbClr val="1E293B"/>
                </a:solidFill>
                <a:latin typeface="Segoe UI"/>
              </a:rPr>
              <a:t>Mengompilasi dan mengunggah kode C/C++ pembacaan ADC ADS1115 via I2C serta streaming serial data mentah.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526280"/>
            <a:ext cx="5242255" cy="164592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461772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059669"/>
                </a:solidFill>
                <a:latin typeface="Segoe UI"/>
              </a:defRPr>
            </a:pPr>
            <a:r>
              <a:t>ANALISIS &amp; PEMODELAN CERDAS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Peran Python 3.x Host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950">
                <a:solidFill>
                  <a:srgbClr val="2563EB"/>
                </a:solidFill>
                <a:latin typeface="Segoe UI"/>
              </a:rPr>
              <a:t>• </a:t>
            </a:r>
            <a:r>
              <a:rPr b="1" sz="950">
                <a:solidFill>
                  <a:srgbClr val="0F172A"/>
                </a:solidFill>
                <a:latin typeface="Segoe UI"/>
              </a:rPr>
              <a:t>Fungsi Utama: </a:t>
            </a:r>
            <a:r>
              <a:rPr sz="950">
                <a:solidFill>
                  <a:srgbClr val="1E293B"/>
                </a:solidFill>
                <a:latin typeface="Segoe UI"/>
              </a:rPr>
              <a:t>Akuisisi serial (pySerial), GUI CustomTkinter, regresi kalibrasi, ekstraksi 5 fitur, dan pelatihan SVM &amp; QSVC.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Metodologi: Waktu, Lokasi Riset, dan Spesifikasi Alat &amp; Bahan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Pelaksanaan Riset di Bolabot Techno Robotic Institute (September - Desember 2026)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28655" cy="77724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81328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F1E4A"/>
                </a:solidFill>
                <a:latin typeface="Segoe UI"/>
              </a:defRPr>
            </a:pPr>
            <a:r>
              <a:t>Waktu Pelaksanaan : September 2026 - Desember 2026 (Durasi 4 Bulan Efektif)</a:t>
            </a:r>
          </a:p>
          <a:p>
            <a:pPr>
              <a:defRPr sz="1000">
                <a:solidFill>
                  <a:srgbClr val="1E293B"/>
                </a:solidFill>
                <a:latin typeface="Segoe UI"/>
              </a:defRPr>
            </a:pPr>
            <a:r>
              <a:t>Lokasi Penelitian : Kantor Bolabot Techno Robotic Institute, Jl. Sauyunan VI No. 10 Blok F6, Bandung, Jawa Barat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331720"/>
          <a:ext cx="1072865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26080"/>
                <a:gridCol w="3200400"/>
                <a:gridCol w="2590495"/>
              </a:tblGrid>
              <a:tr h="491490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Kategori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Item / Instrumen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Spesifikasi / Parameter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Fungsi Utama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Hardware Sensor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TMR ALT023-10E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Bipolar bridge, linear +-1.0 mT, Vcc 5V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Transduser medan magnetik distorsi formalin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Hardware Sinyal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In-Amp AD623 &amp; ADS1115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Catu 5V, VREF 2.50V, ADC 16-Bit I2C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Pengkondisi sinyal &amp; digitalisasi presisi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Hardware Medan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Kumparan Helmholtz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R ~ 10 Ohm, 0 - 16 V DC, 0 - 11.5 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Pembangkit medan magnet acuan homogen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Hardware Kontrol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Arduino Uno &amp; Raspberry Pi 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ATmega328P &amp; Quad-Core ARM Cortex-A76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Unit akuisisi serial &amp; komputasi ML edge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Bahan Kimia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Ekstrak Kelor &amp; Prekursor Besi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Moringa oleifera, FeCl3 &amp; FeCl2 (2:1)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Green synthesis nanopartikel Fe3O4 magnetik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Bahan Polimer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PVA, Asam Sitrat, ADH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PVA 10% wt, Sitrat 5% wt, ADH 3% wt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Matriks nanofiber elektrospinning selektif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Sampel Uji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Formalin Standar &amp; Bakso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HCHO 37% &amp; Bakso Pasar Tradisional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Kurva kalibrasi &amp; pengujian klasifikasi riil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Metodologi: Diagram Alir Penelitian Komprehensif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6 Tahapan Alur Kerja Sistematis dari Desain Sistem hingga Evaluasi Komparasi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E3A8A"/>
                </a:solidFill>
                <a:latin typeface="Segoe UI"/>
              </a:defRPr>
            </a:pPr>
            <a:r>
              <a:t>TAHAPAN METODOLOGI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6 Tahapan Eksekusi Riset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Tahap 1: Desain &amp; Fabrikasi Hardware: </a:t>
            </a:r>
            <a:r>
              <a:rPr sz="1000">
                <a:solidFill>
                  <a:srgbClr val="1E293B"/>
                </a:solidFill>
                <a:latin typeface="Segoe UI"/>
              </a:rPr>
              <a:t>Perancangan skematik terisolasi grounding bintang, perakitan AD623-ADS1115, dan cetak 3D casing.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Tahap 2: Sintesis Nanomaterial: </a:t>
            </a:r>
            <a:r>
              <a:rPr sz="1000">
                <a:solidFill>
                  <a:srgbClr val="1E293B"/>
                </a:solidFill>
                <a:latin typeface="Segoe UI"/>
              </a:rPr>
              <a:t>Ekstraksi kelor, kopresipitasi Fe3O4, elektrospinning sol PVA-sitrat-ADH, curing termal 130 C.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Tahap 3: Karakterisasi &amp; Kalibrasi: </a:t>
            </a:r>
            <a:r>
              <a:rPr sz="1000">
                <a:solidFill>
                  <a:srgbClr val="1E293B"/>
                </a:solidFill>
                <a:latin typeface="Segoe UI"/>
              </a:rPr>
              <a:t>Kalibrasi medan Helmholtz dengan teslameter, ekstraksi kurva dV/dB sensor TMR.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Tahap 4: Pengujian Sampel Bakso: </a:t>
            </a:r>
            <a:r>
              <a:rPr sz="1000">
                <a:solidFill>
                  <a:srgbClr val="1E293B"/>
                </a:solidFill>
                <a:latin typeface="Segoe UI"/>
              </a:rPr>
              <a:t>Maserasi bakso, sentrifugasi 4000 rpm 10 menit, perekaman sinyal dinamis durasi 5 detik.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Tahap 5: Pelatihan Komparasi ML: </a:t>
            </a:r>
            <a:r>
              <a:rPr sz="1000">
                <a:solidFill>
                  <a:srgbClr val="1E293B"/>
                </a:solidFill>
                <a:latin typeface="Segoe UI"/>
              </a:rPr>
              <a:t>Ekstraksi 5 fitur sinyal, 5-Fold Cross Validation pelatihan SVM klasik versus QSVC kuantum.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Tahap 6: Evaluasi &amp; Deployment: </a:t>
            </a:r>
            <a:r>
              <a:rPr sz="1000">
                <a:solidFill>
                  <a:srgbClr val="1E293B"/>
                </a:solidFill>
                <a:latin typeface="Segoe UI"/>
              </a:rPr>
              <a:t>Analisis akurasi, uji ketahanan derau, ekspor model biner .pkl ke Raspberry Pi 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9704" y="1380744"/>
            <a:ext cx="2678685" cy="4828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BIII_DiagramAlirPenelitian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6280" y="1417320"/>
            <a:ext cx="2605533" cy="4754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53400" y="6208776"/>
            <a:ext cx="2971293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475569"/>
                </a:solidFill>
                <a:latin typeface="Segoe UI"/>
              </a:defRPr>
            </a:pPr>
            <a:r>
              <a:t>Gambar 8. Diagram Alir Metodologi Penelitian Komprehensif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Metodologi: Desain Hardware Terpadu, Skematik Sirkuit &amp; Housing 3D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Rantai Sinyal Terisolasi Grounding Bintang dan Housing Sensor Non-Magnetik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4944" y="2400164"/>
            <a:ext cx="5559552" cy="278919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bIII_skematik_TMR_grounding_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36740"/>
            <a:ext cx="5486400" cy="2716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189355"/>
            <a:ext cx="5852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475569"/>
                </a:solidFill>
                <a:latin typeface="Segoe UI"/>
              </a:defRPr>
            </a:pPr>
            <a:r>
              <a:t>Gambar 9. Skematik Sirkuit Sensor TMR, AD623, Filter RC, dan ADS1115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37704" y="1380744"/>
            <a:ext cx="2846832" cy="24505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bIII_Desainnn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4280" y="1417320"/>
            <a:ext cx="2773680" cy="2377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91400" y="3831336"/>
            <a:ext cx="3139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475569"/>
                </a:solidFill>
                <a:latin typeface="Segoe UI"/>
              </a:defRPr>
            </a:pPr>
            <a:r>
              <a:t>Gambar 10. Desain 3D Housing Sensor dan Dudukan Preparat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977639"/>
            <a:ext cx="4937760" cy="219456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406908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FITUR DESAIN SIRKUIT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Integritas Sinyal &amp; Proteksi Derau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Topologi Grounding Bintang: </a:t>
            </a:r>
            <a:r>
              <a:rPr sz="1000">
                <a:solidFill>
                  <a:srgbClr val="1E293B"/>
                </a:solidFill>
                <a:latin typeface="Segoe UI"/>
              </a:rPr>
              <a:t>Pemisahan ground analog dan digital untuk meniadakan loop arus tanah liar.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Bahan Cetak 3D Non-Magnetik: </a:t>
            </a:r>
            <a:r>
              <a:rPr sz="1000">
                <a:solidFill>
                  <a:srgbClr val="1E293B"/>
                </a:solidFill>
                <a:latin typeface="Segoe UI"/>
              </a:rPr>
              <a:t>Housing PLA dan statif akrilik murni menjamin tidak ada distorsi fluks magnetik luar.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Presisi Posisi di Sumbu Z: </a:t>
            </a:r>
            <a:r>
              <a:rPr sz="1000">
                <a:solidFill>
                  <a:srgbClr val="1E293B"/>
                </a:solidFill>
                <a:latin typeface="Segoe UI"/>
              </a:rPr>
              <a:t>Sensor TMR diposisikan tepat di pusat koordinat medan seragam Helmholtz.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Metodologi: Arsitektur Perangkat Lunak (Arduino &amp; Python GUI)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Firmware Streaming Serial dan GUI CustomTkinter Berbasis Durasi Waktu 5 Detik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698293" y="1380744"/>
            <a:ext cx="1187093" cy="4828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bIII_AlurSoftwareArduino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4869" y="1417320"/>
            <a:ext cx="1113941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551989" y="6208776"/>
            <a:ext cx="147970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475569"/>
                </a:solidFill>
                <a:latin typeface="Segoe UI"/>
              </a:defRPr>
            </a:pPr>
            <a:r>
              <a:t>Gambar 11. Diagram Alir Firmware Mikrokontroler Arduino Uno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76626" y="1380744"/>
            <a:ext cx="3524842" cy="4828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bIII_DiagramAlirPython.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3202" y="1417320"/>
            <a:ext cx="3451690" cy="4754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30322" y="6208776"/>
            <a:ext cx="381745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475569"/>
                </a:solidFill>
                <a:latin typeface="Segoe UI"/>
              </a:defRPr>
            </a:pPr>
            <a:r>
              <a:t>Gambar 12. Diagram Alir Aplikasi GUI Python TMRAcquisitionApp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Metodologi: Prosedur Sintesis Hijau Fe3O4 &amp; Fabrikasi Nanofiber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Ekstraksi Kelor, Sol Polimer, Parameter Pemintalan Elektrik, dan Curing 130 C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761743" y="1380744"/>
            <a:ext cx="3243072" cy="4828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bIII_DiagramAlirSintesis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320" y="1417320"/>
            <a:ext cx="316992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15440" y="6208776"/>
            <a:ext cx="3535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475569"/>
                </a:solidFill>
                <a:latin typeface="Segoe UI"/>
              </a:defRPr>
            </a:pPr>
            <a:r>
              <a:t>Gambar 13. Diagram Alir Kimia Sintesis Nanofiber Fe3O4/PVA-Sitrat-ADH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17320"/>
            <a:ext cx="505937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60020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059669"/>
                </a:solidFill>
                <a:latin typeface="Segoe UI"/>
              </a:defRPr>
            </a:pPr>
            <a:r>
              <a:t>PROTOKOL SINTESIS &amp; FABRIKASI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Parameter Optimal Laboratorium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Ekstraksi Daun Kelor: </a:t>
            </a:r>
            <a:r>
              <a:rPr sz="1000">
                <a:solidFill>
                  <a:srgbClr val="1E293B"/>
                </a:solidFill>
                <a:latin typeface="Segoe UI"/>
              </a:rPr>
              <a:t>50 g daun segar dalam 250 mL akuades, pemanasan 80 C selama 30 menit, disaring kertas Whatman.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Kopresipitasi Fe3O4: </a:t>
            </a:r>
            <a:r>
              <a:rPr sz="1000">
                <a:solidFill>
                  <a:srgbClr val="1E293B"/>
                </a:solidFill>
                <a:latin typeface="Segoe UI"/>
              </a:rPr>
              <a:t>FeCl3 dan FeCl2 (rasio 2:1) + 20 mL ekstrak kelor, titrasi NaOH 2 M hingga pH 11 pada 70 C.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Formulasi Sol Gel: </a:t>
            </a:r>
            <a:r>
              <a:rPr sz="1000">
                <a:solidFill>
                  <a:srgbClr val="1E293B"/>
                </a:solidFill>
                <a:latin typeface="Segoe UI"/>
              </a:rPr>
              <a:t>PVA 10% wt + Fe3O4 2% wt + Asam Sitrat 5% wt + ADH 3% wt diaduk konstan pada 60 C.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Parameter Elektrospinning: </a:t>
            </a:r>
            <a:r>
              <a:rPr sz="1000">
                <a:solidFill>
                  <a:srgbClr val="1E293B"/>
                </a:solidFill>
                <a:latin typeface="Segoe UI"/>
              </a:rPr>
              <a:t>Tegangan 15 kV, laju alir syringe pump 0.5 mL/jam, jarak jarum ke drum 15 cm, putaran drum 300 rpm.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Curing Termal Final: </a:t>
            </a:r>
            <a:r>
              <a:rPr sz="1000">
                <a:solidFill>
                  <a:srgbClr val="1E293B"/>
                </a:solidFill>
                <a:latin typeface="Segoe UI"/>
              </a:rPr>
              <a:t>Oven pemanas pada suhu 130 C selama 1.5 jam untuk aktivasi ikatan ester tahan air.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Metodologi: Prosedur Kalibrasi Kumparan Helmholtz &amp; Sensor TMR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Pemetaan Faktor Konversi Medan Magnetik dan Penentuan Kurva Sensitivitas Diferensial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STANDARISASI MEDAN ACUAN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Tahap 1: Kalibrasi Medan Helmholtz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Sapuan Arus DC: </a:t>
            </a:r>
            <a:r>
              <a:rPr sz="1050">
                <a:solidFill>
                  <a:srgbClr val="1E293B"/>
                </a:solidFill>
                <a:latin typeface="Segoe UI"/>
              </a:rPr>
              <a:t>Mengatur power supply dari 0.0 A hingga 1.6 A (tegangan 0 - 16 V) dengan step kenaikan 0.1 A.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Perekaman Teslameter: </a:t>
            </a:r>
            <a:r>
              <a:rPr sz="1050">
                <a:solidFill>
                  <a:srgbClr val="1E293B"/>
                </a:solidFill>
                <a:latin typeface="Segoe UI"/>
              </a:rPr>
              <a:t>Mengukur fluks magnetik riil B (mT) tepat di titik pusat sensor secara bersamaan.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Regresi Linear Kalibrasi: </a:t>
            </a:r>
            <a:r>
              <a:rPr sz="1050">
                <a:solidFill>
                  <a:srgbClr val="1E293B"/>
                </a:solidFill>
                <a:latin typeface="Segoe UI"/>
              </a:rPr>
              <a:t>Membentuk persamaan B = k * I dengan korelasi R^2 &gt; 0.999 sebagai faktor konversi arus ke medan.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Verifikasi Polaritas Negatif: </a:t>
            </a:r>
            <a:r>
              <a:rPr sz="1050">
                <a:solidFill>
                  <a:srgbClr val="1E293B"/>
                </a:solidFill>
                <a:latin typeface="Segoe UI"/>
              </a:rPr>
              <a:t>Membalik kabel polaritas kumparan untuk menguji sapuan medan negatif hingga -4.0 mT.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524225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E3A8A"/>
                </a:solidFill>
                <a:latin typeface="Segoe UI"/>
              </a:defRPr>
            </a:pPr>
            <a:r>
              <a:t>EVALUASI TRANSDUSER ALT023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Tahap 2: Karakterisasi Respon TMR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Perekaman Tegangan Vout: </a:t>
            </a:r>
            <a:r>
              <a:rPr sz="1050">
                <a:solidFill>
                  <a:srgbClr val="1E293B"/>
                </a:solidFill>
                <a:latin typeface="Segoe UI"/>
              </a:rPr>
              <a:t>Mencatat respons tegangan diferensial AD623-ADS1115 pada setiap titik medan magnet B.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Penentuan Rentang Linear: </a:t>
            </a:r>
            <a:r>
              <a:rPr sz="1050">
                <a:solidFill>
                  <a:srgbClr val="1E293B"/>
                </a:solidFill>
                <a:latin typeface="Segoe UI"/>
              </a:rPr>
              <a:t>Menetapkan rentang operasional linear sensor (+-1.0 mT) bebas efek saturasi.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Sensitivitas Diferensial (dV/dB): </a:t>
            </a:r>
            <a:r>
              <a:rPr sz="1050">
                <a:solidFill>
                  <a:srgbClr val="1E293B"/>
                </a:solidFill>
                <a:latin typeface="Segoe UI"/>
              </a:rPr>
              <a:t>Menggunakan fitting spline pada modul analysis.py untuk mengekstrak sensitivitas lokal dV/dB (mV/mT).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Penyimpanan Otomatis JSON: </a:t>
            </a:r>
            <a:r>
              <a:rPr sz="1050">
                <a:solidFill>
                  <a:srgbClr val="1E293B"/>
                </a:solidFill>
                <a:latin typeface="Segoe UI"/>
              </a:rPr>
              <a:t>Menyimpan konstanta kalibrasi slope dan intercept ke berkas JSON untuk koreksi realtime GUI.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Metodologi: Preparasi Sampel Bakso &amp; Ekstraksi 5 Fitur Sinyal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Protokol Ekstraksi Supernatan (Sentrifugasi 4000 rpm) dan Parameter Kuantitatif Sensor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42062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E11D48"/>
                </a:solidFill>
                <a:latin typeface="Segoe UI"/>
              </a:defRPr>
            </a:pPr>
            <a:r>
              <a:t>PREPARASI MATRIKS PANGAN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Protokol Ekstraksi Bakso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Maserasi Daging Bakso: </a:t>
            </a:r>
            <a:r>
              <a:rPr sz="1000">
                <a:solidFill>
                  <a:srgbClr val="1E293B"/>
                </a:solidFill>
                <a:latin typeface="Segoe UI"/>
              </a:rPr>
              <a:t>10 gram sampel bakso dihaluskan dan dilarutkan dalam 50 mL akuades (rasio 1:5 w/v).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Sentrifugasi Pemisahan Fasa: </a:t>
            </a:r>
            <a:r>
              <a:rPr sz="1000">
                <a:solidFill>
                  <a:srgbClr val="1E293B"/>
                </a:solidFill>
                <a:latin typeface="Segoe UI"/>
              </a:rPr>
              <a:t>Disentrifugasi pada kecepatan 4000 rpm selama 10 menit untuk mengendapkan serat kasar dan lemak.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Pengambilan Supernatan: </a:t>
            </a:r>
            <a:r>
              <a:rPr sz="1000">
                <a:solidFill>
                  <a:srgbClr val="1E293B"/>
                </a:solidFill>
                <a:latin typeface="Segoe UI"/>
              </a:rPr>
              <a:t>Cairan jernih supernatan diambil sebagai analit bebas partikel pengganggu.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Penetesan Mikropipet: </a:t>
            </a:r>
            <a:r>
              <a:rPr sz="1000">
                <a:solidFill>
                  <a:srgbClr val="1E293B"/>
                </a:solidFill>
                <a:latin typeface="Segoe UI"/>
              </a:rPr>
              <a:t>Sebanyak 20 mikroliter analit diteteskan di atas membran nanofiber sensor TMR.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417320"/>
            <a:ext cx="6156655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0" y="1554480"/>
            <a:ext cx="5760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VEKTOR FITUR MACHINE LEARNING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Ekstraksi 5 Fitur Dinamis Sinyal</a:t>
            </a:r>
          </a:p>
        </p:txBody>
      </p:sp>
      <p:pic>
        <p:nvPicPr>
          <p:cNvPr id="9" name="Picture 8" descr="eq_08_fit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362" y="2057400"/>
            <a:ext cx="4844796" cy="77724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94960" y="2971800"/>
          <a:ext cx="5943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645920"/>
                <a:gridCol w="164592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Simbol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Nama Fitur Sinyal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Formulasi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Relevansi Fisis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dV_max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Amplitudo Puncak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|V_peak - V_base|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Besaran konsentrasi formalin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t_resp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Waktu Respons 90%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t(0.9*dV_max) - t_0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Kinetika reaksi adisi ADH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(dV/dt)_0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Slope Transien Awal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Delta V / Delta t (awal)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Laju difusi awal analit ke pori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V_steady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Tegangan Tunak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Mean(V(t)) pada t jenuh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Keseimbangan ikatan hidrazon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AUC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Area Under Curve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Integral [V(t) - V_0] dt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Akumulasi total energi respons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Metodologi: Pipeline Pelatihan SVM vs QSVC &amp; Deployment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Validasi Silang Kuantum-Klasik dan Penerapan Sistem Tertanam di Raspberry Pi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04543" y="1380744"/>
            <a:ext cx="3974592" cy="4828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bIII_ModelBuilding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120" y="1417320"/>
            <a:ext cx="390144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8240" y="6208776"/>
            <a:ext cx="426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475569"/>
                </a:solidFill>
                <a:latin typeface="Segoe UI"/>
              </a:defRPr>
            </a:pPr>
            <a:r>
              <a:t>Gambar 14. Diagram Alir Pelatihan dan Validasi Silang SVM vs QSVC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0693" y="1380744"/>
            <a:ext cx="1776707" cy="254203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bIII_ModelDeploy.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7269" y="1417320"/>
            <a:ext cx="1703555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04389" y="3922776"/>
            <a:ext cx="20693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00" i="1">
                <a:solidFill>
                  <a:srgbClr val="475569"/>
                </a:solidFill>
                <a:latin typeface="Segoe UI"/>
              </a:defRPr>
            </a:pPr>
            <a:r>
              <a:t>Gambar 15. Diagram Alir Deployment Model ke Embedded System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69080"/>
            <a:ext cx="5242255" cy="210312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16052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059669"/>
                </a:solidFill>
                <a:latin typeface="Segoe UI"/>
              </a:defRPr>
            </a:pPr>
            <a:r>
              <a:t>EDGE INTELLIGENCE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Spesifikasi Deployment Raspberry Pi 5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Format Model: </a:t>
            </a:r>
            <a:r>
              <a:rPr sz="1000">
                <a:solidFill>
                  <a:srgbClr val="1E293B"/>
                </a:solidFill>
                <a:latin typeface="Segoe UI"/>
              </a:rPr>
              <a:t>Serialisasi model klasifikasi terbaik ke file biner .pkl via Joblib.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Perangkat Keras Edge: </a:t>
            </a:r>
            <a:r>
              <a:rPr sz="1000">
                <a:solidFill>
                  <a:srgbClr val="1E293B"/>
                </a:solidFill>
                <a:latin typeface="Segoe UI"/>
              </a:rPr>
              <a:t>Raspberry Pi 5 (8GB RAM, Broadcom BCM2712 Quad-core ARM 2.4GHz).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Tampilan Hasil: </a:t>
            </a:r>
            <a:r>
              <a:rPr sz="1000">
                <a:solidFill>
                  <a:srgbClr val="1E293B"/>
                </a:solidFill>
                <a:latin typeface="Segoe UI"/>
              </a:rPr>
              <a:t>Layar sentuh kapasitif terintegrasi menampilkan status keamanan bakso seketika.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E4A"/>
                </a:solidFill>
                <a:latin typeface="Segoe UI"/>
              </a:defRPr>
            </a:pPr>
            <a:r>
              <a:t>Jadwal Pelaksanaan Riset 4 Bulan &amp; Target Luaran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Roadmap Efektif di Bolabot (September - Desember 2026) dan Sesi Diskusi Tanya Jawab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6459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17320"/>
          <a:ext cx="6217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31520"/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Tahapan Kegiatan Riset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B1 (Sep)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B2 (Okt)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B3 (Nov)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B4 (Des)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Desain Hardware, Casing 3D &amp; Skematik Sirkuit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X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Kalibrasi Kumparan Helmholtz &amp; Sensor TMR ALT023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X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Green Synthesis Fe3O4 Kelor &amp; Elektrospinning PVA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X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Curing Termal 130 C &amp; Karakterisasi Nanofiber ADH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X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Uji Larutan Formalin Bertingkat &amp; Sampel Bakso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X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Ekstraksi 5 Fitur Sinyal &amp; Pembentukan Dataset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X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Pelatihan &amp; Komparasi Model SVM vs QSVC (Qiskit)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X 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Deployment ke Raspberry Pi 5 &amp; Draf Skripsi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 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[ X 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223760" y="1417320"/>
            <a:ext cx="4236415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600200"/>
            <a:ext cx="3749039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  <a:latin typeface="Segoe UI"/>
              </a:defRPr>
            </a:pPr>
            <a:r>
              <a:t>OUTPUT RISET</a:t>
            </a:r>
          </a:p>
          <a:p>
            <a:pPr>
              <a:spcAft>
                <a:spcPts val="5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Target Luaran Ilmiah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Publikasi Ilmiah: </a:t>
            </a:r>
            <a:r>
              <a:rPr sz="1000">
                <a:solidFill>
                  <a:srgbClr val="1E293B"/>
                </a:solidFill>
                <a:latin typeface="Segoe UI"/>
              </a:rPr>
              <a:t>1 Artikel pada Prosiding Internasional terindeks Scopus (IEEE / AIP) atau Jurnal Nasional SINTA 2.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Prototipe Fisik: </a:t>
            </a:r>
            <a:r>
              <a:rPr sz="1000">
                <a:solidFill>
                  <a:srgbClr val="1E293B"/>
                </a:solidFill>
                <a:latin typeface="Segoe UI"/>
              </a:rPr>
              <a:t>Unit instrumen biosensor TMR portabel terintegrasi casing 3D siap uji.</a:t>
            </a:r>
          </a:p>
          <a:p>
            <a:pPr>
              <a:lnSpc>
                <a:spcPct val="118000"/>
              </a:lnSpc>
              <a:spcAft>
                <a:spcPts val="45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Karya Ilmiah Akhir: </a:t>
            </a:r>
            <a:r>
              <a:rPr sz="1000">
                <a:solidFill>
                  <a:srgbClr val="1E293B"/>
                </a:solidFill>
                <a:latin typeface="Segoe UI"/>
              </a:rPr>
              <a:t>Dokumen Skripsi lengkap Sarjana Fisika UIN Sunan Gunung Djati Bandung.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92040"/>
            <a:ext cx="10728655" cy="1280160"/>
          </a:xfrm>
          <a:prstGeom prst="roundRect">
            <a:avLst/>
          </a:prstGeom>
          <a:solidFill>
            <a:srgbClr val="0F1E4A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983480"/>
            <a:ext cx="10241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b="1" sz="1300">
                <a:solidFill>
                  <a:srgbClr val="FFFFFF"/>
                </a:solidFill>
                <a:latin typeface="Segoe UI"/>
              </a:defRPr>
            </a:pPr>
            <a:r>
              <a:t>TERIMA KASIH ATAS PERHATIAN BAPAK/IBU DOSEN PENGUJI DAN PEMBIMBING</a:t>
            </a:r>
          </a:p>
          <a:p>
            <a:pPr algn="ctr">
              <a:defRPr sz="1050">
                <a:solidFill>
                  <a:srgbClr val="EFF6FF"/>
                </a:solidFill>
                <a:latin typeface="Segoe UI"/>
              </a:defRPr>
            </a:pPr>
            <a:r>
              <a:t>Mohon Arahan, Masukan, dan Saran demi Kesempurnaan Pelaksanaan Tugas Akhir Ini | Sesi Tanya Jawab Dibuka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190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Segoe UI"/>
              </a:defRPr>
            </a:pPr>
            <a:r>
              <a:t>Fahry Rizky Samsudin (1237030018) | Proposal Tugas Akhir Jurusan Fisika UIN SGD Bandung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